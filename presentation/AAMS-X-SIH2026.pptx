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2"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900" b="0" i="0" u="none" strike="noStrike">
                <a:solidFill>
                  <a:srgbClr val="000000"/>
                </a:solidFill>
                <a:latin typeface="Calibri"/>
                <a:ea typeface="Calibri"/>
                <a:cs typeface="Calibri"/>
              </a:rPr>
              <a:t>TSRD mean global recall (%)
6 seeds, 64 bands, 240 slots</a:t>
            </a:r>
          </a:p>
        </c:rich>
      </c:tx>
      <c:overlay val="0"/>
      <c:txPr>
        <a:bodyPr anchorCtr="1"/>
        <a:lstStyle/>
        <a:p>
          <a:pPr>
            <a:defRPr sz="900" b="0" i="0" u="none" strike="noStrike">
              <a:solidFill>
                <a:srgbClr val="000000"/>
              </a:solidFill>
              <a:latin typeface="Calibri"/>
              <a:ea typeface="Calibri"/>
              <a:cs typeface="Calibri"/>
            </a:defRPr>
          </a:pPr>
        </a:p>
      </c:txPr>
    </c:title>
    <c:autoTitleDeleted val="0"/>
    <c:plotArea>
      <c:layout/>
      <c:barChart>
        <c:barDir val="col"/>
        <c:grouping val="clustered"/>
        <c:varyColors val="0"/>
        <c:ser>
          <c:idx val="0"/>
          <c:order val="0"/>
          <c:tx>
            <c:strRef>
              <c:f>Sheet1!$B$1</c:f>
              <c:strCache>
                <c:ptCount val="1"/>
                <c:pt idx="0">
                  <c:v>Fixed sweep</c:v>
                </c:pt>
              </c:strCache>
            </c:strRef>
          </c:tx>
          <c:spPr>
            <a:solidFill>
              <a:srgbClr val="A6A6A6"/>
            </a:solidFill>
            <a:effectLst/>
          </c:spPr>
          <c:invertIfNegative val="0"/>
          <c:dLbls>
            <c:numFmt formatCode="0.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2/64</c:v>
                </c:pt>
                <c:pt idx="1">
                  <c:v>4/64</c:v>
                </c:pt>
                <c:pt idx="2">
                  <c:v>8/64</c:v>
                </c:pt>
                <c:pt idx="3">
                  <c:v>16/64</c:v>
                </c:pt>
              </c:strCache>
            </c:strRef>
          </c:cat>
          <c:val>
            <c:numRef>
              <c:f>Sheet1!$B$2:$B$5</c:f>
              <c:numCache>
                <c:formatCode>General</c:formatCode>
                <c:ptCount val="4"/>
                <c:pt idx="0">
                  <c:v>2.71</c:v>
                </c:pt>
                <c:pt idx="1">
                  <c:v>5.47</c:v>
                </c:pt>
                <c:pt idx="2">
                  <c:v>11.07</c:v>
                </c:pt>
                <c:pt idx="3">
                  <c:v>21.96</c:v>
                </c:pt>
              </c:numCache>
            </c:numRef>
          </c:val>
          <c:extLst>
            <c:ext xmlns:c16="http://schemas.microsoft.com/office/drawing/2014/chart" uri="{C3380CC4-5D6E-409C-BE32-E72D297353CC}">
              <c16:uniqueId val="{00000000-8853-D04F-B45B-34A0808D60C9}"/>
            </c:ext>
          </c:extLst>
        </c:ser>
        <c:ser>
          <c:idx val="1"/>
          <c:order val="1"/>
          <c:tx>
            <c:strRef>
              <c:f>Sheet1!$C$1</c:f>
              <c:strCache>
                <c:ptCount val="1"/>
                <c:pt idx="0">
                  <c:v>MAG-NTS</c:v>
                </c:pt>
              </c:strCache>
            </c:strRef>
          </c:tx>
          <c:spPr>
            <a:solidFill>
              <a:srgbClr val="0071C1"/>
            </a:solidFill>
            <a:effectLst/>
          </c:spPr>
          <c:invertIfNegative val="0"/>
          <c:dLbls>
            <c:numFmt formatCode="0.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2/64</c:v>
                </c:pt>
                <c:pt idx="1">
                  <c:v>4/64</c:v>
                </c:pt>
                <c:pt idx="2">
                  <c:v>8/64</c:v>
                </c:pt>
                <c:pt idx="3">
                  <c:v>16/64</c:v>
                </c:pt>
              </c:strCache>
            </c:strRef>
          </c:cat>
          <c:val>
            <c:numRef>
              <c:f>Sheet1!$C$2:$C$5</c:f>
              <c:numCache>
                <c:formatCode>General</c:formatCode>
                <c:ptCount val="4"/>
                <c:pt idx="0">
                  <c:v>13.27</c:v>
                </c:pt>
                <c:pt idx="1">
                  <c:v>31.48</c:v>
                </c:pt>
                <c:pt idx="2">
                  <c:v>37.38</c:v>
                </c:pt>
                <c:pt idx="3">
                  <c:v>52.34</c:v>
                </c:pt>
              </c:numCache>
            </c:numRef>
          </c:val>
          <c:extLst>
            <c:ext xmlns:c16="http://schemas.microsoft.com/office/drawing/2014/chart" uri="{C3380CC4-5D6E-409C-BE32-E72D297353CC}">
              <c16:uniqueId val="{00000001-8853-D04F-B45B-34A0808D60C9}"/>
            </c:ext>
          </c:extLst>
        </c:ser>
        <c:ser>
          <c:idx val="2"/>
          <c:order val="2"/>
          <c:tx>
            <c:strRef>
              <c:f>Sheet1!$D$1</c:f>
              <c:strCache>
                <c:ptCount val="1"/>
                <c:pt idx="0">
                  <c:v>Vanilla Thompson</c:v>
                </c:pt>
              </c:strCache>
            </c:strRef>
          </c:tx>
          <c:spPr>
            <a:solidFill>
              <a:srgbClr val="F7941D"/>
            </a:solidFill>
            <a:effectLst/>
          </c:spPr>
          <c:invertIfNegative val="0"/>
          <c:dLbls>
            <c:numFmt formatCode="0.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2/64</c:v>
                </c:pt>
                <c:pt idx="1">
                  <c:v>4/64</c:v>
                </c:pt>
                <c:pt idx="2">
                  <c:v>8/64</c:v>
                </c:pt>
                <c:pt idx="3">
                  <c:v>16/64</c:v>
                </c:pt>
              </c:strCache>
            </c:strRef>
          </c:cat>
          <c:val>
            <c:numRef>
              <c:f>Sheet1!$D$2:$D$5</c:f>
              <c:numCache>
                <c:formatCode>General</c:formatCode>
                <c:ptCount val="4"/>
                <c:pt idx="0">
                  <c:v>15.83</c:v>
                </c:pt>
                <c:pt idx="1">
                  <c:v>36.75</c:v>
                </c:pt>
                <c:pt idx="2">
                  <c:v>39.55</c:v>
                </c:pt>
                <c:pt idx="3">
                  <c:v>55.3</c:v>
                </c:pt>
              </c:numCache>
            </c:numRef>
          </c:val>
          <c:extLst>
            <c:ext xmlns:c16="http://schemas.microsoft.com/office/drawing/2014/chart" uri="{C3380CC4-5D6E-409C-BE32-E72D297353CC}">
              <c16:uniqueId val="{00000002-8853-D04F-B45B-34A0808D60C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75"/>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0916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TSRD source: https://huggingface.co/datasets/alan-turing-institute/turing-synthetic-radar-dataset . Installed file tsrd_val_stare_config_0.h5 contains 648,034 pulses with no pulse-count truncation. Source SHA-256 d25a4189f287ca044f46718baea7471eb1f9ab766b7715c738bb8edf8ac1e474. Results computed by scripts/validate_official_tsrd.py: 24 paired worlds, 192 evaluations, seeds 42–47, 240 slots, 64 bands, window widths 2,4,8,16. All eight policies share each immutable world/noise and budget. Seeds vary modeled receiver noise and policy randomness over ONE source recording, not independent source samples. Values are global occupied-cell recall, not individual pulse recall or publisher deinterleaving benchmark scores. Receiver energy is modeled from source pulse occupancy, not measured IQ data. Mean fixed / MAG-NTS / Thompson recall (%) by width: 2 = 2.71 / 13.27 / 15.83; 4 = 5.47 / 31.48 / 36.75; 8 = 11.07 / 37.38 / 39.55; 16 = 21.96 / 52.34 / 55.30. Thompson leads on this file. No universal superiority or field-validation claim. Full per-seed results, Student-t confidence intervals and paired deltas: docs/validation/tsrd/report.json; width-*.csv. Stored replay checksums verified for all 24 worlds. Timing averages are conditional on intercepted episodes. Earlier simulation evidence remains separately labelled in the app. e-CALLISTO is measured solar-radio data without radar emitter truth. The SIH screenshot specifies theme Robotics and Drones.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Policy input includes only selected-band observations and public receiver settings. HIT is detector output, and unobserved cells remain unknown. The truth-leak regression guard is an architectural test, not an adversarial sandbox.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1772-F3AD-6FDC-107D-2FF675845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C6B7E-3C13-E006-DCFC-C4EF89715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E4301-AE12-209D-8A05-03F121B0ECC5}"/>
              </a:ext>
            </a:extLst>
          </p:cNvPr>
          <p:cNvSpPr>
            <a:spLocks noGrp="1"/>
          </p:cNvSpPr>
          <p:nvPr>
            <p:ph type="body" idx="1"/>
          </p:nvPr>
        </p:nvSpPr>
        <p:spPr/>
        <p:txBody>
          <a:bodyPr/>
          <a:lstStyle/>
          <a:p>
            <a:r>
              <a:t>The loop begins with prior observations, updates online state, chooses a legal window, senses, and repeats. The evaluator separately owns labels and computes metrics. TSRD PDWs retain ToA, frequency, pulse width, AoA, amplitude and local emitter labels in Parquet. The adapter simulates receiver energy over retained pulse occupancy. Source: https://huggingface.co/datasets/alan-turing-institute/turing-synthetic-radar-dataset ; installed manifest: data/processed/tsrd-stare-d25a4189f287.json. NPZ stores compact arrays, Parquet stores samples, and SQLite indexes traces.</a:t>
            </a:r>
          </a:p>
        </p:txBody>
      </p:sp>
      <p:sp>
        <p:nvSpPr>
          <p:cNvPr id="4" name="Slide Number Placeholder 3">
            <a:extLst>
              <a:ext uri="{FF2B5EF4-FFF2-40B4-BE49-F238E27FC236}">
                <a16:creationId xmlns:a16="http://schemas.microsoft.com/office/drawing/2014/main" id="{D80A7462-9C88-31AE-2599-7B3C86B2B79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2385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installed sources include simulation, e-CALLISTO and TSRD stare-mode data. TSRD contains 648,034 retained pulses, with no pulse-count truncation reported in this file. Deployed readiness and catalog: https://aams-x-916960484603.asia-south1.run.app/api/status and /api/datasets. Cloud Run serves the demo; the implementation uses a local SQLite registry and compressed trace files. Hardware calibration, cooperative receivers and multi-user service infrastructure remain future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TSRD source: https://huggingface.co/datasets/alan-turing-institute/turing-synthetic-radar-dataset . Installed file tsrd_val_stare_config_0.h5 contains 648,034 pulses with no pulse-count truncation. Source SHA-256 d25a4189f287ca044f46718baea7471eb1f9ab766b7715c738bb8edf8ac1e474. Results computed by scripts/validate_official_tsrd.py: 24 paired worlds, 192 evaluations, seeds 42–47, 240 slots, 64 bands, window widths 2,4,8,16. All eight policies share each immutable world/noise and budget. Seeds vary modeled receiver noise and policy randomness over ONE source recording, not independent source samples. Values are global occupied-cell recall, not individual pulse recall or publisher deinterleaving benchmark scores. Receiver energy is modeled from source pulse occupancy, not measured IQ data. Mean fixed / MAG-NTS / Thompson recall (%) by width: 2 = 2.71 / 13.27 / 15.83; 4 = 5.47 / 31.48 / 36.75; 8 = 11.07 / 37.38 / 39.55; 16 = 21.96 / 52.34 / 55.30. Thompson leads on this file. No universal superiority or field-validation claim. Full per-seed results, Student-t confidence intervals and paired deltas: docs/validation/tsrd/report.json; width-*.csv. Stored replay checksums verified for all 24 worlds. Timing averages are conditional on intercepted episodes. Earlier simulation evidence remains separately labelled in the app. e-CALLISTO is measured solar-radio data without radar emitter truth. The SIH screenshot specifies theme Robotics and Drones.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a:p xmlns:a="http://schemas.openxmlformats.org/drawingml/2006/main">
            <a:r>
              <a:t>Judging resources: live Azure website https://aams-x-sih.livelyocean-37549b44.eastasia.azurecontainerapps.io . Source repository https://github.com/Siddhanthkjain2005/AAMS-X . YouTube placeholder intentionally has no link until the team supplies its video URL. Azure uses a minimum of one running replica; service outages remain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JudgesWebsite" Type="http://schemas.openxmlformats.org/officeDocument/2006/relationships/hyperlink" Target="https://aams-x-sih.livelyocean-37549b44.eastasia.azurecontainerapps.io" TargetMode="External"/><Relationship Id="rIdJudgesGitHub" Type="http://schemas.openxmlformats.org/officeDocument/2006/relationships/hyperlink" Target="https://github.com/Siddhanthkjain2005/AAMS-X"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6035040" cy="548640"/>
          </a:xfrm>
          <a:prstGeom prst="rect">
            <a:avLst/>
          </a:prstGeom>
          <a:noFill/>
          <a:ln/>
        </p:spPr>
        <p:txBody>
          <a:bodyPr wrap="square" lIns="0" tIns="0" rIns="0" bIns="0" anchor="ctr"/>
          <a:lstStyle/>
          <a:p>
            <a:pPr marL="0" indent="0">
              <a:buNone/>
            </a:pPr>
            <a:r>
              <a:rPr sz="2800" b="1">
                <a:solidFill>
                  <a:srgbClr val="1F4E79"/>
                </a:solidFill>
                <a:latin typeface="Cambria"/>
                <a:ea typeface="Cambria"/>
                <a:cs typeface="Cambria"/>
              </a:rPr>
              <a:t>SMART INDIA HACKATHON 2026</a:t>
            </a:r>
            <a:endParaRPr sz="2800"/>
          </a:p>
        </p:txBody>
      </p:sp>
      <p:sp>
        <p:nvSpPr>
          <p:cNvPr id="3" name="Text 1"/>
          <p:cNvSpPr txBox="1"/>
          <p:nvPr/>
        </p:nvSpPr>
        <p:spPr>
          <a:xfrm>
            <a:off x="7589520" y="137160"/>
            <a:ext cx="1371600" cy="640080"/>
          </a:xfrm>
          <a:prstGeom prst="rect">
            <a:avLst/>
          </a:prstGeom>
          <a:noFill/>
          <a:ln/>
        </p:spPr>
        <p:txBody>
          <a:bodyPr wrap="square" lIns="0" tIns="0" rIns="0" bIns="0" anchor="ctr"/>
          <a:lstStyle/>
          <a:p>
            <a:pPr marL="0" indent="0" algn="r">
              <a:buNone/>
            </a:pPr>
            <a:r>
              <a:rPr sz="900" b="1">
                <a:solidFill>
                  <a:srgbClr val="3E4A56"/>
                </a:solidFill>
                <a:latin typeface="Calibri"/>
                <a:ea typeface="Calibri"/>
                <a:cs typeface="Calibri"/>
              </a:rPr>
              <a:t>SMART INDIA</a:t>
            </a:r>
            <a:endParaRPr sz="900"/>
          </a:p>
          <a:p>
            <a:pPr marL="0" indent="0" algn="r">
              <a:buNone/>
            </a:pPr>
            <a:r>
              <a:rPr sz="900" b="1">
                <a:solidFill>
                  <a:srgbClr val="3E4A56"/>
                </a:solidFill>
                <a:latin typeface="Calibri"/>
                <a:ea typeface="Calibri"/>
                <a:cs typeface="Calibri"/>
              </a:rPr>
              <a:t>HACKATHON</a:t>
            </a:r>
            <a:endParaRPr sz="900"/>
          </a:p>
          <a:p>
            <a:pPr marL="0" indent="0" algn="r">
              <a:buNone/>
            </a:pPr>
            <a:r>
              <a:rPr sz="900" b="1">
                <a:solidFill>
                  <a:srgbClr val="3E4A56"/>
                </a:solidFill>
                <a:latin typeface="Calibri"/>
                <a:ea typeface="Calibri"/>
                <a:cs typeface="Calibri"/>
              </a:rPr>
              <a:t>2026</a:t>
            </a:r>
            <a:endParaRPr sz="900"/>
          </a:p>
        </p:txBody>
      </p:sp>
      <p:sp>
        <p:nvSpPr>
          <p:cNvPr id="4" name="Text 2"/>
          <p:cNvSpPr txBox="1"/>
          <p:nvPr/>
        </p:nvSpPr>
        <p:spPr>
          <a:xfrm>
            <a:off x="457200" y="1005840"/>
            <a:ext cx="5394960" cy="621792"/>
          </a:xfrm>
          <a:prstGeom prst="rect">
            <a:avLst/>
          </a:prstGeom>
          <a:noFill/>
          <a:ln/>
        </p:spPr>
        <p:txBody>
          <a:bodyPr wrap="square" lIns="0" tIns="0" rIns="0" bIns="0" anchor="ctr"/>
          <a:lstStyle/>
          <a:p>
            <a:pPr marL="342900" indent="-342900">
              <a:buSzPct val="100000"/>
              <a:buChar char="•"/>
            </a:pPr>
            <a:r>
              <a:rPr sz="1700" b="1">
                <a:solidFill>
                  <a:srgbClr val="000000"/>
                </a:solidFill>
                <a:latin typeface="Calibri"/>
                <a:ea typeface="Calibri"/>
                <a:cs typeface="Calibri"/>
              </a:rPr>
              <a:t>Problem Statement ID- </a:t>
            </a:r>
            <a:r>
              <a:rPr sz="1700" b="1">
                <a:solidFill>
                  <a:srgbClr val="4A6CF7"/>
                </a:solidFill>
                <a:latin typeface="Calibri"/>
                <a:ea typeface="Calibri"/>
                <a:cs typeface="Calibri"/>
              </a:rPr>
              <a:t>SIH26055</a:t>
            </a:r>
            <a:endParaRPr sz="1700"/>
          </a:p>
        </p:txBody>
      </p:sp>
      <p:sp>
        <p:nvSpPr>
          <p:cNvPr id="5" name="Text 3"/>
          <p:cNvSpPr txBox="1"/>
          <p:nvPr/>
        </p:nvSpPr>
        <p:spPr>
          <a:xfrm>
            <a:off x="457200" y="1664208"/>
            <a:ext cx="5394960" cy="621792"/>
          </a:xfrm>
          <a:prstGeom prst="rect">
            <a:avLst/>
          </a:prstGeom>
          <a:noFill/>
          <a:ln/>
        </p:spPr>
        <p:txBody>
          <a:bodyPr wrap="square" lIns="0" tIns="0" rIns="0" bIns="0" anchor="ctr"/>
          <a:lstStyle/>
          <a:p>
            <a:pPr marL="342900" indent="-342900">
              <a:buSzPct val="100000"/>
              <a:buChar char="•"/>
            </a:pPr>
            <a:r>
              <a:rPr sz="1700" b="1">
                <a:solidFill>
                  <a:srgbClr val="000000"/>
                </a:solidFill>
                <a:latin typeface="Calibri"/>
                <a:ea typeface="Calibri"/>
                <a:cs typeface="Calibri"/>
              </a:rPr>
              <a:t>Problem Statement Title- </a:t>
            </a:r>
            <a:r>
              <a:rPr sz="1700" b="1">
                <a:solidFill>
                  <a:srgbClr val="4A6CF7"/>
                </a:solidFill>
                <a:latin typeface="Calibri"/>
                <a:ea typeface="Calibri"/>
                <a:cs typeface="Calibri"/>
              </a:rPr>
              <a:t>Smart Scan Strategy for Electronic Warfare (DRDO)</a:t>
            </a:r>
            <a:endParaRPr sz="1700"/>
          </a:p>
        </p:txBody>
      </p:sp>
      <p:sp>
        <p:nvSpPr>
          <p:cNvPr id="6" name="Text 4"/>
          <p:cNvSpPr txBox="1"/>
          <p:nvPr/>
        </p:nvSpPr>
        <p:spPr>
          <a:xfrm>
            <a:off x="457200" y="2322576"/>
            <a:ext cx="5394960" cy="621792"/>
          </a:xfrm>
          <a:prstGeom prst="rect">
            <a:avLst/>
          </a:prstGeom>
          <a:noFill/>
          <a:ln/>
        </p:spPr>
        <p:txBody>
          <a:bodyPr wrap="square" lIns="0" tIns="0" rIns="0" bIns="0" anchor="ctr"/>
          <a:lstStyle/>
          <a:p>
            <a:pPr marL="342900" indent="-342900">
              <a:buSzPct val="100000"/>
              <a:buChar char="•"/>
            </a:pPr>
            <a:r>
              <a:rPr sz="1700" b="1">
                <a:solidFill>
                  <a:srgbClr val="000000"/>
                </a:solidFill>
                <a:latin typeface="Calibri"/>
                <a:ea typeface="Calibri"/>
                <a:cs typeface="Calibri"/>
              </a:rPr>
              <a:t>Theme- </a:t>
            </a:r>
            <a:r>
              <a:rPr sz="1700" b="1">
                <a:solidFill>
                  <a:srgbClr val="4A6CF7"/>
                </a:solidFill>
                <a:latin typeface="Calibri"/>
                <a:ea typeface="Calibri"/>
                <a:cs typeface="Calibri"/>
              </a:rPr>
              <a:t>Robotics and Drones</a:t>
            </a:r>
            <a:endParaRPr sz="1700"/>
          </a:p>
        </p:txBody>
      </p:sp>
      <p:sp>
        <p:nvSpPr>
          <p:cNvPr id="7" name="Text 5"/>
          <p:cNvSpPr txBox="1"/>
          <p:nvPr/>
        </p:nvSpPr>
        <p:spPr>
          <a:xfrm>
            <a:off x="457200" y="2980944"/>
            <a:ext cx="5394960" cy="621792"/>
          </a:xfrm>
          <a:prstGeom prst="rect">
            <a:avLst/>
          </a:prstGeom>
          <a:noFill/>
          <a:ln/>
        </p:spPr>
        <p:txBody>
          <a:bodyPr wrap="square" lIns="0" tIns="0" rIns="0" bIns="0" anchor="ctr"/>
          <a:lstStyle/>
          <a:p>
            <a:pPr marL="342900" indent="-342900">
              <a:buSzPct val="100000"/>
              <a:buChar char="•"/>
            </a:pPr>
            <a:r>
              <a:rPr sz="1700" b="1">
                <a:solidFill>
                  <a:srgbClr val="000000"/>
                </a:solidFill>
                <a:latin typeface="Calibri"/>
                <a:ea typeface="Calibri"/>
                <a:cs typeface="Calibri"/>
              </a:rPr>
              <a:t>PS Category- </a:t>
            </a:r>
            <a:r>
              <a:rPr sz="1700" b="1">
                <a:solidFill>
                  <a:srgbClr val="4A6CF7"/>
                </a:solidFill>
                <a:latin typeface="Calibri"/>
                <a:ea typeface="Calibri"/>
                <a:cs typeface="Calibri"/>
              </a:rPr>
              <a:t>Software</a:t>
            </a:r>
            <a:endParaRPr sz="1700"/>
          </a:p>
        </p:txBody>
      </p:sp>
      <p:sp>
        <p:nvSpPr>
          <p:cNvPr id="8" name="Text 6"/>
          <p:cNvSpPr txBox="1"/>
          <p:nvPr/>
        </p:nvSpPr>
        <p:spPr>
          <a:xfrm>
            <a:off x="457200" y="3639312"/>
            <a:ext cx="5394960" cy="621792"/>
          </a:xfrm>
          <a:prstGeom prst="rect">
            <a:avLst/>
          </a:prstGeom>
          <a:noFill/>
          <a:ln/>
        </p:spPr>
        <p:txBody>
          <a:bodyPr wrap="square" lIns="0" tIns="0" rIns="0" bIns="0" anchor="ctr"/>
          <a:lstStyle/>
          <a:p>
            <a:pPr marL="342900" indent="-342900">
              <a:buSzPct val="100000"/>
              <a:buChar char="•"/>
            </a:pPr>
            <a:r>
              <a:rPr sz="1700" b="1">
                <a:solidFill>
                  <a:srgbClr val="000000"/>
                </a:solidFill>
                <a:latin typeface="Calibri"/>
                <a:ea typeface="Calibri"/>
                <a:cs typeface="Calibri"/>
              </a:rPr>
              <a:t>Team ID-123075 </a:t>
            </a:r>
            <a:endParaRPr sz="1700"/>
          </a:p>
        </p:txBody>
      </p:sp>
      <p:sp>
        <p:nvSpPr>
          <p:cNvPr id="9" name="Text 7"/>
          <p:cNvSpPr txBox="1"/>
          <p:nvPr/>
        </p:nvSpPr>
        <p:spPr>
          <a:xfrm>
            <a:off x="457200" y="4297680"/>
            <a:ext cx="5394960" cy="621792"/>
          </a:xfrm>
          <a:prstGeom prst="rect">
            <a:avLst/>
          </a:prstGeom>
          <a:noFill/>
          <a:ln/>
        </p:spPr>
        <p:txBody>
          <a:bodyPr wrap="square" lIns="0" tIns="0" rIns="0" bIns="0" anchor="ctr"/>
          <a:lstStyle/>
          <a:p>
            <a:pPr marL="342900" indent="-342900">
              <a:buSzPct val="100000"/>
              <a:buChar char="•"/>
            </a:pPr>
            <a:r>
              <a:rPr sz="1700" b="1">
                <a:solidFill>
                  <a:srgbClr val="000000"/>
                </a:solidFill>
                <a:latin typeface="Calibri"/>
                <a:ea typeface="Calibri"/>
                <a:cs typeface="Calibri"/>
              </a:rPr>
              <a:t>Team Name- </a:t>
            </a:r>
            <a:r>
              <a:rPr sz="1700" b="1">
                <a:solidFill>
                  <a:srgbClr val="000000"/>
                </a:solidFill>
                <a:latin typeface="Calibri"/>
                <a:ea typeface="Calibri"/>
                <a:cs typeface="Calibri"/>
              </a:rPr>
              <a:t>Alphax</a:t>
            </a:r>
            <a:r>
              <a:rPr sz="1700" b="1">
                <a:solidFill>
                  <a:srgbClr val="000000"/>
                </a:solidFill>
                <a:latin typeface="Calibri"/>
                <a:ea typeface="Calibri"/>
                <a:cs typeface="Calibri"/>
              </a:rPr>
              <a:t> </a:t>
            </a:r>
            <a:endParaRPr sz="1700"/>
          </a:p>
        </p:txBody>
      </p:sp>
      <p:sp>
        <p:nvSpPr>
          <p:cNvPr id="10" name="Shape 8"/>
          <p:cNvSpPr/>
          <p:nvPr/>
        </p:nvSpPr>
        <p:spPr>
          <a:xfrm>
            <a:off x="5943600" y="914400"/>
            <a:ext cx="2834640" cy="3200400"/>
          </a:xfrm>
          <a:prstGeom prst="hexagon">
            <a:avLst/>
          </a:prstGeom>
          <a:solidFill>
            <a:srgbClr val="EDEDED"/>
          </a:solidFill>
          <a:ln w="12700">
            <a:solidFill>
              <a:srgbClr val="EDEDED"/>
            </a:solidFill>
            <a:prstDash val="solid"/>
          </a:ln>
        </p:spPr>
        <p:txBody>
          <a:bodyPr/>
          <a:lstStyle/>
          <a:p>
            <a:endParaRPr/>
          </a:p>
        </p:txBody>
      </p:sp>
      <p:sp>
        <p:nvSpPr>
          <p:cNvPr id="12" name="Text 10"/>
          <p:cNvSpPr txBox="1"/>
          <p:nvPr/>
        </p:nvSpPr>
        <p:spPr>
          <a:xfrm>
            <a:off x="6172200" y="1737360"/>
            <a:ext cx="2377440" cy="1554480"/>
          </a:xfrm>
          <a:prstGeom prst="rect">
            <a:avLst/>
          </a:prstGeom>
          <a:noFill/>
          <a:ln/>
        </p:spPr>
        <p:txBody>
          <a:bodyPr wrap="square" lIns="0" tIns="0" rIns="0" bIns="0" anchor="ctr"/>
          <a:lstStyle/>
          <a:p>
            <a:pPr marL="0" indent="0" algn="ctr">
              <a:buNone/>
            </a:pPr>
            <a:r>
              <a:rPr sz="2800" b="1">
                <a:solidFill>
                  <a:srgbClr val="1F4E79"/>
                </a:solidFill>
                <a:latin typeface="Cambria"/>
                <a:ea typeface="Cambria"/>
                <a:cs typeface="Cambria"/>
              </a:rPr>
              <a:t>AAMS-X</a:t>
            </a:r>
            <a:endParaRPr sz="2800"/>
          </a:p>
          <a:p>
            <a:pPr marL="0" indent="0" algn="ctr">
              <a:buNone/>
            </a:pPr>
            <a:r>
              <a:rPr sz="1100">
                <a:solidFill>
                  <a:srgbClr val="44546A"/>
                </a:solidFill>
                <a:latin typeface="Calibri"/>
                <a:ea typeface="Calibri"/>
                <a:cs typeface="Calibri"/>
              </a:rPr>
              <a:t>Adaptive Autonomous Mission Spectrum eXplorer</a:t>
            </a:r>
            <a:endParaRPr sz="2800"/>
          </a:p>
        </p:txBody>
      </p:sp>
      <p:pic>
        <p:nvPicPr>
          <p:cNvPr id="13" name="Picture 12">
            <a:extLst>
              <a:ext uri="{FF2B5EF4-FFF2-40B4-BE49-F238E27FC236}">
                <a16:creationId xmlns:a16="http://schemas.microsoft.com/office/drawing/2014/main" id="{97E6A270-35C9-25D3-3891-330B07F06F5C}"/>
              </a:ext>
            </a:extLst>
          </p:cNvPr>
          <p:cNvPicPr>
            <a:picLocks noChangeAspect="1"/>
          </p:cNvPicPr>
          <p:nvPr/>
        </p:nvPicPr>
        <p:blipFill>
          <a:blip r:embed="rId3"/>
          <a:stretch>
            <a:fillRect/>
          </a:stretch>
        </p:blipFill>
        <p:spPr>
          <a:xfrm>
            <a:off x="5897880" y="782066"/>
            <a:ext cx="3208565" cy="3826510"/>
          </a:xfrm>
          <a:prstGeom prst="rect">
            <a:avLst/>
          </a:prstGeom>
        </p:spPr>
      </p:pic>
      <p:sp>
        <p:nvSpPr>
          <p:cNvPr id="14" name="Shape 9">
            <a:extLst>
              <a:ext uri="{FF2B5EF4-FFF2-40B4-BE49-F238E27FC236}">
                <a16:creationId xmlns:a16="http://schemas.microsoft.com/office/drawing/2014/main" id="{398EA7BA-E14D-219C-C27E-047314D73673}"/>
              </a:ext>
            </a:extLst>
          </p:cNvPr>
          <p:cNvSpPr/>
          <p:nvPr/>
        </p:nvSpPr>
        <p:spPr>
          <a:xfrm>
            <a:off x="5509260" y="2966974"/>
            <a:ext cx="822960" cy="914400"/>
          </a:xfrm>
          <a:prstGeom prst="hexagon">
            <a:avLst/>
          </a:prstGeom>
          <a:solidFill>
            <a:srgbClr val="F3F3F3"/>
          </a:solidFill>
          <a:ln w="12700">
            <a:solidFill>
              <a:srgbClr val="F3F3F3"/>
            </a:solidFill>
            <a:prstDash val="solid"/>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09728"/>
            <a:ext cx="868680" cy="384048"/>
          </a:xfrm>
          <a:prstGeom prst="ellipse">
            <a:avLst/>
          </a:prstGeom>
          <a:solidFill>
            <a:srgbClr val="F7941D"/>
          </a:solidFill>
          <a:ln w="19050">
            <a:solidFill>
              <a:srgbClr val="7F5FA8"/>
            </a:solidFill>
            <a:prstDash val="solid"/>
          </a:ln>
        </p:spPr>
        <p:txBody>
          <a:bodyPr/>
          <a:lstStyle/>
          <a:p>
            <a:endParaRPr lang="en-US"/>
          </a:p>
        </p:txBody>
      </p:sp>
      <p:sp>
        <p:nvSpPr>
          <p:cNvPr id="3" name="Text 1"/>
          <p:cNvSpPr txBox="1"/>
          <p:nvPr/>
        </p:nvSpPr>
        <p:spPr>
          <a:xfrm>
            <a:off x="137160" y="109728"/>
            <a:ext cx="868680" cy="384048"/>
          </a:xfrm>
          <a:prstGeom prst="rect">
            <a:avLst/>
          </a:prstGeom>
          <a:noFill/>
          <a:ln/>
        </p:spPr>
        <p:txBody>
          <a:bodyPr wrap="square" lIns="0" tIns="0" rIns="0" bIns="0" rtlCol="0" anchor="ctr"/>
          <a:lstStyle/>
          <a:p>
            <a:pPr marL="0" indent="0" algn="ctr">
              <a:buNone/>
            </a:pPr>
            <a:r>
              <a:rPr lang="en-US" sz="1100" dirty="0" err="1">
                <a:solidFill>
                  <a:srgbClr val="000000"/>
                </a:solidFill>
                <a:latin typeface="Calibri" pitchFamily="34" charset="0"/>
                <a:ea typeface="Calibri" pitchFamily="34" charset="-122"/>
                <a:cs typeface="Calibri" pitchFamily="34" charset="-120"/>
              </a:rPr>
              <a:t>Alphax</a:t>
            </a:r>
            <a:endParaRPr lang="en-US" sz="1100" dirty="0"/>
          </a:p>
        </p:txBody>
      </p:sp>
      <p:sp>
        <p:nvSpPr>
          <p:cNvPr id="4" name="Text 2"/>
          <p:cNvSpPr txBox="1"/>
          <p:nvPr/>
        </p:nvSpPr>
        <p:spPr>
          <a:xfrm>
            <a:off x="1097280" y="73152"/>
            <a:ext cx="6583680" cy="502920"/>
          </a:xfrm>
          <a:prstGeom prst="rect">
            <a:avLst/>
          </a:prstGeom>
          <a:noFill/>
          <a:ln/>
        </p:spPr>
        <p:txBody>
          <a:bodyPr wrap="square" lIns="0" tIns="0" rIns="0" bIns="0" rtlCol="0" anchor="ctr"/>
          <a:lstStyle/>
          <a:p>
            <a:pPr marL="0" indent="0" algn="ctr">
              <a:buNone/>
            </a:pPr>
            <a:r>
              <a:rPr lang="en-US" sz="1500" b="1" u="sng" dirty="0">
                <a:solidFill>
                  <a:srgbClr val="000000"/>
                </a:solidFill>
                <a:latin typeface="Cambria" pitchFamily="34" charset="0"/>
                <a:ea typeface="Cambria" pitchFamily="34" charset="-122"/>
                <a:cs typeface="Cambria" pitchFamily="34" charset="-120"/>
              </a:rPr>
              <a:t>AAMS-X: ADAPTIVE SCAN SCHEDULING FOR ELECTRONIC WARFARE</a:t>
            </a:r>
            <a:endParaRPr lang="en-US" sz="1500" dirty="0"/>
          </a:p>
        </p:txBody>
      </p:sp>
      <p:sp>
        <p:nvSpPr>
          <p:cNvPr id="5" name="Text 3"/>
          <p:cNvSpPr txBox="1"/>
          <p:nvPr/>
        </p:nvSpPr>
        <p:spPr>
          <a:xfrm>
            <a:off x="7772400" y="45720"/>
            <a:ext cx="1234440" cy="548640"/>
          </a:xfrm>
          <a:prstGeom prst="rect">
            <a:avLst/>
          </a:prstGeom>
          <a:noFill/>
          <a:ln/>
        </p:spPr>
        <p:txBody>
          <a:bodyPr wrap="square" lIns="0" tIns="0" rIns="0" bIns="0" rtlCol="0" anchor="ctr"/>
          <a:lstStyle/>
          <a:p>
            <a:pPr marL="0" indent="0" algn="r">
              <a:buNone/>
            </a:pPr>
            <a:r>
              <a:rPr lang="en-US" sz="800" b="1" dirty="0">
                <a:solidFill>
                  <a:srgbClr val="3E4A56"/>
                </a:solidFill>
                <a:latin typeface="Calibri" pitchFamily="34" charset="0"/>
                <a:ea typeface="Calibri" pitchFamily="34" charset="-122"/>
                <a:cs typeface="Calibri" pitchFamily="34" charset="-120"/>
              </a:rPr>
              <a:t>SMART INDIA</a:t>
            </a:r>
            <a:endParaRPr lang="en-US" sz="800" dirty="0"/>
          </a:p>
          <a:p>
            <a:pPr marL="0" indent="0" algn="r">
              <a:buNone/>
            </a:pPr>
            <a:r>
              <a:rPr lang="en-US" sz="800" b="1" dirty="0">
                <a:solidFill>
                  <a:srgbClr val="3E4A56"/>
                </a:solidFill>
                <a:latin typeface="Calibri" pitchFamily="34" charset="0"/>
                <a:ea typeface="Calibri" pitchFamily="34" charset="-122"/>
                <a:cs typeface="Calibri" pitchFamily="34" charset="-120"/>
              </a:rPr>
              <a:t>HACKATHON</a:t>
            </a:r>
            <a:endParaRPr lang="en-US" sz="800" dirty="0"/>
          </a:p>
          <a:p>
            <a:pPr marL="0" indent="0" algn="r">
              <a:buNone/>
            </a:pPr>
            <a:r>
              <a:rPr lang="en-US" sz="800" b="1" dirty="0">
                <a:solidFill>
                  <a:srgbClr val="3E4A56"/>
                </a:solidFill>
                <a:latin typeface="Calibri" pitchFamily="34" charset="0"/>
                <a:ea typeface="Calibri" pitchFamily="34" charset="-122"/>
                <a:cs typeface="Calibri" pitchFamily="34" charset="-120"/>
              </a:rPr>
              <a:t>2026</a:t>
            </a:r>
            <a:endParaRPr lang="en-US" sz="800" dirty="0"/>
          </a:p>
        </p:txBody>
      </p:sp>
      <p:sp>
        <p:nvSpPr>
          <p:cNvPr id="6" name="Shape 4"/>
          <p:cNvSpPr/>
          <p:nvPr/>
        </p:nvSpPr>
        <p:spPr>
          <a:xfrm>
            <a:off x="0" y="4869180"/>
            <a:ext cx="9144000" cy="274320"/>
          </a:xfrm>
          <a:prstGeom prst="rect">
            <a:avLst/>
          </a:prstGeom>
          <a:solidFill>
            <a:srgbClr val="0071C1"/>
          </a:solidFill>
          <a:ln w="12700">
            <a:solidFill>
              <a:srgbClr val="0071C1"/>
            </a:solidFill>
            <a:prstDash val="solid"/>
          </a:ln>
        </p:spPr>
        <p:txBody>
          <a:bodyPr/>
          <a:lstStyle/>
          <a:p>
            <a:endParaRPr lang="en-US"/>
          </a:p>
        </p:txBody>
      </p:sp>
      <p:sp>
        <p:nvSpPr>
          <p:cNvPr id="7" name="Text 5"/>
          <p:cNvSpPr txBox="1"/>
          <p:nvPr/>
        </p:nvSpPr>
        <p:spPr>
          <a:xfrm>
            <a:off x="0" y="4869180"/>
            <a:ext cx="91440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@SIH Idea submission- Template</a:t>
            </a:r>
            <a:endParaRPr lang="en-US" sz="800" dirty="0"/>
          </a:p>
        </p:txBody>
      </p:sp>
      <p:sp>
        <p:nvSpPr>
          <p:cNvPr id="8" name="Text 6"/>
          <p:cNvSpPr txBox="1"/>
          <p:nvPr/>
        </p:nvSpPr>
        <p:spPr>
          <a:xfrm>
            <a:off x="8412480" y="4869180"/>
            <a:ext cx="548640" cy="2743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9" name="Text 7"/>
          <p:cNvSpPr txBox="1"/>
          <p:nvPr/>
        </p:nvSpPr>
        <p:spPr>
          <a:xfrm>
            <a:off x="182880" y="658368"/>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THE PROBLEM :</a:t>
            </a:r>
            <a:endParaRPr lang="en-US" sz="1200" dirty="0"/>
          </a:p>
        </p:txBody>
      </p:sp>
      <p:sp>
        <p:nvSpPr>
          <p:cNvPr id="10" name="Text 8"/>
          <p:cNvSpPr txBox="1"/>
          <p:nvPr/>
        </p:nvSpPr>
        <p:spPr>
          <a:xfrm>
            <a:off x="3108960" y="658368"/>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OUR SOLUTION:</a:t>
            </a:r>
            <a:endParaRPr lang="en-US" sz="1200" dirty="0"/>
          </a:p>
        </p:txBody>
      </p:sp>
      <p:sp>
        <p:nvSpPr>
          <p:cNvPr id="11" name="Text 9"/>
          <p:cNvSpPr txBox="1"/>
          <p:nvPr/>
        </p:nvSpPr>
        <p:spPr>
          <a:xfrm>
            <a:off x="6035040" y="658368"/>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KEY FEATURES :</a:t>
            </a:r>
            <a:endParaRPr lang="en-US" sz="1200" dirty="0"/>
          </a:p>
        </p:txBody>
      </p:sp>
      <p:sp>
        <p:nvSpPr>
          <p:cNvPr id="12" name="Shape 10"/>
          <p:cNvSpPr/>
          <p:nvPr/>
        </p:nvSpPr>
        <p:spPr>
          <a:xfrm>
            <a:off x="182880" y="932688"/>
            <a:ext cx="2788920" cy="896112"/>
          </a:xfrm>
          <a:prstGeom prst="roundRect">
            <a:avLst>
              <a:gd name="adj" fmla="val 8163"/>
            </a:avLst>
          </a:prstGeom>
          <a:solidFill>
            <a:srgbClr val="C5E5FB"/>
          </a:solidFill>
          <a:ln w="15875">
            <a:solidFill>
              <a:srgbClr val="000000"/>
            </a:solidFill>
            <a:prstDash val="solid"/>
          </a:ln>
        </p:spPr>
        <p:txBody>
          <a:bodyPr/>
          <a:lstStyle/>
          <a:p>
            <a:endParaRPr lang="en-US"/>
          </a:p>
        </p:txBody>
      </p:sp>
      <p:sp>
        <p:nvSpPr>
          <p:cNvPr id="13" name="Text 11"/>
          <p:cNvSpPr txBox="1"/>
          <p:nvPr/>
        </p:nvSpPr>
        <p:spPr>
          <a:xfrm>
            <a:off x="274320" y="969264"/>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Limited Observation Window: </a:t>
            </a:r>
            <a:r>
              <a:rPr lang="en-US" sz="950" dirty="0">
                <a:solidFill>
                  <a:srgbClr val="000000"/>
                </a:solidFill>
                <a:latin typeface="Calibri" pitchFamily="34" charset="0"/>
                <a:ea typeface="Calibri" pitchFamily="34" charset="-122"/>
                <a:cs typeface="Calibri" pitchFamily="34" charset="-120"/>
              </a:rPr>
              <a:t>The receiver has limited instantaneous bandwidth and sees only one contiguous slice of a wide spectrum. Fixed sweeps spend equal time on inactive and useful bands.</a:t>
            </a:r>
            <a:endParaRPr lang="en-US" sz="950" dirty="0"/>
          </a:p>
        </p:txBody>
      </p:sp>
      <p:sp>
        <p:nvSpPr>
          <p:cNvPr id="14" name="Shape 12"/>
          <p:cNvSpPr/>
          <p:nvPr/>
        </p:nvSpPr>
        <p:spPr>
          <a:xfrm>
            <a:off x="182880" y="1901952"/>
            <a:ext cx="2788920" cy="896112"/>
          </a:xfrm>
          <a:prstGeom prst="roundRect">
            <a:avLst>
              <a:gd name="adj" fmla="val 8163"/>
            </a:avLst>
          </a:prstGeom>
          <a:solidFill>
            <a:srgbClr val="FFD6D6"/>
          </a:solidFill>
          <a:ln w="15875">
            <a:solidFill>
              <a:srgbClr val="000000"/>
            </a:solidFill>
            <a:prstDash val="solid"/>
          </a:ln>
        </p:spPr>
        <p:txBody>
          <a:bodyPr/>
          <a:lstStyle/>
          <a:p>
            <a:endParaRPr lang="en-US"/>
          </a:p>
        </p:txBody>
      </p:sp>
      <p:sp>
        <p:nvSpPr>
          <p:cNvPr id="15" name="Text 13"/>
          <p:cNvSpPr txBox="1"/>
          <p:nvPr/>
        </p:nvSpPr>
        <p:spPr>
          <a:xfrm>
            <a:off x="274320" y="1938528"/>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Missed Short Events: </a:t>
            </a:r>
            <a:r>
              <a:rPr lang="en-US" sz="950" dirty="0">
                <a:solidFill>
                  <a:srgbClr val="000000"/>
                </a:solidFill>
                <a:latin typeface="Calibri" pitchFamily="34" charset="0"/>
                <a:ea typeface="Calibri" pitchFamily="34" charset="-122"/>
                <a:cs typeface="Calibri" pitchFamily="34" charset="-120"/>
              </a:rPr>
              <a:t>Bursts and periodic emitters can appear and vanish between revisits, so predetermined sweeps miss them.</a:t>
            </a:r>
            <a:endParaRPr lang="en-US" sz="950" dirty="0"/>
          </a:p>
        </p:txBody>
      </p:sp>
      <p:sp>
        <p:nvSpPr>
          <p:cNvPr id="16" name="Shape 14"/>
          <p:cNvSpPr/>
          <p:nvPr/>
        </p:nvSpPr>
        <p:spPr>
          <a:xfrm>
            <a:off x="182880" y="2871216"/>
            <a:ext cx="2788920" cy="896112"/>
          </a:xfrm>
          <a:prstGeom prst="roundRect">
            <a:avLst>
              <a:gd name="adj" fmla="val 8163"/>
            </a:avLst>
          </a:prstGeom>
          <a:solidFill>
            <a:srgbClr val="FFF0B8"/>
          </a:solidFill>
          <a:ln w="15875">
            <a:solidFill>
              <a:srgbClr val="000000"/>
            </a:solidFill>
            <a:prstDash val="solid"/>
          </a:ln>
        </p:spPr>
        <p:txBody>
          <a:bodyPr/>
          <a:lstStyle/>
          <a:p>
            <a:endParaRPr lang="en-US"/>
          </a:p>
        </p:txBody>
      </p:sp>
      <p:sp>
        <p:nvSpPr>
          <p:cNvPr id="17" name="Text 15"/>
          <p:cNvSpPr txBox="1"/>
          <p:nvPr/>
        </p:nvSpPr>
        <p:spPr>
          <a:xfrm>
            <a:off x="274320" y="2907792"/>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Partial, Non-Stationary Information: </a:t>
            </a:r>
            <a:r>
              <a:rPr lang="en-US" sz="950" dirty="0">
                <a:solidFill>
                  <a:srgbClr val="000000"/>
                </a:solidFill>
                <a:latin typeface="Calibri" pitchFamily="34" charset="0"/>
                <a:ea typeface="Calibri" pitchFamily="34" charset="-122"/>
                <a:cs typeface="Calibri" pitchFamily="34" charset="-120"/>
              </a:rPr>
              <a:t>Only the selected window is observed, activity patterns drift over time, and a change cannot be known instantly.</a:t>
            </a:r>
            <a:endParaRPr lang="en-US" sz="950" dirty="0"/>
          </a:p>
        </p:txBody>
      </p:sp>
      <p:sp>
        <p:nvSpPr>
          <p:cNvPr id="18" name="Shape 16"/>
          <p:cNvSpPr/>
          <p:nvPr/>
        </p:nvSpPr>
        <p:spPr>
          <a:xfrm>
            <a:off x="182880" y="3840480"/>
            <a:ext cx="2788920" cy="896112"/>
          </a:xfrm>
          <a:prstGeom prst="roundRect">
            <a:avLst>
              <a:gd name="adj" fmla="val 8163"/>
            </a:avLst>
          </a:prstGeom>
          <a:solidFill>
            <a:srgbClr val="C5CCFF"/>
          </a:solidFill>
          <a:ln w="15875">
            <a:solidFill>
              <a:srgbClr val="000000"/>
            </a:solidFill>
            <a:prstDash val="solid"/>
          </a:ln>
        </p:spPr>
        <p:txBody>
          <a:bodyPr/>
          <a:lstStyle/>
          <a:p>
            <a:endParaRPr lang="en-US"/>
          </a:p>
        </p:txBody>
      </p:sp>
      <p:sp>
        <p:nvSpPr>
          <p:cNvPr id="19" name="Text 17"/>
          <p:cNvSpPr txBox="1"/>
          <p:nvPr/>
        </p:nvSpPr>
        <p:spPr>
          <a:xfrm>
            <a:off x="274320" y="3877056"/>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Costly, Opaque Decisions: </a:t>
            </a:r>
            <a:r>
              <a:rPr lang="en-US" sz="950" dirty="0">
                <a:solidFill>
                  <a:srgbClr val="000000"/>
                </a:solidFill>
                <a:latin typeface="Calibri" pitchFamily="34" charset="0"/>
                <a:ea typeface="Calibri" pitchFamily="34" charset="-122"/>
                <a:cs typeface="Calibri" pitchFamily="34" charset="-120"/>
              </a:rPr>
              <a:t>Retuning costs dwell time, and black-box schedulers give operators no reason why a band was chosen.</a:t>
            </a:r>
            <a:endParaRPr lang="en-US" sz="950" dirty="0"/>
          </a:p>
        </p:txBody>
      </p:sp>
      <p:sp>
        <p:nvSpPr>
          <p:cNvPr id="20" name="Shape 18"/>
          <p:cNvSpPr/>
          <p:nvPr/>
        </p:nvSpPr>
        <p:spPr>
          <a:xfrm>
            <a:off x="3108960" y="932688"/>
            <a:ext cx="2788920" cy="896112"/>
          </a:xfrm>
          <a:prstGeom prst="roundRect">
            <a:avLst>
              <a:gd name="adj" fmla="val 8163"/>
            </a:avLst>
          </a:prstGeom>
          <a:solidFill>
            <a:srgbClr val="B7D8C5"/>
          </a:solidFill>
          <a:ln w="15875">
            <a:solidFill>
              <a:srgbClr val="000000"/>
            </a:solidFill>
            <a:prstDash val="solid"/>
          </a:ln>
        </p:spPr>
        <p:txBody>
          <a:bodyPr/>
          <a:lstStyle/>
          <a:p>
            <a:endParaRPr lang="en-US"/>
          </a:p>
        </p:txBody>
      </p:sp>
      <p:sp>
        <p:nvSpPr>
          <p:cNvPr id="21" name="Text 19"/>
          <p:cNvSpPr txBox="1"/>
          <p:nvPr/>
        </p:nvSpPr>
        <p:spPr>
          <a:xfrm>
            <a:off x="3200400" y="969264"/>
            <a:ext cx="2606040" cy="822960"/>
          </a:xfrm>
          <a:prstGeom prst="rect">
            <a:avLst/>
          </a:prstGeom>
          <a:noFill/>
          <a:ln/>
        </p:spPr>
        <p:txBody>
          <a:bodyPr wrap="square" lIns="0" tIns="0" rIns="0" bIns="0" anchor="ctr"/>
          <a:lstStyle/>
          <a:p>
            <a:pPr marL="0" indent="0">
              <a:buNone/>
            </a:pPr>
            <a:r>
              <a:rPr sz="950" b="1" i="1">
                <a:solidFill>
                  <a:srgbClr val="000000"/>
                </a:solidFill>
                <a:latin typeface="Calibri"/>
                <a:ea typeface="Calibri"/>
                <a:cs typeface="Calibri"/>
              </a:rPr>
              <a:t>Observation-Only Active Sensing: </a:t>
            </a:r>
            <a:r>
              <a:rPr sz="950">
                <a:solidFill>
                  <a:srgbClr val="000000"/>
                </a:solidFill>
                <a:latin typeface="Calibri"/>
                <a:ea typeface="Calibri"/>
                <a:cs typeface="Calibri"/>
              </a:rPr>
              <a:t>The policy receives selected-band energy, HIT/MISS and confidence. Regression tests guard the observation boundary.</a:t>
            </a:r>
            <a:endParaRPr sz="950"/>
          </a:p>
        </p:txBody>
      </p:sp>
      <p:sp>
        <p:nvSpPr>
          <p:cNvPr id="22" name="Shape 20"/>
          <p:cNvSpPr/>
          <p:nvPr/>
        </p:nvSpPr>
        <p:spPr>
          <a:xfrm>
            <a:off x="3108960" y="1901952"/>
            <a:ext cx="2788920" cy="896112"/>
          </a:xfrm>
          <a:prstGeom prst="roundRect">
            <a:avLst>
              <a:gd name="adj" fmla="val 8163"/>
            </a:avLst>
          </a:prstGeom>
          <a:solidFill>
            <a:srgbClr val="C5DCFF"/>
          </a:solidFill>
          <a:ln w="15875">
            <a:solidFill>
              <a:srgbClr val="000000"/>
            </a:solidFill>
            <a:prstDash val="solid"/>
          </a:ln>
        </p:spPr>
        <p:txBody>
          <a:bodyPr/>
          <a:lstStyle/>
          <a:p>
            <a:endParaRPr lang="en-US"/>
          </a:p>
        </p:txBody>
      </p:sp>
      <p:sp>
        <p:nvSpPr>
          <p:cNvPr id="23" name="Text 21"/>
          <p:cNvSpPr txBox="1"/>
          <p:nvPr/>
        </p:nvSpPr>
        <p:spPr>
          <a:xfrm>
            <a:off x="3200400" y="1938528"/>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MAG-NTS Scheduler: </a:t>
            </a:r>
            <a:r>
              <a:rPr lang="en-US" sz="950" dirty="0">
                <a:solidFill>
                  <a:srgbClr val="000000"/>
                </a:solidFill>
                <a:latin typeface="Calibri" pitchFamily="34" charset="0"/>
                <a:ea typeface="Calibri" pitchFamily="34" charset="-122"/>
                <a:cs typeface="Calibri" pitchFamily="34" charset="-120"/>
              </a:rPr>
              <a:t>Memory-augmented, information-guided, non-stationary Thompson sampling scores every legal contiguous window.</a:t>
            </a:r>
            <a:endParaRPr lang="en-US" sz="950" dirty="0"/>
          </a:p>
        </p:txBody>
      </p:sp>
      <p:sp>
        <p:nvSpPr>
          <p:cNvPr id="24" name="Shape 22"/>
          <p:cNvSpPr/>
          <p:nvPr/>
        </p:nvSpPr>
        <p:spPr>
          <a:xfrm>
            <a:off x="3108960" y="2871216"/>
            <a:ext cx="2788920" cy="896112"/>
          </a:xfrm>
          <a:prstGeom prst="roundRect">
            <a:avLst>
              <a:gd name="adj" fmla="val 8163"/>
            </a:avLst>
          </a:prstGeom>
          <a:solidFill>
            <a:srgbClr val="FFE79A"/>
          </a:solidFill>
          <a:ln w="15875">
            <a:solidFill>
              <a:srgbClr val="000000"/>
            </a:solidFill>
            <a:prstDash val="solid"/>
          </a:ln>
        </p:spPr>
        <p:txBody>
          <a:bodyPr/>
          <a:lstStyle/>
          <a:p>
            <a:endParaRPr lang="en-US"/>
          </a:p>
        </p:txBody>
      </p:sp>
      <p:sp>
        <p:nvSpPr>
          <p:cNvPr id="25" name="Text 23"/>
          <p:cNvSpPr txBox="1"/>
          <p:nvPr/>
        </p:nvSpPr>
        <p:spPr>
          <a:xfrm>
            <a:off x="3200400" y="2907792"/>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Adaptive &amp; Cost-Aware: </a:t>
            </a:r>
            <a:r>
              <a:rPr lang="en-US" sz="950" dirty="0">
                <a:solidFill>
                  <a:srgbClr val="000000"/>
                </a:solidFill>
                <a:latin typeface="Calibri" pitchFamily="34" charset="0"/>
                <a:ea typeface="Calibri" pitchFamily="34" charset="-122"/>
                <a:cs typeface="Calibri" pitchFamily="34" charset="-120"/>
              </a:rPr>
              <a:t>Discounted Beta beliefs, CUSUM change detection and periodicity estimation, with a penalty for retuning cost.</a:t>
            </a:r>
            <a:endParaRPr lang="en-US" sz="950" dirty="0"/>
          </a:p>
        </p:txBody>
      </p:sp>
      <p:sp>
        <p:nvSpPr>
          <p:cNvPr id="26" name="Shape 24"/>
          <p:cNvSpPr/>
          <p:nvPr/>
        </p:nvSpPr>
        <p:spPr>
          <a:xfrm>
            <a:off x="3108960" y="3840480"/>
            <a:ext cx="2788920" cy="896112"/>
          </a:xfrm>
          <a:prstGeom prst="roundRect">
            <a:avLst>
              <a:gd name="adj" fmla="val 8163"/>
            </a:avLst>
          </a:prstGeom>
          <a:solidFill>
            <a:srgbClr val="E0C9F5"/>
          </a:solidFill>
          <a:ln w="15875">
            <a:solidFill>
              <a:srgbClr val="000000"/>
            </a:solidFill>
            <a:prstDash val="solid"/>
          </a:ln>
        </p:spPr>
        <p:txBody>
          <a:bodyPr/>
          <a:lstStyle/>
          <a:p>
            <a:endParaRPr lang="en-US"/>
          </a:p>
        </p:txBody>
      </p:sp>
      <p:sp>
        <p:nvSpPr>
          <p:cNvPr id="27" name="Text 25"/>
          <p:cNvSpPr txBox="1"/>
          <p:nvPr/>
        </p:nvSpPr>
        <p:spPr>
          <a:xfrm>
            <a:off x="3200400" y="3877056"/>
            <a:ext cx="2606040" cy="822960"/>
          </a:xfrm>
          <a:prstGeom prst="rect">
            <a:avLst/>
          </a:prstGeom>
          <a:noFill/>
          <a:ln/>
        </p:spPr>
        <p:txBody>
          <a:bodyPr wrap="square" lIns="0" tIns="0" rIns="0" bIns="0" rtlCol="0" anchor="ctr"/>
          <a:lstStyle/>
          <a:p>
            <a:pPr marL="0" indent="0">
              <a:buNone/>
            </a:pPr>
            <a:r>
              <a:rPr lang="en-US" sz="950" b="1" i="1" dirty="0">
                <a:solidFill>
                  <a:srgbClr val="000000"/>
                </a:solidFill>
                <a:latin typeface="Calibri" pitchFamily="34" charset="0"/>
                <a:ea typeface="Calibri" pitchFamily="34" charset="-122"/>
                <a:cs typeface="Calibri" pitchFamily="34" charset="-120"/>
              </a:rPr>
              <a:t>Explainable &amp; Fair Evaluation: </a:t>
            </a:r>
            <a:r>
              <a:rPr lang="en-US" sz="950" dirty="0">
                <a:solidFill>
                  <a:srgbClr val="000000"/>
                </a:solidFill>
                <a:latin typeface="Calibri" pitchFamily="34" charset="0"/>
                <a:ea typeface="Calibri" pitchFamily="34" charset="-122"/>
                <a:cs typeface="Calibri" pitchFamily="34" charset="-120"/>
              </a:rPr>
              <a:t>Each decision stores its score components and alternatives; policies are compared on identical paired worlds.</a:t>
            </a:r>
            <a:endParaRPr lang="en-US" sz="950" dirty="0"/>
          </a:p>
        </p:txBody>
      </p:sp>
      <p:sp>
        <p:nvSpPr>
          <p:cNvPr id="28" name="Text 26"/>
          <p:cNvSpPr txBox="1"/>
          <p:nvPr/>
        </p:nvSpPr>
        <p:spPr>
          <a:xfrm>
            <a:off x="6126480" y="914400"/>
            <a:ext cx="2834640" cy="2331720"/>
          </a:xfrm>
          <a:prstGeom prst="rect">
            <a:avLst/>
          </a:prstGeom>
          <a:noFill/>
          <a:ln/>
        </p:spPr>
        <p:txBody>
          <a:bodyPr wrap="square" lIns="0" tIns="0" rIns="0" bIns="0" rtlCol="0" anchor="t"/>
          <a:lstStyle/>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Receiver Digital Twin</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Discounted Bayesian Belief</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Expected Information Gain</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Associative Memory</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Change Detection (CUSUM)</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Periodicity Estimation</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Live Duel &amp; Offline Replay</a:t>
            </a:r>
            <a:endParaRPr lang="en-US" sz="1150" dirty="0"/>
          </a:p>
          <a:p>
            <a:pPr marL="342900" indent="-342900">
              <a:spcAft>
                <a:spcPts val="300"/>
              </a:spcAft>
              <a:buSzPct val="100000"/>
              <a:buChar char="•"/>
            </a:pPr>
            <a:r>
              <a:rPr lang="en-US" sz="1150" b="1" dirty="0">
                <a:solidFill>
                  <a:srgbClr val="000000"/>
                </a:solidFill>
                <a:latin typeface="Calibri" pitchFamily="34" charset="0"/>
                <a:ea typeface="Calibri" pitchFamily="34" charset="-122"/>
                <a:cs typeface="Calibri" pitchFamily="34" charset="-120"/>
              </a:rPr>
              <a:t>3D Spectrum Intelligence Cube</a:t>
            </a:r>
            <a:endParaRPr lang="en-US" sz="1150" dirty="0"/>
          </a:p>
        </p:txBody>
      </p:sp>
      <p:sp>
        <p:nvSpPr>
          <p:cNvPr id="29" name="Shape 27"/>
          <p:cNvSpPr/>
          <p:nvPr/>
        </p:nvSpPr>
        <p:spPr>
          <a:xfrm>
            <a:off x="6035040" y="3337560"/>
            <a:ext cx="2880360" cy="1435608"/>
          </a:xfrm>
          <a:prstGeom prst="roundRect">
            <a:avLst>
              <a:gd name="adj" fmla="val 5096"/>
            </a:avLst>
          </a:prstGeom>
          <a:solidFill>
            <a:srgbClr val="D6DCE5"/>
          </a:solidFill>
          <a:ln w="15875">
            <a:solidFill>
              <a:srgbClr val="000000"/>
            </a:solidFill>
            <a:prstDash val="solid"/>
          </a:ln>
        </p:spPr>
        <p:txBody>
          <a:bodyPr/>
          <a:lstStyle/>
          <a:p>
            <a:endParaRPr lang="en-US"/>
          </a:p>
        </p:txBody>
      </p:sp>
      <p:sp>
        <p:nvSpPr>
          <p:cNvPr id="30" name="Text 28"/>
          <p:cNvSpPr txBox="1"/>
          <p:nvPr/>
        </p:nvSpPr>
        <p:spPr>
          <a:xfrm>
            <a:off x="6144768" y="3383280"/>
            <a:ext cx="2697480" cy="1344168"/>
          </a:xfrm>
          <a:prstGeom prst="rect">
            <a:avLst/>
          </a:prstGeom>
          <a:noFill/>
          <a:ln/>
        </p:spPr>
        <p:txBody>
          <a:bodyPr wrap="square" lIns="0" tIns="0" rIns="0" bIns="0" rtlCol="0" anchor="ctr"/>
          <a:lstStyle/>
          <a:p>
            <a:pPr marL="0" indent="0">
              <a:buNone/>
            </a:pPr>
            <a:r>
              <a:rPr lang="en-US" sz="1000" b="1" i="1" u="sng" dirty="0">
                <a:solidFill>
                  <a:srgbClr val="000000"/>
                </a:solidFill>
                <a:latin typeface="Calibri" pitchFamily="34" charset="0"/>
                <a:ea typeface="Calibri" pitchFamily="34" charset="-122"/>
                <a:cs typeface="Calibri" pitchFamily="34" charset="-120"/>
              </a:rPr>
              <a:t>WHY WE STAND OUT</a:t>
            </a:r>
            <a:endParaRPr lang="en-US" sz="1000" dirty="0"/>
          </a:p>
          <a:p>
            <a:pPr marL="342900" indent="-342900">
              <a:spcAft>
                <a:spcPts val="300"/>
              </a:spcAft>
              <a:buSzPct val="100000"/>
              <a:buChar char="•"/>
            </a:pPr>
            <a:r>
              <a:rPr lang="en-US" sz="1050" i="1" dirty="0">
                <a:solidFill>
                  <a:srgbClr val="000000"/>
                </a:solidFill>
                <a:latin typeface="Calibri" pitchFamily="34" charset="0"/>
                <a:ea typeface="Calibri" pitchFamily="34" charset="-122"/>
                <a:cs typeface="Calibri" pitchFamily="34" charset="-120"/>
              </a:rPr>
              <a:t>Truth-isolated policy</a:t>
            </a:r>
            <a:endParaRPr lang="en-US" sz="1000" dirty="0"/>
          </a:p>
          <a:p>
            <a:pPr marL="342900" indent="-342900">
              <a:spcAft>
                <a:spcPts val="300"/>
              </a:spcAft>
              <a:buSzPct val="100000"/>
              <a:buChar char="•"/>
            </a:pPr>
            <a:r>
              <a:rPr lang="en-US" sz="1050" i="1" dirty="0">
                <a:solidFill>
                  <a:srgbClr val="000000"/>
                </a:solidFill>
                <a:latin typeface="Calibri" pitchFamily="34" charset="0"/>
                <a:ea typeface="Calibri" pitchFamily="34" charset="-122"/>
                <a:cs typeface="Calibri" pitchFamily="34" charset="-120"/>
              </a:rPr>
              <a:t>Uncertainty-aware decisions</a:t>
            </a:r>
            <a:endParaRPr lang="en-US" sz="1000" dirty="0"/>
          </a:p>
          <a:p>
            <a:pPr marL="342900" indent="-342900">
              <a:spcAft>
                <a:spcPts val="300"/>
              </a:spcAft>
              <a:buSzPct val="100000"/>
              <a:buChar char="•"/>
            </a:pPr>
            <a:r>
              <a:rPr lang="en-US" sz="1050" i="1" dirty="0">
                <a:solidFill>
                  <a:srgbClr val="000000"/>
                </a:solidFill>
                <a:latin typeface="Calibri" pitchFamily="34" charset="0"/>
                <a:ea typeface="Calibri" pitchFamily="34" charset="-122"/>
                <a:cs typeface="Calibri" pitchFamily="34" charset="-120"/>
              </a:rPr>
              <a:t>Explainable at every step</a:t>
            </a:r>
            <a:endParaRPr lang="en-US" sz="1000" dirty="0"/>
          </a:p>
          <a:p>
            <a:pPr marL="342900" indent="-342900">
              <a:spcAft>
                <a:spcPts val="300"/>
              </a:spcAft>
              <a:buSzPct val="100000"/>
              <a:buChar char="•"/>
            </a:pPr>
            <a:r>
              <a:rPr lang="en-US" sz="1050" i="1" dirty="0">
                <a:solidFill>
                  <a:srgbClr val="000000"/>
                </a:solidFill>
                <a:latin typeface="Calibri" pitchFamily="34" charset="0"/>
                <a:ea typeface="Calibri" pitchFamily="34" charset="-122"/>
                <a:cs typeface="Calibri" pitchFamily="34" charset="-120"/>
              </a:rPr>
              <a:t>Reproducible benchmarks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14C37C-83E8-7FFA-2500-0FE324AE5A3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DB39C77-FABD-B656-7360-2CCE84961C00}"/>
              </a:ext>
            </a:extLst>
          </p:cNvPr>
          <p:cNvSpPr/>
          <p:nvPr/>
        </p:nvSpPr>
        <p:spPr>
          <a:xfrm>
            <a:off x="137160" y="109728"/>
            <a:ext cx="868680" cy="384048"/>
          </a:xfrm>
          <a:prstGeom prst="ellipse">
            <a:avLst/>
          </a:prstGeom>
          <a:solidFill>
            <a:srgbClr val="F7941D"/>
          </a:solidFill>
          <a:ln w="19050">
            <a:solidFill>
              <a:srgbClr val="7F5FA8"/>
            </a:solidFill>
            <a:prstDash val="solid"/>
          </a:ln>
        </p:spPr>
        <p:txBody>
          <a:bodyPr/>
          <a:lstStyle/>
          <a:p>
            <a:endParaRPr lang="en-US"/>
          </a:p>
        </p:txBody>
      </p:sp>
      <p:sp>
        <p:nvSpPr>
          <p:cNvPr id="3" name="Text 1">
            <a:extLst>
              <a:ext uri="{FF2B5EF4-FFF2-40B4-BE49-F238E27FC236}">
                <a16:creationId xmlns:a16="http://schemas.microsoft.com/office/drawing/2014/main" id="{AF027747-A4F5-54A5-6B8D-009DFCA43B2F}"/>
              </a:ext>
            </a:extLst>
          </p:cNvPr>
          <p:cNvSpPr txBox="1"/>
          <p:nvPr/>
        </p:nvSpPr>
        <p:spPr>
          <a:xfrm>
            <a:off x="137160" y="109728"/>
            <a:ext cx="868680" cy="384048"/>
          </a:xfrm>
          <a:prstGeom prst="rect">
            <a:avLst/>
          </a:prstGeom>
          <a:noFill/>
          <a:ln/>
        </p:spPr>
        <p:txBody>
          <a:bodyPr wrap="square" lIns="0" tIns="0" rIns="0" bIns="0" rtlCol="0" anchor="ctr"/>
          <a:lstStyle/>
          <a:p>
            <a:pPr marL="0" indent="0" algn="ctr">
              <a:buNone/>
            </a:pPr>
            <a:r>
              <a:rPr lang="en-US" sz="1100" dirty="0" err="1">
                <a:solidFill>
                  <a:srgbClr val="000000"/>
                </a:solidFill>
                <a:latin typeface="Calibri" pitchFamily="34" charset="0"/>
                <a:ea typeface="Calibri" pitchFamily="34" charset="-122"/>
                <a:cs typeface="Calibri" pitchFamily="34" charset="-120"/>
              </a:rPr>
              <a:t>Alphax</a:t>
            </a:r>
            <a:endParaRPr lang="en-US" sz="1100" dirty="0"/>
          </a:p>
        </p:txBody>
      </p:sp>
      <p:sp>
        <p:nvSpPr>
          <p:cNvPr id="4" name="Text 2">
            <a:extLst>
              <a:ext uri="{FF2B5EF4-FFF2-40B4-BE49-F238E27FC236}">
                <a16:creationId xmlns:a16="http://schemas.microsoft.com/office/drawing/2014/main" id="{C62183C0-2FB1-6C23-8E56-D705BDC84377}"/>
              </a:ext>
            </a:extLst>
          </p:cNvPr>
          <p:cNvSpPr txBox="1"/>
          <p:nvPr/>
        </p:nvSpPr>
        <p:spPr>
          <a:xfrm>
            <a:off x="1097280" y="73152"/>
            <a:ext cx="6583680" cy="502920"/>
          </a:xfrm>
          <a:prstGeom prst="rect">
            <a:avLst/>
          </a:prstGeom>
          <a:noFill/>
          <a:ln/>
        </p:spPr>
        <p:txBody>
          <a:bodyPr wrap="square" lIns="0" tIns="0" rIns="0" bIns="0" rtlCol="0" anchor="ctr"/>
          <a:lstStyle/>
          <a:p>
            <a:pPr marL="0" indent="0" algn="ctr">
              <a:buNone/>
            </a:pPr>
            <a:r>
              <a:rPr lang="en-US" sz="2400" b="1" u="sng" dirty="0">
                <a:solidFill>
                  <a:srgbClr val="000000"/>
                </a:solidFill>
                <a:latin typeface="Cambria" pitchFamily="34" charset="0"/>
                <a:ea typeface="Cambria" pitchFamily="34" charset="-122"/>
                <a:cs typeface="Cambria" pitchFamily="34" charset="-120"/>
              </a:rPr>
              <a:t>TECHNICAL APPROACH</a:t>
            </a:r>
            <a:endParaRPr lang="en-US" sz="2400" dirty="0"/>
          </a:p>
        </p:txBody>
      </p:sp>
      <p:sp>
        <p:nvSpPr>
          <p:cNvPr id="5" name="Text 3">
            <a:extLst>
              <a:ext uri="{FF2B5EF4-FFF2-40B4-BE49-F238E27FC236}">
                <a16:creationId xmlns:a16="http://schemas.microsoft.com/office/drawing/2014/main" id="{67DAE82D-E5BD-CD26-3EBA-57AE6413F030}"/>
              </a:ext>
            </a:extLst>
          </p:cNvPr>
          <p:cNvSpPr txBox="1"/>
          <p:nvPr/>
        </p:nvSpPr>
        <p:spPr>
          <a:xfrm>
            <a:off x="7772400" y="45720"/>
            <a:ext cx="1234440" cy="548640"/>
          </a:xfrm>
          <a:prstGeom prst="rect">
            <a:avLst/>
          </a:prstGeom>
          <a:noFill/>
          <a:ln/>
        </p:spPr>
        <p:txBody>
          <a:bodyPr wrap="square" lIns="0" tIns="0" rIns="0" bIns="0" rtlCol="0" anchor="ctr"/>
          <a:lstStyle/>
          <a:p>
            <a:pPr marL="0" indent="0" algn="r">
              <a:buNone/>
            </a:pPr>
            <a:r>
              <a:rPr lang="en-US" sz="800" b="1" dirty="0">
                <a:solidFill>
                  <a:srgbClr val="3E4A56"/>
                </a:solidFill>
                <a:latin typeface="Calibri" pitchFamily="34" charset="0"/>
                <a:ea typeface="Calibri" pitchFamily="34" charset="-122"/>
                <a:cs typeface="Calibri" pitchFamily="34" charset="-120"/>
              </a:rPr>
              <a:t>SMART INDIA</a:t>
            </a:r>
            <a:endParaRPr lang="en-US" sz="800" dirty="0"/>
          </a:p>
          <a:p>
            <a:pPr marL="0" indent="0" algn="r">
              <a:buNone/>
            </a:pPr>
            <a:r>
              <a:rPr lang="en-US" sz="800" b="1" dirty="0">
                <a:solidFill>
                  <a:srgbClr val="3E4A56"/>
                </a:solidFill>
                <a:latin typeface="Calibri" pitchFamily="34" charset="0"/>
                <a:ea typeface="Calibri" pitchFamily="34" charset="-122"/>
                <a:cs typeface="Calibri" pitchFamily="34" charset="-120"/>
              </a:rPr>
              <a:t>HACKATHON</a:t>
            </a:r>
            <a:endParaRPr lang="en-US" sz="800" dirty="0"/>
          </a:p>
          <a:p>
            <a:pPr marL="0" indent="0" algn="r">
              <a:buNone/>
            </a:pPr>
            <a:r>
              <a:rPr lang="en-US" sz="800" b="1" dirty="0">
                <a:solidFill>
                  <a:srgbClr val="3E4A56"/>
                </a:solidFill>
                <a:latin typeface="Calibri" pitchFamily="34" charset="0"/>
                <a:ea typeface="Calibri" pitchFamily="34" charset="-122"/>
                <a:cs typeface="Calibri" pitchFamily="34" charset="-120"/>
              </a:rPr>
              <a:t>2026</a:t>
            </a:r>
            <a:endParaRPr lang="en-US" sz="800" dirty="0"/>
          </a:p>
        </p:txBody>
      </p:sp>
      <p:sp>
        <p:nvSpPr>
          <p:cNvPr id="6" name="Shape 4">
            <a:extLst>
              <a:ext uri="{FF2B5EF4-FFF2-40B4-BE49-F238E27FC236}">
                <a16:creationId xmlns:a16="http://schemas.microsoft.com/office/drawing/2014/main" id="{2C8522B5-B7DC-B6BB-4C8E-DBE9883457FB}"/>
              </a:ext>
            </a:extLst>
          </p:cNvPr>
          <p:cNvSpPr/>
          <p:nvPr/>
        </p:nvSpPr>
        <p:spPr>
          <a:xfrm>
            <a:off x="0" y="4869180"/>
            <a:ext cx="9144000" cy="274320"/>
          </a:xfrm>
          <a:prstGeom prst="rect">
            <a:avLst/>
          </a:prstGeom>
          <a:solidFill>
            <a:srgbClr val="0071C1"/>
          </a:solidFill>
          <a:ln w="12700">
            <a:solidFill>
              <a:srgbClr val="0071C1"/>
            </a:solidFill>
            <a:prstDash val="solid"/>
          </a:ln>
        </p:spPr>
        <p:txBody>
          <a:bodyPr/>
          <a:lstStyle/>
          <a:p>
            <a:endParaRPr lang="en-US"/>
          </a:p>
        </p:txBody>
      </p:sp>
      <p:sp>
        <p:nvSpPr>
          <p:cNvPr id="7" name="Text 5">
            <a:extLst>
              <a:ext uri="{FF2B5EF4-FFF2-40B4-BE49-F238E27FC236}">
                <a16:creationId xmlns:a16="http://schemas.microsoft.com/office/drawing/2014/main" id="{69C71AB6-69B1-AFF1-B25A-487523262C96}"/>
              </a:ext>
            </a:extLst>
          </p:cNvPr>
          <p:cNvSpPr txBox="1"/>
          <p:nvPr/>
        </p:nvSpPr>
        <p:spPr>
          <a:xfrm>
            <a:off x="0" y="4869180"/>
            <a:ext cx="91440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@SIH Idea submission- Template</a:t>
            </a:r>
            <a:endParaRPr lang="en-US" sz="800" dirty="0"/>
          </a:p>
        </p:txBody>
      </p:sp>
      <p:sp>
        <p:nvSpPr>
          <p:cNvPr id="8" name="Text 6">
            <a:extLst>
              <a:ext uri="{FF2B5EF4-FFF2-40B4-BE49-F238E27FC236}">
                <a16:creationId xmlns:a16="http://schemas.microsoft.com/office/drawing/2014/main" id="{223085E4-472C-9389-328C-07297E39331C}"/>
              </a:ext>
            </a:extLst>
          </p:cNvPr>
          <p:cNvSpPr txBox="1"/>
          <p:nvPr/>
        </p:nvSpPr>
        <p:spPr>
          <a:xfrm>
            <a:off x="8412480" y="4869180"/>
            <a:ext cx="548640" cy="2743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pic>
        <p:nvPicPr>
          <p:cNvPr id="43" name="Picture 42">
            <a:extLst>
              <a:ext uri="{FF2B5EF4-FFF2-40B4-BE49-F238E27FC236}">
                <a16:creationId xmlns:a16="http://schemas.microsoft.com/office/drawing/2014/main" id="{DCFE8A9B-0F32-C57E-E04E-3115C773E9BA}"/>
              </a:ext>
            </a:extLst>
          </p:cNvPr>
          <p:cNvPicPr>
            <a:picLocks noChangeAspect="1"/>
          </p:cNvPicPr>
          <p:nvPr/>
        </p:nvPicPr>
        <p:blipFill>
          <a:blip r:embed="rId3"/>
          <a:srcRect l="3412" t="18204" r="3305" b="5891"/>
          <a:stretch>
            <a:fillRect/>
          </a:stretch>
        </p:blipFill>
        <p:spPr>
          <a:xfrm>
            <a:off x="217737" y="594360"/>
            <a:ext cx="8708525" cy="4264988"/>
          </a:xfrm>
          <a:prstGeom prst="rect">
            <a:avLst/>
          </a:prstGeom>
        </p:spPr>
      </p:pic>
      <p:sp>
        <p:nvSpPr>
          <p:cNvPr id="44" name="Corrected policy diagram background">
            <a:extLst>
              <a:ext uri="{FF2B5EF4-FFF2-40B4-BE49-F238E27FC236}">
                <a16:creationId xmlns:a16="http://schemas.microsoft.com/office/drawing/2014/main" id="{D3CD5609-7BF3-432B-9355-1904186BF422}"/>
              </a:ext>
            </a:extLst>
          </p:cNvPr>
          <p:cNvSpPr>
            <a:spLocks noGrp="1"/>
          </p:cNvSpPr>
          <p:nvPr/>
        </p:nvSpPr>
        <p:spPr>
          <a:xfrm>
            <a:off x="3114675" y="790575"/>
            <a:ext cx="3133725" cy="3867150"/>
          </a:xfrm>
          <a:prstGeom prst="rect">
            <a:avLst/>
          </a:prstGeom>
          <a:solidFill>
            <a:srgbClr val="F6F5F1"/>
          </a:solidFill>
          <a:ln w="0">
            <a:noFill/>
          </a:ln>
        </p:spPr>
      </p:sp>
      <p:sp>
        <p:nvSpPr>
          <p:cNvPr id="45" name="Policy loop title">
            <a:extLst>
              <a:ext uri="{FF2B5EF4-FFF2-40B4-BE49-F238E27FC236}">
                <a16:creationId xmlns:a16="http://schemas.microsoft.com/office/drawing/2014/main" id="{E930FDC0-1307-4081-B0FA-4C00E39CC293}"/>
              </a:ext>
            </a:extLst>
          </p:cNvPr>
          <p:cNvSpPr>
            <a:spLocks noGrp="1"/>
          </p:cNvSpPr>
          <p:nvPr/>
        </p:nvSpPr>
        <p:spPr>
          <a:xfrm>
            <a:off x="3248025" y="876300"/>
            <a:ext cx="2857500" cy="466725"/>
          </a:xfrm>
          <a:prstGeom prst="rect">
            <a:avLst/>
          </a:prstGeom>
          <a:solidFill>
            <a:srgbClr val="F6F5F1"/>
          </a:solidFill>
          <a:ln w="0">
            <a:noFill/>
          </a:ln>
        </p:spPr>
        <p:txBody>
          <a:bodyPr anchor="ctr">
            <a:noAutofit/>
          </a:bodyPr>
          <a:lstStyle/>
          <a:p>
            <a:pPr algn="ctr">
              <a:defRPr sz="1275">
                <a:solidFill>
                  <a:srgbClr val="000000"/>
                </a:solidFill>
                <a:latin typeface="Calibri"/>
                <a:ea typeface="Calibri"/>
                <a:cs typeface="Calibri"/>
              </a:defRPr>
            </a:pPr>
            <a:r>
              <a:rPr sz="1275">
                <a:solidFill>
                  <a:srgbClr val="000000"/>
                </a:solidFill>
                <a:latin typeface="Calibri"/>
                <a:ea typeface="Calibri"/>
                <a:cs typeface="Calibri"/>
              </a:rPr>
              <a:t>ONLINE (PER SLOT)</a:t>
            </a:r>
          </a:p>
          <a:p>
            <a:pPr algn="ctr">
              <a:defRPr sz="1275">
                <a:solidFill>
                  <a:srgbClr val="000000"/>
                </a:solidFill>
                <a:latin typeface="Calibri"/>
                <a:ea typeface="Calibri"/>
                <a:cs typeface="Calibri"/>
              </a:defRPr>
            </a:pPr>
            <a:r>
              <a:rPr sz="1275">
                <a:solidFill>
                  <a:srgbClr val="000000"/>
                </a:solidFill>
                <a:latin typeface="Calibri"/>
                <a:ea typeface="Calibri"/>
                <a:cs typeface="Calibri"/>
              </a:rPr>
              <a:t>OBSERVATION-ONLY POLICY</a:t>
            </a:r>
          </a:p>
        </p:txBody>
      </p:sp>
      <p:sp>
        <p:nvSpPr>
          <p:cNvPr id="46" name="Prior observations">
            <a:extLst>
              <a:ext uri="{FF2B5EF4-FFF2-40B4-BE49-F238E27FC236}">
                <a16:creationId xmlns:a16="http://schemas.microsoft.com/office/drawing/2014/main" id="{FD3048CC-E7CD-4E11-A424-D635D6E7DDFF}"/>
              </a:ext>
            </a:extLst>
          </p:cNvPr>
          <p:cNvSpPr>
            <a:spLocks noGrp="1"/>
          </p:cNvSpPr>
          <p:nvPr/>
        </p:nvSpPr>
        <p:spPr>
          <a:xfrm>
            <a:off x="3257550" y="1438275"/>
            <a:ext cx="2838450" cy="485775"/>
          </a:xfrm>
          <a:prstGeom prst="roundRect">
            <a:avLst>
              <a:gd name="adj" fmla="val 15686"/>
            </a:avLst>
          </a:prstGeom>
          <a:solidFill>
            <a:srgbClr val="D5E7D4"/>
          </a:solidFill>
          <a:ln w="12383">
            <a:solidFill>
              <a:srgbClr val="666666"/>
            </a:solidFill>
          </a:ln>
        </p:spPr>
        <p:txBody>
          <a:bodyPr anchor="ctr">
            <a:noAutofit/>
          </a:bodyPr>
          <a:lstStyle/>
          <a:p>
            <a:pPr algn="ctr">
              <a:defRPr sz="1200">
                <a:solidFill>
                  <a:srgbClr val="000000"/>
                </a:solidFill>
                <a:latin typeface="Calibri"/>
                <a:ea typeface="Calibri"/>
                <a:cs typeface="Calibri"/>
              </a:defRPr>
            </a:pPr>
            <a:r>
              <a:rPr sz="1200">
                <a:solidFill>
                  <a:srgbClr val="000000"/>
                </a:solidFill>
                <a:latin typeface="Calibri"/>
                <a:ea typeface="Calibri"/>
                <a:cs typeface="Calibri"/>
              </a:rPr>
              <a:t>Frozen selected-window observations</a:t>
            </a:r>
          </a:p>
          <a:p>
            <a:pPr algn="ctr">
              <a:defRPr sz="1200">
                <a:solidFill>
                  <a:srgbClr val="000000"/>
                </a:solidFill>
                <a:latin typeface="Calibri"/>
                <a:ea typeface="Calibri"/>
                <a:cs typeface="Calibri"/>
              </a:defRPr>
            </a:pPr>
            <a:r>
              <a:rPr sz="1200">
                <a:solidFill>
                  <a:srgbClr val="000000"/>
                </a:solidFill>
                <a:latin typeface="Calibri"/>
                <a:ea typeface="Calibri"/>
                <a:cs typeface="Calibri"/>
              </a:rPr>
              <a:t>Energy, HIT/MISS and confidence</a:t>
            </a:r>
          </a:p>
        </p:txBody>
      </p:sp>
      <p:sp>
        <p:nvSpPr>
          <p:cNvPr id="47" name="Online learning">
            <a:extLst>
              <a:ext uri="{FF2B5EF4-FFF2-40B4-BE49-F238E27FC236}">
                <a16:creationId xmlns:a16="http://schemas.microsoft.com/office/drawing/2014/main" id="{617B8598-E6EB-4131-B861-9A59636F903F}"/>
              </a:ext>
            </a:extLst>
          </p:cNvPr>
          <p:cNvSpPr>
            <a:spLocks noGrp="1"/>
          </p:cNvSpPr>
          <p:nvPr/>
        </p:nvSpPr>
        <p:spPr>
          <a:xfrm>
            <a:off x="3257550" y="2095500"/>
            <a:ext cx="2838450" cy="514350"/>
          </a:xfrm>
          <a:prstGeom prst="roundRect">
            <a:avLst>
              <a:gd name="adj" fmla="val 14815"/>
            </a:avLst>
          </a:prstGeom>
          <a:solidFill>
            <a:srgbClr val="F2DFD6"/>
          </a:solidFill>
          <a:ln w="12383">
            <a:solidFill>
              <a:srgbClr val="666666"/>
            </a:solidFill>
          </a:ln>
        </p:spPr>
        <p:txBody>
          <a:bodyPr anchor="ctr">
            <a:noAutofit/>
          </a:bodyPr>
          <a:lstStyle/>
          <a:p>
            <a:pPr algn="ctr">
              <a:defRPr sz="1200">
                <a:solidFill>
                  <a:srgbClr val="000000"/>
                </a:solidFill>
                <a:latin typeface="Calibri"/>
                <a:ea typeface="Calibri"/>
                <a:cs typeface="Calibri"/>
              </a:defRPr>
            </a:pPr>
            <a:r>
              <a:rPr sz="1200">
                <a:solidFill>
                  <a:srgbClr val="000000"/>
                </a:solidFill>
                <a:latin typeface="Calibri"/>
                <a:ea typeface="Calibri"/>
                <a:cs typeface="Calibri"/>
              </a:rPr>
              <a:t>Update beliefs and temporal evidence</a:t>
            </a:r>
          </a:p>
          <a:p>
            <a:pPr algn="ctr">
              <a:defRPr sz="1200">
                <a:solidFill>
                  <a:srgbClr val="000000"/>
                </a:solidFill>
                <a:latin typeface="Calibri"/>
                <a:ea typeface="Calibri"/>
                <a:cs typeface="Calibri"/>
              </a:defRPr>
            </a:pPr>
            <a:r>
              <a:rPr sz="1200">
                <a:solidFill>
                  <a:srgbClr val="000000"/>
                </a:solidFill>
                <a:latin typeface="Calibri"/>
                <a:ea typeface="Calibri"/>
                <a:cs typeface="Calibri"/>
              </a:rPr>
              <a:t>Memory, recurrence and CUSUM</a:t>
            </a:r>
          </a:p>
        </p:txBody>
      </p:sp>
      <p:sp>
        <p:nvSpPr>
          <p:cNvPr id="48" name="Window scoring">
            <a:extLst>
              <a:ext uri="{FF2B5EF4-FFF2-40B4-BE49-F238E27FC236}">
                <a16:creationId xmlns:a16="http://schemas.microsoft.com/office/drawing/2014/main" id="{E22E913F-D560-48CC-896D-17C5CE896A0D}"/>
              </a:ext>
            </a:extLst>
          </p:cNvPr>
          <p:cNvSpPr>
            <a:spLocks noGrp="1"/>
          </p:cNvSpPr>
          <p:nvPr/>
        </p:nvSpPr>
        <p:spPr>
          <a:xfrm>
            <a:off x="3257550" y="2781300"/>
            <a:ext cx="2838450" cy="514350"/>
          </a:xfrm>
          <a:prstGeom prst="roundRect">
            <a:avLst>
              <a:gd name="adj" fmla="val 14815"/>
            </a:avLst>
          </a:prstGeom>
          <a:solidFill>
            <a:srgbClr val="DED6EA"/>
          </a:solidFill>
          <a:ln w="12383">
            <a:solidFill>
              <a:srgbClr val="666666"/>
            </a:solidFill>
          </a:ln>
        </p:spPr>
        <p:txBody>
          <a:bodyPr anchor="ctr">
            <a:noAutofit/>
          </a:bodyPr>
          <a:lstStyle/>
          <a:p>
            <a:pPr algn="ctr">
              <a:defRPr sz="1200">
                <a:solidFill>
                  <a:srgbClr val="000000"/>
                </a:solidFill>
                <a:latin typeface="Calibri"/>
                <a:ea typeface="Calibri"/>
                <a:cs typeface="Calibri"/>
              </a:defRPr>
            </a:pPr>
            <a:r>
              <a:rPr sz="1200">
                <a:solidFill>
                  <a:srgbClr val="000000"/>
                </a:solidFill>
                <a:latin typeface="Calibri"/>
                <a:ea typeface="Calibri"/>
                <a:cs typeface="Calibri"/>
              </a:rPr>
              <a:t>Score legal contiguous windows</a:t>
            </a:r>
          </a:p>
          <a:p>
            <a:pPr algn="ctr">
              <a:defRPr sz="1200">
                <a:solidFill>
                  <a:srgbClr val="000000"/>
                </a:solidFill>
                <a:latin typeface="Calibri"/>
                <a:ea typeface="Calibri"/>
                <a:cs typeface="Calibri"/>
              </a:defRPr>
            </a:pPr>
            <a:r>
              <a:rPr sz="1200">
                <a:solidFill>
                  <a:srgbClr val="000000"/>
                </a:solidFill>
                <a:latin typeface="Calibri"/>
                <a:ea typeface="Calibri"/>
                <a:cs typeface="Calibri"/>
              </a:rPr>
              <a:t>Information, uncertainty and costs</a:t>
            </a:r>
          </a:p>
        </p:txBody>
      </p:sp>
      <p:sp>
        <p:nvSpPr>
          <p:cNvPr id="49" name="Selected window">
            <a:extLst>
              <a:ext uri="{FF2B5EF4-FFF2-40B4-BE49-F238E27FC236}">
                <a16:creationId xmlns:a16="http://schemas.microsoft.com/office/drawing/2014/main" id="{E0D9F026-8178-4880-8452-974D89422DBF}"/>
              </a:ext>
            </a:extLst>
          </p:cNvPr>
          <p:cNvSpPr>
            <a:spLocks noGrp="1"/>
          </p:cNvSpPr>
          <p:nvPr/>
        </p:nvSpPr>
        <p:spPr>
          <a:xfrm>
            <a:off x="3257550" y="3467100"/>
            <a:ext cx="2838450" cy="514350"/>
          </a:xfrm>
          <a:prstGeom prst="roundRect">
            <a:avLst>
              <a:gd name="adj" fmla="val 14815"/>
            </a:avLst>
          </a:prstGeom>
          <a:solidFill>
            <a:srgbClr val="D5E7D4"/>
          </a:solidFill>
          <a:ln w="12383">
            <a:solidFill>
              <a:srgbClr val="666666"/>
            </a:solidFill>
          </a:ln>
        </p:spPr>
        <p:txBody>
          <a:bodyPr anchor="ctr">
            <a:noAutofit/>
          </a:bodyPr>
          <a:lstStyle/>
          <a:p>
            <a:pPr algn="ctr">
              <a:defRPr sz="1200">
                <a:solidFill>
                  <a:srgbClr val="000000"/>
                </a:solidFill>
                <a:latin typeface="Calibri"/>
                <a:ea typeface="Calibri"/>
                <a:cs typeface="Calibri"/>
              </a:defRPr>
            </a:pPr>
            <a:r>
              <a:rPr sz="1200">
                <a:solidFill>
                  <a:srgbClr val="000000"/>
                </a:solidFill>
                <a:latin typeface="Calibri"/>
                <a:ea typeface="Calibri"/>
                <a:cs typeface="Calibri"/>
              </a:rPr>
              <a:t>Select window and sense</a:t>
            </a:r>
          </a:p>
          <a:p>
            <a:pPr algn="ctr">
              <a:defRPr sz="1200">
                <a:solidFill>
                  <a:srgbClr val="000000"/>
                </a:solidFill>
                <a:latin typeface="Calibri"/>
                <a:ea typeface="Calibri"/>
                <a:cs typeface="Calibri"/>
              </a:defRPr>
            </a:pPr>
            <a:r>
              <a:rPr sz="1200">
                <a:solidFill>
                  <a:srgbClr val="000000"/>
                </a:solidFill>
                <a:latin typeface="Calibri"/>
                <a:ea typeface="Calibri"/>
                <a:cs typeface="Calibri"/>
              </a:rPr>
              <a:t>Bandwidth and dwell limits apply</a:t>
            </a:r>
          </a:p>
        </p:txBody>
      </p:sp>
      <p:sp>
        <p:nvSpPr>
          <p:cNvPr id="50" name="Policy sequence arrow 204">
            <a:extLst>
              <a:ext uri="{FF2B5EF4-FFF2-40B4-BE49-F238E27FC236}">
                <a16:creationId xmlns:a16="http://schemas.microsoft.com/office/drawing/2014/main" id="{F43056AE-AF26-4A2B-9C5E-F7542FAAE394}"/>
              </a:ext>
            </a:extLst>
          </p:cNvPr>
          <p:cNvSpPr>
            <a:spLocks noGrp="1"/>
          </p:cNvSpPr>
          <p:nvPr/>
        </p:nvSpPr>
        <p:spPr>
          <a:xfrm>
            <a:off x="4619625" y="1943100"/>
            <a:ext cx="114300" cy="133350"/>
          </a:xfrm>
          <a:prstGeom prst="downArrow">
            <a:avLst/>
          </a:prstGeom>
          <a:solidFill>
            <a:srgbClr val="666666"/>
          </a:solidFill>
          <a:ln w="0">
            <a:noFill/>
          </a:ln>
        </p:spPr>
      </p:sp>
      <p:sp>
        <p:nvSpPr>
          <p:cNvPr id="51" name="Policy sequence arrow 276">
            <a:extLst>
              <a:ext uri="{FF2B5EF4-FFF2-40B4-BE49-F238E27FC236}">
                <a16:creationId xmlns:a16="http://schemas.microsoft.com/office/drawing/2014/main" id="{07754F7F-C937-4A96-9224-5685E44E25AF}"/>
              </a:ext>
            </a:extLst>
          </p:cNvPr>
          <p:cNvSpPr>
            <a:spLocks noGrp="1"/>
          </p:cNvSpPr>
          <p:nvPr/>
        </p:nvSpPr>
        <p:spPr>
          <a:xfrm>
            <a:off x="4619625" y="2628900"/>
            <a:ext cx="114300" cy="133350"/>
          </a:xfrm>
          <a:prstGeom prst="downArrow">
            <a:avLst/>
          </a:prstGeom>
          <a:solidFill>
            <a:srgbClr val="666666"/>
          </a:solidFill>
          <a:ln w="0">
            <a:noFill/>
          </a:ln>
        </p:spPr>
      </p:sp>
      <p:sp>
        <p:nvSpPr>
          <p:cNvPr id="52" name="Policy sequence arrow 348">
            <a:extLst>
              <a:ext uri="{FF2B5EF4-FFF2-40B4-BE49-F238E27FC236}">
                <a16:creationId xmlns:a16="http://schemas.microsoft.com/office/drawing/2014/main" id="{FF636257-72E8-48DD-BE44-56E4D9611995}"/>
              </a:ext>
            </a:extLst>
          </p:cNvPr>
          <p:cNvSpPr>
            <a:spLocks noGrp="1"/>
          </p:cNvSpPr>
          <p:nvPr/>
        </p:nvSpPr>
        <p:spPr>
          <a:xfrm>
            <a:off x="4619625" y="3314700"/>
            <a:ext cx="114300" cy="133350"/>
          </a:xfrm>
          <a:prstGeom prst="downArrow">
            <a:avLst/>
          </a:prstGeom>
          <a:solidFill>
            <a:srgbClr val="666666"/>
          </a:solidFill>
          <a:ln w="0">
            <a:noFill/>
          </a:ln>
        </p:spPr>
      </p:sp>
      <p:sp>
        <p:nvSpPr>
          <p:cNvPr id="53" name="Feedback explanation">
            <a:extLst>
              <a:ext uri="{FF2B5EF4-FFF2-40B4-BE49-F238E27FC236}">
                <a16:creationId xmlns:a16="http://schemas.microsoft.com/office/drawing/2014/main" id="{9E24DAF5-B7D1-4D51-B791-67A84D966CB1}"/>
              </a:ext>
            </a:extLst>
          </p:cNvPr>
          <p:cNvSpPr>
            <a:spLocks noGrp="1"/>
          </p:cNvSpPr>
          <p:nvPr/>
        </p:nvSpPr>
        <p:spPr>
          <a:xfrm>
            <a:off x="3257550" y="4019550"/>
            <a:ext cx="2838450" cy="228600"/>
          </a:xfrm>
          <a:prstGeom prst="rect">
            <a:avLst/>
          </a:prstGeom>
          <a:solidFill>
            <a:srgbClr val="F6F5F1"/>
          </a:solidFill>
          <a:ln w="0">
            <a:noFill/>
          </a:ln>
        </p:spPr>
        <p:txBody>
          <a:bodyPr anchor="ctr">
            <a:noAutofit/>
          </a:bodyPr>
          <a:lstStyle/>
          <a:p>
            <a:pPr algn="ctr">
              <a:defRPr sz="975">
                <a:solidFill>
                  <a:srgbClr val="000000"/>
                </a:solidFill>
                <a:latin typeface="Calibri"/>
                <a:ea typeface="Calibri"/>
                <a:cs typeface="Calibri"/>
              </a:defRPr>
            </a:pPr>
            <a:r>
              <a:rPr sz="975">
                <a:solidFill>
                  <a:srgbClr val="000000"/>
                </a:solidFill>
                <a:latin typeface="Calibri"/>
                <a:ea typeface="Calibri"/>
                <a:cs typeface="Calibri"/>
              </a:rPr>
              <a:t>New observation starts the next decision</a:t>
            </a:r>
          </a:p>
        </p:txBody>
      </p:sp>
      <p:sp>
        <p:nvSpPr>
          <p:cNvPr id="54" name="Separate evaluator">
            <a:extLst>
              <a:ext uri="{FF2B5EF4-FFF2-40B4-BE49-F238E27FC236}">
                <a16:creationId xmlns:a16="http://schemas.microsoft.com/office/drawing/2014/main" id="{E298EF38-B505-4527-9BF4-B1DCD1589793}"/>
              </a:ext>
            </a:extLst>
          </p:cNvPr>
          <p:cNvSpPr>
            <a:spLocks noGrp="1"/>
          </p:cNvSpPr>
          <p:nvPr/>
        </p:nvSpPr>
        <p:spPr>
          <a:xfrm>
            <a:off x="3257550" y="4295775"/>
            <a:ext cx="2838450" cy="295275"/>
          </a:xfrm>
          <a:prstGeom prst="roundRect">
            <a:avLst>
              <a:gd name="adj" fmla="val 25806"/>
            </a:avLst>
          </a:prstGeom>
          <a:solidFill>
            <a:srgbClr val="E0D8EB"/>
          </a:solidFill>
          <a:ln w="12383">
            <a:solidFill>
              <a:srgbClr val="666666"/>
            </a:solidFill>
          </a:ln>
        </p:spPr>
        <p:txBody>
          <a:bodyPr anchor="ctr">
            <a:noAutofit/>
          </a:bodyPr>
          <a:lstStyle/>
          <a:p>
            <a:pPr algn="ctr">
              <a:defRPr sz="1125">
                <a:solidFill>
                  <a:srgbClr val="000000"/>
                </a:solidFill>
                <a:latin typeface="Calibri"/>
                <a:ea typeface="Calibri"/>
                <a:cs typeface="Calibri"/>
              </a:defRPr>
            </a:pPr>
            <a:r>
              <a:rPr sz="1125">
                <a:solidFill>
                  <a:srgbClr val="000000"/>
                </a:solidFill>
                <a:latin typeface="Calibri"/>
                <a:ea typeface="Calibri"/>
                <a:cs typeface="Calibri"/>
              </a:rPr>
              <a:t>Independent evaluator: truth + trace</a:t>
            </a:r>
          </a:p>
        </p:txBody>
      </p:sp>
      <p:sp>
        <p:nvSpPr>
          <p:cNvPr id="55" name="Dataset sources">
            <a:extLst>
              <a:ext uri="{FF2B5EF4-FFF2-40B4-BE49-F238E27FC236}">
                <a16:creationId xmlns:a16="http://schemas.microsoft.com/office/drawing/2014/main" id="{1B91E1F3-7310-4243-A69C-B1C0AF30DF54}"/>
              </a:ext>
            </a:extLst>
          </p:cNvPr>
          <p:cNvSpPr>
            <a:spLocks noGrp="1"/>
          </p:cNvSpPr>
          <p:nvPr/>
        </p:nvSpPr>
        <p:spPr>
          <a:xfrm>
            <a:off x="1066800" y="1647825"/>
            <a:ext cx="1685925" cy="428625"/>
          </a:xfrm>
          <a:prstGeom prst="rect">
            <a:avLst/>
          </a:prstGeom>
          <a:solidFill>
            <a:srgbClr val="F4EBE4"/>
          </a:solidFill>
          <a:ln w="0">
            <a:noFill/>
          </a:ln>
        </p:spPr>
        <p:txBody>
          <a:bodyPr anchor="ctr">
            <a:noAutofit/>
          </a:bodyPr>
          <a:lstStyle/>
          <a:p>
            <a:pPr algn="ctr">
              <a:defRPr sz="1088">
                <a:solidFill>
                  <a:srgbClr val="000000"/>
                </a:solidFill>
                <a:latin typeface="Calibri"/>
                <a:ea typeface="Calibri"/>
                <a:cs typeface="Calibri"/>
              </a:defRPr>
            </a:pPr>
            <a:r>
              <a:rPr sz="1088">
                <a:solidFill>
                  <a:srgbClr val="000000"/>
                </a:solidFill>
                <a:latin typeface="Calibri"/>
                <a:ea typeface="Calibri"/>
                <a:cs typeface="Calibri"/>
              </a:rPr>
              <a:t>Simulation, e-CALLISTO</a:t>
            </a:r>
          </a:p>
          <a:p>
            <a:pPr algn="ctr">
              <a:defRPr sz="1088">
                <a:solidFill>
                  <a:srgbClr val="000000"/>
                </a:solidFill>
                <a:latin typeface="Calibri"/>
                <a:ea typeface="Calibri"/>
                <a:cs typeface="Calibri"/>
              </a:defRPr>
            </a:pPr>
            <a:r>
              <a:rPr sz="1088">
                <a:solidFill>
                  <a:srgbClr val="000000"/>
                </a:solidFill>
                <a:latin typeface="Calibri"/>
                <a:ea typeface="Calibri"/>
                <a:cs typeface="Calibri"/>
              </a:rPr>
              <a:t>TSRD via Hugging Face</a:t>
            </a:r>
          </a:p>
        </p:txBody>
      </p:sp>
      <p:sp>
        <p:nvSpPr>
          <p:cNvPr id="56" name="Processed artifacts">
            <a:extLst>
              <a:ext uri="{FF2B5EF4-FFF2-40B4-BE49-F238E27FC236}">
                <a16:creationId xmlns:a16="http://schemas.microsoft.com/office/drawing/2014/main" id="{170D8933-E0AA-4B74-AF90-D85546056B94}"/>
              </a:ext>
            </a:extLst>
          </p:cNvPr>
          <p:cNvSpPr>
            <a:spLocks noGrp="1"/>
          </p:cNvSpPr>
          <p:nvPr/>
        </p:nvSpPr>
        <p:spPr>
          <a:xfrm>
            <a:off x="1076325" y="3238500"/>
            <a:ext cx="1676400" cy="371475"/>
          </a:xfrm>
          <a:prstGeom prst="rect">
            <a:avLst/>
          </a:prstGeom>
          <a:solidFill>
            <a:srgbClr val="F4EBE4"/>
          </a:solidFill>
          <a:ln w="0">
            <a:noFill/>
          </a:ln>
        </p:spPr>
        <p:txBody>
          <a:bodyPr anchor="ctr">
            <a:noAutofit/>
          </a:bodyPr>
          <a:lstStyle/>
          <a:p>
            <a:pPr algn="ctr">
              <a:defRPr sz="1088">
                <a:solidFill>
                  <a:srgbClr val="000000"/>
                </a:solidFill>
                <a:latin typeface="Calibri"/>
                <a:ea typeface="Calibri"/>
                <a:cs typeface="Calibri"/>
              </a:defRPr>
            </a:pPr>
            <a:r>
              <a:rPr sz="1088">
                <a:solidFill>
                  <a:srgbClr val="000000"/>
                </a:solidFill>
                <a:latin typeface="Calibri"/>
                <a:ea typeface="Calibri"/>
                <a:cs typeface="Calibri"/>
              </a:rPr>
              <a:t>NPZ + Parquet</a:t>
            </a:r>
          </a:p>
          <a:p>
            <a:pPr algn="ctr">
              <a:defRPr sz="1088">
                <a:solidFill>
                  <a:srgbClr val="000000"/>
                </a:solidFill>
                <a:latin typeface="Calibri"/>
                <a:ea typeface="Calibri"/>
                <a:cs typeface="Calibri"/>
              </a:defRPr>
            </a:pPr>
            <a:r>
              <a:rPr sz="1088">
                <a:solidFill>
                  <a:srgbClr val="000000"/>
                </a:solidFill>
                <a:latin typeface="Calibri"/>
                <a:ea typeface="Calibri"/>
                <a:cs typeface="Calibri"/>
              </a:rPr>
              <a:t>Source and artifact hashes</a:t>
            </a:r>
          </a:p>
        </p:txBody>
      </p:sp>
    </p:spTree>
    <p:extLst>
      <p:ext uri="{BB962C8B-B14F-4D97-AF65-F5344CB8AC3E}">
        <p14:creationId xmlns:p14="http://schemas.microsoft.com/office/powerpoint/2010/main" val="2660213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09728"/>
            <a:ext cx="868680" cy="384048"/>
          </a:xfrm>
          <a:prstGeom prst="ellipse">
            <a:avLst/>
          </a:prstGeom>
          <a:solidFill>
            <a:srgbClr val="F7941D"/>
          </a:solidFill>
          <a:ln w="19050">
            <a:solidFill>
              <a:srgbClr val="7F5FA8"/>
            </a:solidFill>
            <a:prstDash val="solid"/>
          </a:ln>
        </p:spPr>
        <p:txBody>
          <a:bodyPr/>
          <a:lstStyle/>
          <a:p>
            <a:endParaRPr lang="en-US"/>
          </a:p>
        </p:txBody>
      </p:sp>
      <p:sp>
        <p:nvSpPr>
          <p:cNvPr id="3" name="Text 1"/>
          <p:cNvSpPr txBox="1"/>
          <p:nvPr/>
        </p:nvSpPr>
        <p:spPr>
          <a:xfrm>
            <a:off x="137160" y="109728"/>
            <a:ext cx="868680" cy="384048"/>
          </a:xfrm>
          <a:prstGeom prst="rect">
            <a:avLst/>
          </a:prstGeom>
          <a:noFill/>
          <a:ln/>
        </p:spPr>
        <p:txBody>
          <a:bodyPr wrap="square" lIns="0" tIns="0" rIns="0" bIns="0" rtlCol="0" anchor="ctr"/>
          <a:lstStyle/>
          <a:p>
            <a:pPr marL="0" indent="0" algn="ctr">
              <a:buNone/>
            </a:pPr>
            <a:r>
              <a:rPr lang="en-US" sz="1100" dirty="0" err="1">
                <a:solidFill>
                  <a:srgbClr val="000000"/>
                </a:solidFill>
                <a:latin typeface="Calibri" pitchFamily="34" charset="0"/>
                <a:ea typeface="Calibri" pitchFamily="34" charset="-122"/>
                <a:cs typeface="Calibri" pitchFamily="34" charset="-120"/>
              </a:rPr>
              <a:t>Alphax</a:t>
            </a:r>
            <a:endParaRPr lang="en-US" sz="1100" dirty="0"/>
          </a:p>
        </p:txBody>
      </p:sp>
      <p:sp>
        <p:nvSpPr>
          <p:cNvPr id="4" name="Text 2"/>
          <p:cNvSpPr txBox="1"/>
          <p:nvPr/>
        </p:nvSpPr>
        <p:spPr>
          <a:xfrm>
            <a:off x="1097280" y="73152"/>
            <a:ext cx="6583680" cy="502920"/>
          </a:xfrm>
          <a:prstGeom prst="rect">
            <a:avLst/>
          </a:prstGeom>
          <a:noFill/>
          <a:ln/>
        </p:spPr>
        <p:txBody>
          <a:bodyPr wrap="square" lIns="0" tIns="0" rIns="0" bIns="0" rtlCol="0" anchor="ctr"/>
          <a:lstStyle/>
          <a:p>
            <a:pPr marL="0" indent="0" algn="ctr">
              <a:buNone/>
            </a:pPr>
            <a:r>
              <a:rPr lang="en-US" sz="2400" b="1" u="sng" dirty="0">
                <a:solidFill>
                  <a:srgbClr val="000000"/>
                </a:solidFill>
                <a:latin typeface="Cambria" pitchFamily="34" charset="0"/>
                <a:ea typeface="Cambria" pitchFamily="34" charset="-122"/>
                <a:cs typeface="Cambria" pitchFamily="34" charset="-120"/>
              </a:rPr>
              <a:t>FEASIBILITY AND VIABILITY</a:t>
            </a:r>
            <a:endParaRPr lang="en-US" sz="2400" dirty="0"/>
          </a:p>
        </p:txBody>
      </p:sp>
      <p:sp>
        <p:nvSpPr>
          <p:cNvPr id="5" name="Text 3"/>
          <p:cNvSpPr txBox="1"/>
          <p:nvPr/>
        </p:nvSpPr>
        <p:spPr>
          <a:xfrm>
            <a:off x="7772400" y="45720"/>
            <a:ext cx="1234440" cy="548640"/>
          </a:xfrm>
          <a:prstGeom prst="rect">
            <a:avLst/>
          </a:prstGeom>
          <a:noFill/>
          <a:ln/>
        </p:spPr>
        <p:txBody>
          <a:bodyPr wrap="square" lIns="0" tIns="0" rIns="0" bIns="0" rtlCol="0" anchor="ctr"/>
          <a:lstStyle/>
          <a:p>
            <a:pPr marL="0" indent="0" algn="r">
              <a:buNone/>
            </a:pPr>
            <a:r>
              <a:rPr lang="en-US" sz="800" b="1" dirty="0">
                <a:solidFill>
                  <a:srgbClr val="3E4A56"/>
                </a:solidFill>
                <a:latin typeface="Calibri" pitchFamily="34" charset="0"/>
                <a:ea typeface="Calibri" pitchFamily="34" charset="-122"/>
                <a:cs typeface="Calibri" pitchFamily="34" charset="-120"/>
              </a:rPr>
              <a:t>SMART INDIA</a:t>
            </a:r>
            <a:endParaRPr lang="en-US" sz="800" dirty="0"/>
          </a:p>
          <a:p>
            <a:pPr marL="0" indent="0" algn="r">
              <a:buNone/>
            </a:pPr>
            <a:r>
              <a:rPr lang="en-US" sz="800" b="1" dirty="0">
                <a:solidFill>
                  <a:srgbClr val="3E4A56"/>
                </a:solidFill>
                <a:latin typeface="Calibri" pitchFamily="34" charset="0"/>
                <a:ea typeface="Calibri" pitchFamily="34" charset="-122"/>
                <a:cs typeface="Calibri" pitchFamily="34" charset="-120"/>
              </a:rPr>
              <a:t>HACKATHON</a:t>
            </a:r>
            <a:endParaRPr lang="en-US" sz="800" dirty="0"/>
          </a:p>
          <a:p>
            <a:pPr marL="0" indent="0" algn="r">
              <a:buNone/>
            </a:pPr>
            <a:r>
              <a:rPr lang="en-US" sz="800" b="1" dirty="0">
                <a:solidFill>
                  <a:srgbClr val="3E4A56"/>
                </a:solidFill>
                <a:latin typeface="Calibri" pitchFamily="34" charset="0"/>
                <a:ea typeface="Calibri" pitchFamily="34" charset="-122"/>
                <a:cs typeface="Calibri" pitchFamily="34" charset="-120"/>
              </a:rPr>
              <a:t>2026</a:t>
            </a:r>
            <a:endParaRPr lang="en-US" sz="800" dirty="0"/>
          </a:p>
        </p:txBody>
      </p:sp>
      <p:sp>
        <p:nvSpPr>
          <p:cNvPr id="6" name="Shape 4"/>
          <p:cNvSpPr/>
          <p:nvPr/>
        </p:nvSpPr>
        <p:spPr>
          <a:xfrm>
            <a:off x="0" y="4869180"/>
            <a:ext cx="9144000" cy="274320"/>
          </a:xfrm>
          <a:prstGeom prst="rect">
            <a:avLst/>
          </a:prstGeom>
          <a:solidFill>
            <a:srgbClr val="0071C1"/>
          </a:solidFill>
          <a:ln w="12700">
            <a:solidFill>
              <a:srgbClr val="0071C1"/>
            </a:solidFill>
            <a:prstDash val="solid"/>
          </a:ln>
        </p:spPr>
        <p:txBody>
          <a:bodyPr/>
          <a:lstStyle/>
          <a:p>
            <a:endParaRPr lang="en-US"/>
          </a:p>
        </p:txBody>
      </p:sp>
      <p:sp>
        <p:nvSpPr>
          <p:cNvPr id="7" name="Text 5"/>
          <p:cNvSpPr txBox="1"/>
          <p:nvPr/>
        </p:nvSpPr>
        <p:spPr>
          <a:xfrm>
            <a:off x="0" y="4869180"/>
            <a:ext cx="91440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@SIH Idea submission- Template</a:t>
            </a:r>
            <a:endParaRPr lang="en-US" sz="800" dirty="0"/>
          </a:p>
        </p:txBody>
      </p:sp>
      <p:sp>
        <p:nvSpPr>
          <p:cNvPr id="8" name="Text 6"/>
          <p:cNvSpPr txBox="1"/>
          <p:nvPr/>
        </p:nvSpPr>
        <p:spPr>
          <a:xfrm>
            <a:off x="8412480" y="4869180"/>
            <a:ext cx="548640" cy="274320"/>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9" name="Text 7"/>
          <p:cNvSpPr txBox="1"/>
          <p:nvPr/>
        </p:nvSpPr>
        <p:spPr>
          <a:xfrm>
            <a:off x="182880" y="658368"/>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Technical Feasibility</a:t>
            </a:r>
            <a:endParaRPr lang="en-US" sz="1200" dirty="0"/>
          </a:p>
        </p:txBody>
      </p:sp>
      <p:sp>
        <p:nvSpPr>
          <p:cNvPr id="10" name="Text 8"/>
          <p:cNvSpPr txBox="1"/>
          <p:nvPr/>
        </p:nvSpPr>
        <p:spPr>
          <a:xfrm>
            <a:off x="182880" y="2697480"/>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Operational Viability</a:t>
            </a:r>
            <a:endParaRPr lang="en-US" sz="1200" dirty="0"/>
          </a:p>
        </p:txBody>
      </p:sp>
      <p:sp>
        <p:nvSpPr>
          <p:cNvPr id="11" name="Text 9"/>
          <p:cNvSpPr txBox="1"/>
          <p:nvPr/>
        </p:nvSpPr>
        <p:spPr>
          <a:xfrm>
            <a:off x="6217920" y="658368"/>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Maintenance &amp; Safety Feasibility</a:t>
            </a:r>
            <a:endParaRPr lang="en-US" sz="1200" dirty="0"/>
          </a:p>
        </p:txBody>
      </p:sp>
      <p:sp>
        <p:nvSpPr>
          <p:cNvPr id="12" name="Text 10"/>
          <p:cNvSpPr txBox="1"/>
          <p:nvPr/>
        </p:nvSpPr>
        <p:spPr>
          <a:xfrm>
            <a:off x="6217920" y="2697480"/>
            <a:ext cx="2743200" cy="246888"/>
          </a:xfrm>
          <a:prstGeom prst="rect">
            <a:avLst/>
          </a:prstGeom>
          <a:noFill/>
          <a:ln/>
        </p:spPr>
        <p:txBody>
          <a:bodyPr wrap="square" lIns="0" tIns="0" rIns="0" bIns="0" rtlCol="0" anchor="ctr"/>
          <a:lstStyle/>
          <a:p>
            <a:pPr marL="0" indent="0">
              <a:buNone/>
            </a:pPr>
            <a:r>
              <a:rPr lang="en-US" sz="1200" b="1" u="sng" dirty="0">
                <a:solidFill>
                  <a:srgbClr val="000000"/>
                </a:solidFill>
                <a:latin typeface="Cambria" pitchFamily="34" charset="0"/>
                <a:ea typeface="Cambria" pitchFamily="34" charset="-122"/>
                <a:cs typeface="Cambria" pitchFamily="34" charset="-120"/>
              </a:rPr>
              <a:t>Research &amp; Future Viability</a:t>
            </a:r>
            <a:endParaRPr lang="en-US" sz="1200" dirty="0"/>
          </a:p>
        </p:txBody>
      </p:sp>
      <p:sp>
        <p:nvSpPr>
          <p:cNvPr id="13" name="Shape 11"/>
          <p:cNvSpPr/>
          <p:nvPr/>
        </p:nvSpPr>
        <p:spPr>
          <a:xfrm>
            <a:off x="182880" y="914400"/>
            <a:ext cx="2743200" cy="1737360"/>
          </a:xfrm>
          <a:prstGeom prst="roundRect">
            <a:avLst>
              <a:gd name="adj" fmla="val 4211"/>
            </a:avLst>
          </a:prstGeom>
          <a:solidFill>
            <a:srgbClr val="FFE9A0"/>
          </a:solidFill>
          <a:ln w="15875">
            <a:solidFill>
              <a:srgbClr val="000000"/>
            </a:solidFill>
            <a:prstDash val="solid"/>
          </a:ln>
        </p:spPr>
        <p:txBody>
          <a:bodyPr/>
          <a:lstStyle/>
          <a:p>
            <a:endParaRPr lang="en-US"/>
          </a:p>
        </p:txBody>
      </p:sp>
      <p:sp>
        <p:nvSpPr>
          <p:cNvPr id="14" name="Text 12"/>
          <p:cNvSpPr txBox="1"/>
          <p:nvPr/>
        </p:nvSpPr>
        <p:spPr>
          <a:xfrm>
            <a:off x="274320" y="960120"/>
            <a:ext cx="2560320" cy="1645920"/>
          </a:xfrm>
          <a:prstGeom prst="rect">
            <a:avLst/>
          </a:prstGeom>
          <a:noFill/>
          <a:ln/>
        </p:spPr>
        <p:txBody>
          <a:bodyPr wrap="square" lIns="0" tIns="0" rIns="0" bIns="0" anchor="ctr"/>
          <a:lstStyle/>
          <a:p>
            <a:pPr marL="342900" indent="-342900">
              <a:spcAft>
                <a:spcPts val="300"/>
              </a:spcAft>
              <a:buSzPct val="100000"/>
              <a:buChar char="•"/>
            </a:pPr>
            <a:r>
              <a:rPr sz="1000">
                <a:solidFill>
                  <a:srgbClr val="000000"/>
                </a:solidFill>
                <a:latin typeface="Calibri"/>
                <a:ea typeface="Calibri"/>
                <a:cs typeface="Calibri"/>
              </a:rPr>
              <a:t>Working prototype: simulator, receiver digital twin, MAG-NTS and baselines</a:t>
            </a:r>
            <a:endParaRPr sz="1000"/>
          </a:p>
          <a:p>
            <a:pPr marL="342900" indent="-342900">
              <a:spcAft>
                <a:spcPts val="300"/>
              </a:spcAft>
              <a:buSzPct val="100000"/>
              <a:buChar char="•"/>
            </a:pPr>
            <a:r>
              <a:rPr sz="1000">
                <a:solidFill>
                  <a:srgbClr val="000000"/>
                </a:solidFill>
                <a:latin typeface="Calibri"/>
                <a:ea typeface="Calibri"/>
                <a:cs typeface="Calibri"/>
              </a:rPr>
              <a:t>Interpretable maths (Beta beliefs, information gain, CUSUM), no hidden neural network</a:t>
            </a:r>
            <a:endParaRPr sz="1000"/>
          </a:p>
          <a:p>
            <a:pPr marL="342900" indent="-342900">
              <a:spcAft>
                <a:spcPts val="300"/>
              </a:spcAft>
              <a:buSzPct val="100000"/>
              <a:buChar char="•"/>
            </a:pPr>
            <a:r>
              <a:rPr sz="1000">
                <a:solidFill>
                  <a:srgbClr val="000000"/>
                </a:solidFill>
                <a:latin typeface="Calibri"/>
                <a:ea typeface="Calibri"/>
                <a:cs typeface="Calibri"/>
              </a:rPr>
              <a:t>Local launch and Azure hosted demo</a:t>
            </a:r>
            <a:endParaRPr sz="1000"/>
          </a:p>
          <a:p>
            <a:pPr marL="342900" indent="-342900">
              <a:spcAft>
                <a:spcPts val="300"/>
              </a:spcAft>
              <a:buSzPct val="100000"/>
              <a:buChar char="•"/>
            </a:pPr>
            <a:r>
              <a:rPr sz="1000">
                <a:solidFill>
                  <a:srgbClr val="000000"/>
                </a:solidFill>
                <a:latin typeface="Calibri"/>
                <a:ea typeface="Calibri"/>
                <a:cs typeface="Calibri"/>
              </a:rPr>
              <a:t>Built on established open-source tools</a:t>
            </a:r>
            <a:endParaRPr sz="1000"/>
          </a:p>
        </p:txBody>
      </p:sp>
      <p:sp>
        <p:nvSpPr>
          <p:cNvPr id="15" name="Shape 13"/>
          <p:cNvSpPr/>
          <p:nvPr/>
        </p:nvSpPr>
        <p:spPr>
          <a:xfrm>
            <a:off x="182880" y="2953512"/>
            <a:ext cx="2743200" cy="1389888"/>
          </a:xfrm>
          <a:prstGeom prst="roundRect">
            <a:avLst>
              <a:gd name="adj" fmla="val 5263"/>
            </a:avLst>
          </a:prstGeom>
          <a:solidFill>
            <a:srgbClr val="D0D8E8"/>
          </a:solidFill>
          <a:ln w="15875">
            <a:solidFill>
              <a:srgbClr val="000000"/>
            </a:solidFill>
            <a:prstDash val="solid"/>
          </a:ln>
        </p:spPr>
        <p:txBody>
          <a:bodyPr/>
          <a:lstStyle/>
          <a:p>
            <a:endParaRPr lang="en-US"/>
          </a:p>
        </p:txBody>
      </p:sp>
      <p:sp>
        <p:nvSpPr>
          <p:cNvPr id="16" name="Text 14"/>
          <p:cNvSpPr txBox="1"/>
          <p:nvPr/>
        </p:nvSpPr>
        <p:spPr>
          <a:xfrm>
            <a:off x="274320" y="2999232"/>
            <a:ext cx="2560320" cy="1298448"/>
          </a:xfrm>
          <a:prstGeom prst="rect">
            <a:avLst/>
          </a:prstGeom>
          <a:noFill/>
          <a:ln/>
        </p:spPr>
        <p:txBody>
          <a:bodyPr wrap="square" lIns="0" tIns="0" rIns="0" bIns="0" anchor="ctr"/>
          <a:lstStyle/>
          <a:p>
            <a:pPr marL="342900" indent="-342900">
              <a:spcAft>
                <a:spcPts val="300"/>
              </a:spcAft>
              <a:buSzPct val="100000"/>
              <a:buChar char="•"/>
            </a:pPr>
            <a:r>
              <a:rPr sz="1000">
                <a:solidFill>
                  <a:srgbClr val="000000"/>
                </a:solidFill>
                <a:latin typeface="Calibri"/>
                <a:ea typeface="Calibri"/>
                <a:cs typeface="Calibri"/>
              </a:rPr>
              <a:t>Dashboard: Command Center, Live Duel, Benchmark Lab</a:t>
            </a:r>
            <a:endParaRPr sz="1000"/>
          </a:p>
          <a:p>
            <a:pPr marL="342900" indent="-342900">
              <a:spcAft>
                <a:spcPts val="300"/>
              </a:spcAft>
              <a:buSzPct val="100000"/>
              <a:buChar char="•"/>
            </a:pPr>
            <a:r>
              <a:rPr sz="1000">
                <a:solidFill>
                  <a:srgbClr val="000000"/>
                </a:solidFill>
                <a:latin typeface="Calibri"/>
                <a:ea typeface="Calibri"/>
                <a:cs typeface="Calibri"/>
              </a:rPr>
              <a:t>Local replay works offline after setup</a:t>
            </a:r>
            <a:endParaRPr sz="1000"/>
          </a:p>
          <a:p>
            <a:pPr marL="342900" indent="-342900">
              <a:spcAft>
                <a:spcPts val="300"/>
              </a:spcAft>
              <a:buSzPct val="100000"/>
              <a:buChar char="•"/>
            </a:pPr>
            <a:r>
              <a:rPr sz="1000">
                <a:solidFill>
                  <a:srgbClr val="000000"/>
                </a:solidFill>
                <a:latin typeface="Calibri"/>
                <a:ea typeface="Calibri"/>
                <a:cs typeface="Calibri"/>
              </a:rPr>
              <a:t>CSV/JSON exports for audit</a:t>
            </a:r>
            <a:endParaRPr sz="1000"/>
          </a:p>
          <a:p>
            <a:pPr marL="342900" indent="-342900">
              <a:spcAft>
                <a:spcPts val="300"/>
              </a:spcAft>
              <a:buSzPct val="100000"/>
              <a:buChar char="•"/>
            </a:pPr>
            <a:r>
              <a:rPr sz="1000">
                <a:solidFill>
                  <a:srgbClr val="000000"/>
                </a:solidFill>
                <a:latin typeface="Calibri"/>
                <a:ea typeface="Calibri"/>
                <a:cs typeface="Calibri"/>
              </a:rPr>
              <a:t>For EW researchers, SDR developers, evaluators</a:t>
            </a:r>
            <a:endParaRPr sz="1000"/>
          </a:p>
        </p:txBody>
      </p:sp>
      <p:sp>
        <p:nvSpPr>
          <p:cNvPr id="17" name="Shape 15"/>
          <p:cNvSpPr/>
          <p:nvPr/>
        </p:nvSpPr>
        <p:spPr>
          <a:xfrm>
            <a:off x="6217920" y="914400"/>
            <a:ext cx="2743200" cy="1737360"/>
          </a:xfrm>
          <a:prstGeom prst="roundRect">
            <a:avLst>
              <a:gd name="adj" fmla="val 4211"/>
            </a:avLst>
          </a:prstGeom>
          <a:solidFill>
            <a:srgbClr val="DDE5D0"/>
          </a:solidFill>
          <a:ln w="15875">
            <a:solidFill>
              <a:srgbClr val="000000"/>
            </a:solidFill>
            <a:prstDash val="solid"/>
          </a:ln>
        </p:spPr>
        <p:txBody>
          <a:bodyPr/>
          <a:lstStyle/>
          <a:p>
            <a:endParaRPr lang="en-US"/>
          </a:p>
        </p:txBody>
      </p:sp>
      <p:sp>
        <p:nvSpPr>
          <p:cNvPr id="18" name="Text 16"/>
          <p:cNvSpPr txBox="1"/>
          <p:nvPr/>
        </p:nvSpPr>
        <p:spPr>
          <a:xfrm>
            <a:off x="6309360" y="960120"/>
            <a:ext cx="2560320" cy="1645920"/>
          </a:xfrm>
          <a:prstGeom prst="rect">
            <a:avLst/>
          </a:prstGeom>
          <a:noFill/>
          <a:ln/>
        </p:spPr>
        <p:txBody>
          <a:bodyPr wrap="square" lIns="0" tIns="0" rIns="0" bIns="0" anchor="ctr"/>
          <a:lstStyle/>
          <a:p>
            <a:pPr marL="342900" indent="-342900">
              <a:spcAft>
                <a:spcPts val="300"/>
              </a:spcAft>
              <a:buSzPct val="100000"/>
              <a:buChar char="•"/>
            </a:pPr>
            <a:r>
              <a:rPr sz="1000">
                <a:solidFill>
                  <a:srgbClr val="000000"/>
                </a:solidFill>
                <a:latin typeface="Calibri"/>
                <a:ea typeface="Calibri"/>
                <a:cs typeface="Calibri"/>
              </a:rPr>
              <a:t>Observation-only research workbench</a:t>
            </a:r>
            <a:endParaRPr sz="1000"/>
          </a:p>
          <a:p>
            <a:pPr marL="342900" indent="-342900">
              <a:spcAft>
                <a:spcPts val="300"/>
              </a:spcAft>
              <a:buSzPct val="100000"/>
              <a:buChar char="•"/>
            </a:pPr>
            <a:r>
              <a:rPr sz="1000">
                <a:solidFill>
                  <a:srgbClr val="000000"/>
                </a:solidFill>
                <a:latin typeface="Calibri"/>
                <a:ea typeface="Calibri"/>
                <a:cs typeface="Calibri"/>
              </a:rPr>
              <a:t>Regression tests guard policy inputs</a:t>
            </a:r>
            <a:endParaRPr sz="1000"/>
          </a:p>
          <a:p>
            <a:pPr marL="342900" indent="-342900">
              <a:spcAft>
                <a:spcPts val="300"/>
              </a:spcAft>
              <a:buSzPct val="100000"/>
              <a:buChar char="•"/>
            </a:pPr>
            <a:r>
              <a:rPr sz="1000">
                <a:solidFill>
                  <a:srgbClr val="000000"/>
                </a:solidFill>
                <a:latin typeface="Calibri"/>
                <a:ea typeface="Calibri"/>
                <a:cs typeface="Calibri"/>
              </a:rPr>
              <a:t>Checksummed traces and dataset provenance</a:t>
            </a:r>
            <a:endParaRPr sz="1000"/>
          </a:p>
          <a:p>
            <a:pPr marL="342900" indent="-342900">
              <a:spcAft>
                <a:spcPts val="300"/>
              </a:spcAft>
              <a:buSzPct val="100000"/>
              <a:buChar char="•"/>
            </a:pPr>
            <a:r>
              <a:rPr sz="1000">
                <a:solidFill>
                  <a:srgbClr val="000000"/>
                </a:solidFill>
                <a:latin typeface="Calibri"/>
                <a:ea typeface="Calibri"/>
                <a:cs typeface="Calibri"/>
              </a:rPr>
              <a:t>Limits stated: digital-twin approximation, not field validated</a:t>
            </a:r>
            <a:endParaRPr sz="1000"/>
          </a:p>
          <a:p>
            <a:pPr marL="342900" indent="-342900">
              <a:spcAft>
                <a:spcPts val="300"/>
              </a:spcAft>
              <a:buSzPct val="100000"/>
              <a:buChar char="•"/>
            </a:pPr>
            <a:r>
              <a:rPr sz="1000">
                <a:solidFill>
                  <a:srgbClr val="000000"/>
                </a:solidFill>
                <a:latin typeface="Calibri"/>
                <a:ea typeface="Calibri"/>
                <a:cs typeface="Calibri"/>
              </a:rPr>
              <a:t>Modular policies, ablations and datasets</a:t>
            </a:r>
            <a:endParaRPr sz="1000"/>
          </a:p>
        </p:txBody>
      </p:sp>
      <p:sp>
        <p:nvSpPr>
          <p:cNvPr id="19" name="Shape 17"/>
          <p:cNvSpPr/>
          <p:nvPr/>
        </p:nvSpPr>
        <p:spPr>
          <a:xfrm>
            <a:off x="6217920" y="2953512"/>
            <a:ext cx="2743200" cy="1389888"/>
          </a:xfrm>
          <a:prstGeom prst="roundRect">
            <a:avLst>
              <a:gd name="adj" fmla="val 5263"/>
            </a:avLst>
          </a:prstGeom>
          <a:solidFill>
            <a:srgbClr val="FFC7C7"/>
          </a:solidFill>
          <a:ln w="15875">
            <a:solidFill>
              <a:srgbClr val="000000"/>
            </a:solidFill>
            <a:prstDash val="solid"/>
          </a:ln>
        </p:spPr>
        <p:txBody>
          <a:bodyPr/>
          <a:lstStyle/>
          <a:p>
            <a:endParaRPr lang="en-US"/>
          </a:p>
        </p:txBody>
      </p:sp>
      <p:sp>
        <p:nvSpPr>
          <p:cNvPr id="20" name="Text 18"/>
          <p:cNvSpPr txBox="1"/>
          <p:nvPr/>
        </p:nvSpPr>
        <p:spPr>
          <a:xfrm>
            <a:off x="6309360" y="2999232"/>
            <a:ext cx="2560320" cy="1298448"/>
          </a:xfrm>
          <a:prstGeom prst="rect">
            <a:avLst/>
          </a:prstGeom>
          <a:noFill/>
          <a:ln/>
        </p:spPr>
        <p:txBody>
          <a:bodyPr wrap="square" lIns="0" tIns="0" rIns="0" bIns="0" anchor="ctr"/>
          <a:lstStyle/>
          <a:p>
            <a:pPr marL="342900" indent="-342900">
              <a:spcAft>
                <a:spcPts val="300"/>
              </a:spcAft>
              <a:buSzPct val="100000"/>
              <a:buChar char="•"/>
            </a:pPr>
            <a:r>
              <a:rPr sz="1000">
                <a:solidFill>
                  <a:srgbClr val="000000"/>
                </a:solidFill>
                <a:latin typeface="Calibri"/>
                <a:ea typeface="Calibri"/>
                <a:cs typeface="Calibri"/>
              </a:rPr>
              <a:t>Expanded TSRD and measured-data evaluation</a:t>
            </a:r>
            <a:endParaRPr sz="1000"/>
          </a:p>
          <a:p>
            <a:pPr marL="342900" indent="-342900">
              <a:spcAft>
                <a:spcPts val="300"/>
              </a:spcAft>
              <a:buSzPct val="100000"/>
              <a:buChar char="•"/>
            </a:pPr>
            <a:r>
              <a:rPr sz="1000">
                <a:solidFill>
                  <a:srgbClr val="000000"/>
                </a:solidFill>
                <a:latin typeface="Calibri"/>
                <a:ea typeface="Calibri"/>
                <a:cs typeface="Calibri"/>
              </a:rPr>
              <a:t>Calibrated SDR / hardware-in-the-loop</a:t>
            </a:r>
            <a:endParaRPr sz="1000"/>
          </a:p>
          <a:p>
            <a:pPr marL="342900" indent="-342900">
              <a:spcAft>
                <a:spcPts val="300"/>
              </a:spcAft>
              <a:buSzPct val="100000"/>
              <a:buChar char="•"/>
            </a:pPr>
            <a:r>
              <a:rPr sz="1000">
                <a:solidFill>
                  <a:srgbClr val="000000"/>
                </a:solidFill>
                <a:latin typeface="Calibri"/>
                <a:ea typeface="Calibri"/>
                <a:cs typeface="Calibri"/>
              </a:rPr>
              <a:t>Multi-receiver cooperation, richer policies</a:t>
            </a:r>
            <a:endParaRPr sz="1000"/>
          </a:p>
          <a:p>
            <a:pPr marL="342900" indent="-342900">
              <a:spcAft>
                <a:spcPts val="300"/>
              </a:spcAft>
              <a:buSzPct val="100000"/>
              <a:buChar char="•"/>
            </a:pPr>
            <a:r>
              <a:rPr sz="1000">
                <a:solidFill>
                  <a:srgbClr val="000000"/>
                </a:solidFill>
                <a:latin typeface="Calibri"/>
                <a:ea typeface="Calibri"/>
                <a:cs typeface="Calibri"/>
              </a:rPr>
              <a:t>Broader measured data, edge evaluation</a:t>
            </a:r>
            <a:endParaRPr sz="1000"/>
          </a:p>
        </p:txBody>
      </p:sp>
      <p:sp>
        <p:nvSpPr>
          <p:cNvPr id="21" name="Text 19"/>
          <p:cNvSpPr txBox="1"/>
          <p:nvPr/>
        </p:nvSpPr>
        <p:spPr>
          <a:xfrm>
            <a:off x="3063240" y="658368"/>
            <a:ext cx="3017520" cy="246888"/>
          </a:xfrm>
          <a:prstGeom prst="rect">
            <a:avLst/>
          </a:prstGeom>
          <a:noFill/>
          <a:ln/>
        </p:spPr>
        <p:txBody>
          <a:bodyPr wrap="square" lIns="0" tIns="0" rIns="0" bIns="0" rtlCol="0" anchor="ctr"/>
          <a:lstStyle/>
          <a:p>
            <a:pPr marL="0" indent="0" algn="ctr">
              <a:buNone/>
            </a:pPr>
            <a:r>
              <a:rPr lang="en-US" sz="1200" b="1" dirty="0">
                <a:solidFill>
                  <a:srgbClr val="000000"/>
                </a:solidFill>
                <a:latin typeface="Cambria" pitchFamily="34" charset="0"/>
                <a:ea typeface="Cambria" pitchFamily="34" charset="-122"/>
                <a:cs typeface="Cambria" pitchFamily="34" charset="-120"/>
              </a:rPr>
              <a:t>Economic Feasibility</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063240" y="914400"/>
          <a:ext cx="3017520" cy="1706880"/>
        </p:xfrm>
        <a:graphic>
          <a:graphicData uri="http://schemas.openxmlformats.org/drawingml/2006/table">
            <a:tbl>
              <a:tblPr/>
              <a:tblGrid>
                <a:gridCol w="777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274320">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Parameter</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DCE6F1"/>
                    </a:solidFill>
                  </a:tcPr>
                </a:tc>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Current Prototype</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DCE6F1"/>
                    </a:solidFill>
                  </a:tcPr>
                </a:tc>
                <a:tc>
                  <a:txBody>
                    <a:bodyPr/>
                    <a:lstStyle/>
                    <a:p>
                      <a:pPr marL="0" indent="0">
                        <a:buNone/>
                      </a:pPr>
                      <a:r>
                        <a:rPr lang="en-US" sz="800" b="1" dirty="0">
                          <a:solidFill>
                            <a:srgbClr val="000000"/>
                          </a:solidFill>
                          <a:latin typeface="Calibri" pitchFamily="34" charset="0"/>
                          <a:ea typeface="Calibri" pitchFamily="34" charset="-122"/>
                          <a:cs typeface="Calibri" pitchFamily="34" charset="-120"/>
                        </a:rPr>
                        <a:t>Future Scope</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DCE6F1"/>
                    </a:solidFill>
                  </a:tcPr>
                </a:tc>
                <a:extLst>
                  <a:ext uri="{0D108BD9-81ED-4DB2-BD59-A6C34878D82A}">
                    <a16:rowId xmlns:a16="http://schemas.microsoft.com/office/drawing/2014/main" val="10000"/>
                  </a:ext>
                </a:extLst>
              </a:tr>
              <a:tr h="274320">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Data</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sz="800">
                          <a:solidFill>
                            <a:srgbClr val="000000"/>
                          </a:solidFill>
                          <a:latin typeface="Calibri"/>
                          <a:ea typeface="Calibri"/>
                          <a:cs typeface="Calibri"/>
                        </a:rPr>
                        <a:t>Simulation, TSRD,</a:t>
                      </a:r>
                      <a:endParaRPr sz="800">
                        <a:latin typeface="Calibri"/>
                        <a:ea typeface="Calibri"/>
                        <a:cs typeface="Calibri"/>
                      </a:endParaRPr>
                    </a:p>
                    <a:p>
                      <a:pPr marL="0" indent="0">
                        <a:buNone/>
                      </a:pPr>
                      <a:r>
                        <a:rPr sz="800">
                          <a:solidFill>
                            <a:srgbClr val="000000"/>
                          </a:solidFill>
                          <a:latin typeface="Calibri"/>
                          <a:ea typeface="Calibri"/>
                          <a:cs typeface="Calibri"/>
                        </a:rPr>
                        <a:t>e-CALLISTO</a:t>
                      </a:r>
                      <a:endParaRPr sz="80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sz="800">
                          <a:solidFill>
                            <a:srgbClr val="000000"/>
                          </a:solidFill>
                          <a:latin typeface="Calibri"/>
                          <a:ea typeface="Calibri"/>
                          <a:cs typeface="Calibri"/>
                        </a:rPr>
                        <a:t>Calibrated SDR</a:t>
                      </a:r>
                      <a:endParaRPr sz="80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Software</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Open-source Python</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Low-cost scaling</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Backend</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sz="800">
                          <a:solidFill>
                            <a:srgbClr val="000000"/>
                          </a:solidFill>
                          <a:latin typeface="Calibri"/>
                          <a:ea typeface="Calibri"/>
                          <a:cs typeface="Calibri"/>
                        </a:rPr>
                        <a:t>FastAPI, Azure</a:t>
                      </a:r>
                      <a:endParaRPr sz="80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sz="800">
                          <a:solidFill>
                            <a:srgbClr val="000000"/>
                          </a:solidFill>
                          <a:latin typeface="Calibri"/>
                          <a:ea typeface="Calibri"/>
                          <a:cs typeface="Calibri"/>
                        </a:rPr>
                        <a:t>Multi-user service</a:t>
                      </a:r>
                      <a:endParaRPr sz="80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Frontend</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React + Three.js</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Operator console</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Storage</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SQLite + Parquet</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tc>
                  <a:txBody>
                    <a:bodyPr/>
                    <a:lstStyle/>
                    <a:p>
                      <a:pPr marL="0" indent="0">
                        <a:buNone/>
                      </a:pPr>
                      <a:r>
                        <a:rPr lang="en-US" sz="800" dirty="0">
                          <a:solidFill>
                            <a:srgbClr val="000000"/>
                          </a:solidFill>
                          <a:latin typeface="Calibri" pitchFamily="34" charset="0"/>
                          <a:ea typeface="Calibri" pitchFamily="34" charset="-122"/>
                          <a:cs typeface="Calibri" pitchFamily="34" charset="-120"/>
                        </a:rPr>
                        <a:t>Dedicated database</a:t>
                      </a:r>
                      <a:endParaRPr lang="en-US" sz="8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 name="Shape 20"/>
          <p:cNvSpPr/>
          <p:nvPr/>
        </p:nvSpPr>
        <p:spPr>
          <a:xfrm>
            <a:off x="3063240" y="2743200"/>
            <a:ext cx="3017520" cy="1572768"/>
          </a:xfrm>
          <a:prstGeom prst="roundRect">
            <a:avLst>
              <a:gd name="adj" fmla="val 4651"/>
            </a:avLst>
          </a:prstGeom>
          <a:solidFill>
            <a:srgbClr val="F7F3FF"/>
          </a:solidFill>
          <a:ln w="15875">
            <a:solidFill>
              <a:srgbClr val="7F5FA8"/>
            </a:solidFill>
            <a:prstDash val="solid"/>
          </a:ln>
        </p:spPr>
        <p:txBody>
          <a:bodyPr/>
          <a:lstStyle/>
          <a:p>
            <a:endParaRPr lang="en-US"/>
          </a:p>
        </p:txBody>
      </p:sp>
      <p:sp>
        <p:nvSpPr>
          <p:cNvPr id="24" name="Text 21"/>
          <p:cNvSpPr txBox="1"/>
          <p:nvPr/>
        </p:nvSpPr>
        <p:spPr>
          <a:xfrm>
            <a:off x="3172968" y="2788920"/>
            <a:ext cx="2834640" cy="1481328"/>
          </a:xfrm>
          <a:prstGeom prst="rect">
            <a:avLst/>
          </a:prstGeom>
          <a:noFill/>
          <a:ln/>
        </p:spPr>
        <p:txBody>
          <a:bodyPr wrap="square" lIns="0" tIns="0" rIns="0" bIns="0" rtlCol="0" anchor="ctr"/>
          <a:lstStyle/>
          <a:p>
            <a:pPr marL="0" indent="0">
              <a:buNone/>
            </a:pPr>
            <a:r>
              <a:rPr lang="en-US" sz="1000" b="1" dirty="0">
                <a:solidFill>
                  <a:srgbClr val="000000"/>
                </a:solidFill>
                <a:latin typeface="Cambria" pitchFamily="34" charset="0"/>
                <a:ea typeface="Cambria" pitchFamily="34" charset="-122"/>
                <a:cs typeface="Cambria" pitchFamily="34" charset="-120"/>
              </a:rPr>
              <a:t>Implementation Viability</a:t>
            </a:r>
            <a:endParaRPr lang="en-US" sz="1000" dirty="0"/>
          </a:p>
          <a:p>
            <a:pPr marL="0" indent="0">
              <a:spcBef>
                <a:spcPts val="300"/>
              </a:spcBef>
              <a:buNone/>
            </a:pPr>
            <a:r>
              <a:rPr lang="en-US" sz="950" dirty="0">
                <a:solidFill>
                  <a:srgbClr val="000000"/>
                </a:solidFill>
                <a:latin typeface="Calibri" pitchFamily="34" charset="0"/>
                <a:ea typeface="Calibri" pitchFamily="34" charset="-122"/>
                <a:cs typeface="Calibri" pitchFamily="34" charset="-120"/>
              </a:rPr>
              <a:t>✔  Simulator and receiver digital twin</a:t>
            </a:r>
            <a:endParaRPr lang="en-US" sz="1000" dirty="0"/>
          </a:p>
          <a:p>
            <a:pPr marL="0" indent="0">
              <a:spcBef>
                <a:spcPts val="300"/>
              </a:spcBef>
              <a:buNone/>
            </a:pPr>
            <a:r>
              <a:rPr lang="en-US" sz="950" dirty="0">
                <a:solidFill>
                  <a:srgbClr val="000000"/>
                </a:solidFill>
                <a:latin typeface="Calibri" pitchFamily="34" charset="0"/>
                <a:ea typeface="Calibri" pitchFamily="34" charset="-122"/>
                <a:cs typeface="Calibri" pitchFamily="34" charset="-120"/>
              </a:rPr>
              <a:t>✔  MAG-NTS scheduler with 4 baselines</a:t>
            </a:r>
            <a:endParaRPr lang="en-US" sz="1000" dirty="0"/>
          </a:p>
          <a:p>
            <a:pPr marL="0" indent="0">
              <a:spcBef>
                <a:spcPts val="300"/>
              </a:spcBef>
              <a:buNone/>
            </a:pPr>
            <a:r>
              <a:rPr lang="en-US" sz="950" dirty="0">
                <a:solidFill>
                  <a:srgbClr val="000000"/>
                </a:solidFill>
                <a:latin typeface="Calibri" pitchFamily="34" charset="0"/>
                <a:ea typeface="Calibri" pitchFamily="34" charset="-122"/>
                <a:cs typeface="Calibri" pitchFamily="34" charset="-120"/>
              </a:rPr>
              <a:t>✔  REST + WebSocket API</a:t>
            </a:r>
            <a:endParaRPr lang="en-US" sz="1000" dirty="0"/>
          </a:p>
          <a:p>
            <a:pPr marL="0" indent="0">
              <a:spcBef>
                <a:spcPts val="300"/>
              </a:spcBef>
              <a:buNone/>
            </a:pPr>
            <a:r>
              <a:rPr lang="en-US" sz="950" dirty="0">
                <a:solidFill>
                  <a:srgbClr val="000000"/>
                </a:solidFill>
                <a:latin typeface="Calibri" pitchFamily="34" charset="0"/>
                <a:ea typeface="Calibri" pitchFamily="34" charset="-122"/>
                <a:cs typeface="Calibri" pitchFamily="34" charset="-120"/>
              </a:rPr>
              <a:t>✔  React dashboard and 3D cube</a:t>
            </a:r>
            <a:endParaRPr lang="en-US" sz="1000" dirty="0"/>
          </a:p>
          <a:p>
            <a:pPr marL="0" indent="0">
              <a:spcBef>
                <a:spcPts val="300"/>
              </a:spcBef>
              <a:buNone/>
            </a:pPr>
            <a:r>
              <a:rPr lang="en-US" sz="950" dirty="0">
                <a:solidFill>
                  <a:srgbClr val="000000"/>
                </a:solidFill>
                <a:latin typeface="Calibri" pitchFamily="34" charset="0"/>
                <a:ea typeface="Calibri" pitchFamily="34" charset="-122"/>
                <a:cs typeface="Calibri" pitchFamily="34" charset="-120"/>
              </a:rPr>
              <a:t>✔  Automated backend and browser tests</a:t>
            </a:r>
            <a:endParaRPr lang="en-US" sz="1000" dirty="0"/>
          </a:p>
        </p:txBody>
      </p:sp>
      <p:sp>
        <p:nvSpPr>
          <p:cNvPr id="25" name="Shape 22"/>
          <p:cNvSpPr/>
          <p:nvPr/>
        </p:nvSpPr>
        <p:spPr>
          <a:xfrm>
            <a:off x="182880" y="4434840"/>
            <a:ext cx="8778240" cy="329184"/>
          </a:xfrm>
          <a:prstGeom prst="roundRect">
            <a:avLst>
              <a:gd name="adj" fmla="val 13889"/>
            </a:avLst>
          </a:prstGeom>
          <a:solidFill>
            <a:srgbClr val="FFFFFF"/>
          </a:solidFill>
          <a:ln w="19050">
            <a:solidFill>
              <a:srgbClr val="2E7D32"/>
            </a:solidFill>
            <a:prstDash val="solid"/>
          </a:ln>
        </p:spPr>
        <p:txBody>
          <a:bodyPr/>
          <a:lstStyle/>
          <a:p>
            <a:endParaRPr lang="en-US"/>
          </a:p>
        </p:txBody>
      </p:sp>
      <p:sp>
        <p:nvSpPr>
          <p:cNvPr id="26" name="Text 23"/>
          <p:cNvSpPr txBox="1"/>
          <p:nvPr/>
        </p:nvSpPr>
        <p:spPr>
          <a:xfrm>
            <a:off x="182880" y="4434840"/>
            <a:ext cx="8778240" cy="329184"/>
          </a:xfrm>
          <a:prstGeom prst="rect">
            <a:avLst/>
          </a:prstGeom>
          <a:noFill/>
          <a:ln/>
        </p:spPr>
        <p:txBody>
          <a:bodyPr wrap="square" lIns="0" tIns="0" rIns="0" bIns="0" rtlCol="0" anchor="ctr"/>
          <a:lstStyle/>
          <a:p>
            <a:pPr marL="0" indent="0" algn="ctr">
              <a:buNone/>
            </a:pPr>
            <a:r>
              <a:rPr lang="en-US" sz="950" b="1" dirty="0">
                <a:solidFill>
                  <a:srgbClr val="2F3C4F"/>
                </a:solidFill>
                <a:latin typeface="Calibri" pitchFamily="34" charset="0"/>
                <a:ea typeface="Calibri" pitchFamily="34" charset="-122"/>
                <a:cs typeface="Calibri" pitchFamily="34" charset="-120"/>
              </a:rPr>
              <a:t>RUNS LOCALLY  •  FULLY OPEN-SOURCE STACK  •  REPRODUCIBLE  •  MODULAR &amp; EXTENSIBLE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09728"/>
            <a:ext cx="868680" cy="384048"/>
          </a:xfrm>
          <a:prstGeom prst="ellipse">
            <a:avLst/>
          </a:prstGeom>
          <a:solidFill>
            <a:srgbClr val="F7941D"/>
          </a:solidFill>
          <a:ln w="19050">
            <a:solidFill>
              <a:srgbClr val="7F5FA8"/>
            </a:solidFill>
            <a:prstDash val="solid"/>
          </a:ln>
        </p:spPr>
        <p:txBody>
          <a:bodyPr/>
          <a:lstStyle/>
          <a:p>
            <a:endParaRPr/>
          </a:p>
        </p:txBody>
      </p:sp>
      <p:sp>
        <p:nvSpPr>
          <p:cNvPr id="3" name="Text 1"/>
          <p:cNvSpPr txBox="1"/>
          <p:nvPr/>
        </p:nvSpPr>
        <p:spPr>
          <a:xfrm>
            <a:off x="137160" y="109728"/>
            <a:ext cx="868680" cy="384048"/>
          </a:xfrm>
          <a:prstGeom prst="rect">
            <a:avLst/>
          </a:prstGeom>
          <a:noFill/>
          <a:ln/>
        </p:spPr>
        <p:txBody>
          <a:bodyPr wrap="square" lIns="0" tIns="0" rIns="0" bIns="0" anchor="ctr"/>
          <a:lstStyle/>
          <a:p>
            <a:pPr marL="0" indent="0" algn="ctr">
              <a:buNone/>
            </a:pPr>
            <a:r>
              <a:rPr sz="1100">
                <a:solidFill>
                  <a:srgbClr val="000000"/>
                </a:solidFill>
                <a:latin typeface="Calibri"/>
                <a:ea typeface="Calibri"/>
                <a:cs typeface="Calibri"/>
              </a:rPr>
              <a:t>Alphax</a:t>
            </a:r>
            <a:endParaRPr sz="1100"/>
          </a:p>
        </p:txBody>
      </p:sp>
      <p:sp>
        <p:nvSpPr>
          <p:cNvPr id="4" name="Text 2"/>
          <p:cNvSpPr txBox="1"/>
          <p:nvPr/>
        </p:nvSpPr>
        <p:spPr>
          <a:xfrm>
            <a:off x="1097280" y="73152"/>
            <a:ext cx="6583680" cy="502920"/>
          </a:xfrm>
          <a:prstGeom prst="rect">
            <a:avLst/>
          </a:prstGeom>
          <a:noFill/>
          <a:ln/>
        </p:spPr>
        <p:txBody>
          <a:bodyPr wrap="square" lIns="0" tIns="0" rIns="0" bIns="0" anchor="ctr"/>
          <a:lstStyle/>
          <a:p>
            <a:pPr marL="0" indent="0" algn="ctr">
              <a:buNone/>
            </a:pPr>
            <a:r>
              <a:rPr sz="2400" b="1" u="sng">
                <a:solidFill>
                  <a:srgbClr val="000000"/>
                </a:solidFill>
                <a:latin typeface="Cambria"/>
                <a:ea typeface="Cambria"/>
                <a:cs typeface="Cambria"/>
              </a:rPr>
              <a:t>IMPACT AND BENEFITS</a:t>
            </a:r>
            <a:endParaRPr sz="2400"/>
          </a:p>
        </p:txBody>
      </p:sp>
      <p:sp>
        <p:nvSpPr>
          <p:cNvPr id="5" name="Text 3"/>
          <p:cNvSpPr txBox="1"/>
          <p:nvPr/>
        </p:nvSpPr>
        <p:spPr>
          <a:xfrm>
            <a:off x="7772400" y="45720"/>
            <a:ext cx="1234440" cy="548640"/>
          </a:xfrm>
          <a:prstGeom prst="rect">
            <a:avLst/>
          </a:prstGeom>
          <a:noFill/>
          <a:ln/>
        </p:spPr>
        <p:txBody>
          <a:bodyPr wrap="square" lIns="0" tIns="0" rIns="0" bIns="0" anchor="ctr"/>
          <a:lstStyle/>
          <a:p>
            <a:pPr marL="0" indent="0" algn="r">
              <a:buNone/>
            </a:pPr>
            <a:r>
              <a:rPr sz="800" b="1">
                <a:solidFill>
                  <a:srgbClr val="3E4A56"/>
                </a:solidFill>
                <a:latin typeface="Calibri"/>
                <a:ea typeface="Calibri"/>
                <a:cs typeface="Calibri"/>
              </a:rPr>
              <a:t>SMART INDIA</a:t>
            </a:r>
            <a:endParaRPr sz="800"/>
          </a:p>
          <a:p>
            <a:pPr marL="0" indent="0" algn="r">
              <a:buNone/>
            </a:pPr>
            <a:r>
              <a:rPr sz="800" b="1">
                <a:solidFill>
                  <a:srgbClr val="3E4A56"/>
                </a:solidFill>
                <a:latin typeface="Calibri"/>
                <a:ea typeface="Calibri"/>
                <a:cs typeface="Calibri"/>
              </a:rPr>
              <a:t>HACKATHON</a:t>
            </a:r>
            <a:endParaRPr sz="800"/>
          </a:p>
          <a:p>
            <a:pPr marL="0" indent="0" algn="r">
              <a:buNone/>
            </a:pPr>
            <a:r>
              <a:rPr sz="800" b="1">
                <a:solidFill>
                  <a:srgbClr val="3E4A56"/>
                </a:solidFill>
                <a:latin typeface="Calibri"/>
                <a:ea typeface="Calibri"/>
                <a:cs typeface="Calibri"/>
              </a:rPr>
              <a:t>2026</a:t>
            </a:r>
            <a:endParaRPr sz="800"/>
          </a:p>
        </p:txBody>
      </p:sp>
      <p:sp>
        <p:nvSpPr>
          <p:cNvPr id="6" name="Shape 4"/>
          <p:cNvSpPr/>
          <p:nvPr/>
        </p:nvSpPr>
        <p:spPr>
          <a:xfrm>
            <a:off x="0" y="4869180"/>
            <a:ext cx="9144000" cy="274320"/>
          </a:xfrm>
          <a:prstGeom prst="rect">
            <a:avLst/>
          </a:prstGeom>
          <a:solidFill>
            <a:srgbClr val="0071C1"/>
          </a:solidFill>
          <a:ln w="12700">
            <a:solidFill>
              <a:srgbClr val="0071C1"/>
            </a:solidFill>
            <a:prstDash val="solid"/>
          </a:ln>
        </p:spPr>
        <p:txBody>
          <a:bodyPr/>
          <a:lstStyle/>
          <a:p>
            <a:endParaRPr/>
          </a:p>
        </p:txBody>
      </p:sp>
      <p:sp>
        <p:nvSpPr>
          <p:cNvPr id="7" name="Text 5"/>
          <p:cNvSpPr txBox="1"/>
          <p:nvPr/>
        </p:nvSpPr>
        <p:spPr>
          <a:xfrm>
            <a:off x="0" y="4869180"/>
            <a:ext cx="9144000" cy="274320"/>
          </a:xfrm>
          <a:prstGeom prst="rect">
            <a:avLst/>
          </a:prstGeom>
          <a:noFill/>
          <a:ln/>
        </p:spPr>
        <p:txBody>
          <a:bodyPr wrap="square" lIns="0" tIns="0" rIns="0" bIns="0" anchor="ctr"/>
          <a:lstStyle/>
          <a:p>
            <a:pPr marL="0" indent="0" algn="ctr">
              <a:buNone/>
            </a:pPr>
            <a:r>
              <a:rPr sz="800">
                <a:solidFill>
                  <a:srgbClr val="FFFFFF"/>
                </a:solidFill>
                <a:latin typeface="Calibri"/>
                <a:ea typeface="Calibri"/>
                <a:cs typeface="Calibri"/>
              </a:rPr>
              <a:t>@SIH Idea submission- Template</a:t>
            </a:r>
            <a:endParaRPr sz="800"/>
          </a:p>
        </p:txBody>
      </p:sp>
      <p:sp>
        <p:nvSpPr>
          <p:cNvPr id="8" name="Text 6"/>
          <p:cNvSpPr txBox="1"/>
          <p:nvPr/>
        </p:nvSpPr>
        <p:spPr>
          <a:xfrm>
            <a:off x="8412480" y="4869180"/>
            <a:ext cx="548640" cy="274320"/>
          </a:xfrm>
          <a:prstGeom prst="rect">
            <a:avLst/>
          </a:prstGeom>
          <a:noFill/>
          <a:ln/>
        </p:spPr>
        <p:txBody>
          <a:bodyPr wrap="square" lIns="0" tIns="0" rIns="0" bIns="0" anchor="ctr"/>
          <a:lstStyle/>
          <a:p>
            <a:pPr marL="0" indent="0" algn="r">
              <a:buNone/>
            </a:pPr>
            <a:r>
              <a:rPr sz="800" b="1">
                <a:solidFill>
                  <a:srgbClr val="FFFFFF"/>
                </a:solidFill>
                <a:latin typeface="Calibri"/>
                <a:ea typeface="Calibri"/>
                <a:cs typeface="Calibri"/>
              </a:rPr>
              <a:t>5</a:t>
            </a:r>
            <a:endParaRPr sz="800"/>
          </a:p>
        </p:txBody>
      </p:sp>
      <p:sp>
        <p:nvSpPr>
          <p:cNvPr id="9" name="Shape 7"/>
          <p:cNvSpPr/>
          <p:nvPr/>
        </p:nvSpPr>
        <p:spPr>
          <a:xfrm>
            <a:off x="182880" y="658368"/>
            <a:ext cx="2834640" cy="1828800"/>
          </a:xfrm>
          <a:prstGeom prst="roundRect">
            <a:avLst>
              <a:gd name="adj" fmla="val 4000"/>
            </a:avLst>
          </a:prstGeom>
          <a:solidFill>
            <a:srgbClr val="C5E5FB"/>
          </a:solidFill>
          <a:ln w="15875">
            <a:solidFill>
              <a:srgbClr val="000000"/>
            </a:solidFill>
            <a:prstDash val="solid"/>
          </a:ln>
        </p:spPr>
        <p:txBody>
          <a:bodyPr/>
          <a:lstStyle/>
          <a:p>
            <a:endParaRPr/>
          </a:p>
        </p:txBody>
      </p:sp>
      <p:sp>
        <p:nvSpPr>
          <p:cNvPr id="10" name="Text 8"/>
          <p:cNvSpPr txBox="1"/>
          <p:nvPr/>
        </p:nvSpPr>
        <p:spPr>
          <a:xfrm>
            <a:off x="274320" y="713232"/>
            <a:ext cx="2651760" cy="1719072"/>
          </a:xfrm>
          <a:prstGeom prst="rect">
            <a:avLst/>
          </a:prstGeom>
          <a:noFill/>
          <a:ln/>
        </p:spPr>
        <p:txBody>
          <a:bodyPr wrap="square" lIns="0" tIns="0" rIns="0" bIns="0" anchor="ctr"/>
          <a:lstStyle/>
          <a:p>
            <a:pPr marL="0" indent="0" algn="ctr">
              <a:buNone/>
            </a:pPr>
            <a:r>
              <a:rPr sz="1000" b="1" u="sng">
                <a:solidFill>
                  <a:srgbClr val="000000"/>
                </a:solidFill>
                <a:latin typeface="Calibri"/>
                <a:ea typeface="Calibri"/>
                <a:cs typeface="Calibri"/>
              </a:rPr>
              <a:t>1. SENSING IMPACT</a:t>
            </a:r>
            <a:endParaRPr sz="1000"/>
          </a:p>
          <a:p>
            <a:pPr marL="0" indent="0">
              <a:spcBef>
                <a:spcPts val="500"/>
              </a:spcBef>
              <a:buNone/>
            </a:pPr>
            <a:r>
              <a:rPr sz="1100" b="1">
                <a:solidFill>
                  <a:srgbClr val="000000"/>
                </a:solidFill>
                <a:latin typeface="Calibri"/>
                <a:ea typeface="Calibri"/>
                <a:cs typeface="Calibri"/>
              </a:rPr>
              <a:t>Adaptive Scan Allocation</a:t>
            </a:r>
            <a:endParaRPr sz="1000"/>
          </a:p>
          <a:p>
            <a:pPr marL="0" indent="0">
              <a:spcBef>
                <a:spcPts val="400"/>
              </a:spcBef>
              <a:buNone/>
            </a:pPr>
            <a:r>
              <a:rPr sz="1050">
                <a:solidFill>
                  <a:srgbClr val="000000"/>
                </a:solidFill>
                <a:latin typeface="Calibri"/>
                <a:ea typeface="Calibri"/>
                <a:cs typeface="Calibri"/>
              </a:rPr>
              <a:t>Learns where to look next from observed hits and misses. </a:t>
            </a:r>
            <a:r>
              <a:rPr sz="1050">
                <a:solidFill>
                  <a:srgbClr val="000000"/>
                </a:solidFill>
                <a:latin typeface="Calibri"/>
                <a:ea typeface="Calibri"/>
                <a:cs typeface="Calibri"/>
              </a:rPr>
              <a:t>Official TSRD: mean recall 31.48% vs fixed 5.47% at 4/64 bands. Thompson reaches 36.75% on this recording.</a:t>
            </a:r>
            <a:endParaRPr sz="1000"/>
          </a:p>
        </p:txBody>
      </p:sp>
      <p:sp>
        <p:nvSpPr>
          <p:cNvPr id="11" name="Shape 9"/>
          <p:cNvSpPr/>
          <p:nvPr/>
        </p:nvSpPr>
        <p:spPr>
          <a:xfrm>
            <a:off x="3108960" y="658368"/>
            <a:ext cx="2834640" cy="1828800"/>
          </a:xfrm>
          <a:prstGeom prst="roundRect">
            <a:avLst>
              <a:gd name="adj" fmla="val 4000"/>
            </a:avLst>
          </a:prstGeom>
          <a:solidFill>
            <a:srgbClr val="DFF5C0"/>
          </a:solidFill>
          <a:ln w="15875">
            <a:solidFill>
              <a:srgbClr val="000000"/>
            </a:solidFill>
            <a:prstDash val="solid"/>
          </a:ln>
        </p:spPr>
        <p:txBody>
          <a:bodyPr/>
          <a:lstStyle/>
          <a:p>
            <a:endParaRPr/>
          </a:p>
        </p:txBody>
      </p:sp>
      <p:sp>
        <p:nvSpPr>
          <p:cNvPr id="12" name="Text 10"/>
          <p:cNvSpPr txBox="1"/>
          <p:nvPr/>
        </p:nvSpPr>
        <p:spPr>
          <a:xfrm>
            <a:off x="3200400" y="713232"/>
            <a:ext cx="2651760" cy="1719072"/>
          </a:xfrm>
          <a:prstGeom prst="rect">
            <a:avLst/>
          </a:prstGeom>
          <a:noFill/>
          <a:ln/>
        </p:spPr>
        <p:txBody>
          <a:bodyPr wrap="square" lIns="0" tIns="0" rIns="0" bIns="0" anchor="ctr"/>
          <a:lstStyle/>
          <a:p>
            <a:pPr marL="0" indent="0" algn="ctr">
              <a:buNone/>
            </a:pPr>
            <a:r>
              <a:rPr sz="1000" b="1" u="sng">
                <a:solidFill>
                  <a:srgbClr val="000000"/>
                </a:solidFill>
                <a:latin typeface="Calibri"/>
                <a:ea typeface="Calibri"/>
                <a:cs typeface="Calibri"/>
              </a:rPr>
              <a:t>2. EW ANALYSTS &amp; RESEARCHERS</a:t>
            </a:r>
            <a:endParaRPr sz="1000"/>
          </a:p>
          <a:p>
            <a:pPr marL="0" indent="0">
              <a:spcBef>
                <a:spcPts val="500"/>
              </a:spcBef>
              <a:buNone/>
            </a:pPr>
            <a:r>
              <a:rPr sz="1100" b="1">
                <a:solidFill>
                  <a:srgbClr val="000000"/>
                </a:solidFill>
                <a:latin typeface="Calibri"/>
                <a:ea typeface="Calibri"/>
                <a:cs typeface="Calibri"/>
              </a:rPr>
              <a:t>Explainable Decisions</a:t>
            </a:r>
            <a:endParaRPr sz="1000"/>
          </a:p>
          <a:p>
            <a:pPr marL="0" indent="0">
              <a:spcBef>
                <a:spcPts val="400"/>
              </a:spcBef>
              <a:buNone/>
            </a:pPr>
            <a:r>
              <a:rPr sz="1050">
                <a:solidFill>
                  <a:srgbClr val="000000"/>
                </a:solidFill>
                <a:latin typeface="Calibri"/>
                <a:ea typeface="Calibri"/>
                <a:cs typeface="Calibri"/>
              </a:rPr>
              <a:t>Each action stores score components, beliefs and five candidates including the chosen window. A ten-stage trace explains the decision.</a:t>
            </a:r>
            <a:endParaRPr sz="1000"/>
          </a:p>
        </p:txBody>
      </p:sp>
      <p:sp>
        <p:nvSpPr>
          <p:cNvPr id="13" name="Shape 11"/>
          <p:cNvSpPr/>
          <p:nvPr/>
        </p:nvSpPr>
        <p:spPr>
          <a:xfrm>
            <a:off x="6035040" y="658368"/>
            <a:ext cx="2834640" cy="1828800"/>
          </a:xfrm>
          <a:prstGeom prst="roundRect">
            <a:avLst>
              <a:gd name="adj" fmla="val 4000"/>
            </a:avLst>
          </a:prstGeom>
          <a:solidFill>
            <a:srgbClr val="FFF0B8"/>
          </a:solidFill>
          <a:ln w="15875">
            <a:solidFill>
              <a:srgbClr val="000000"/>
            </a:solidFill>
            <a:prstDash val="solid"/>
          </a:ln>
        </p:spPr>
        <p:txBody>
          <a:bodyPr/>
          <a:lstStyle/>
          <a:p>
            <a:endParaRPr/>
          </a:p>
        </p:txBody>
      </p:sp>
      <p:sp>
        <p:nvSpPr>
          <p:cNvPr id="14" name="Text 12"/>
          <p:cNvSpPr txBox="1"/>
          <p:nvPr/>
        </p:nvSpPr>
        <p:spPr>
          <a:xfrm>
            <a:off x="6126480" y="713232"/>
            <a:ext cx="2651760" cy="1719072"/>
          </a:xfrm>
          <a:prstGeom prst="rect">
            <a:avLst/>
          </a:prstGeom>
          <a:noFill/>
          <a:ln/>
        </p:spPr>
        <p:txBody>
          <a:bodyPr wrap="square" lIns="0" tIns="0" rIns="0" bIns="0" anchor="ctr"/>
          <a:lstStyle/>
          <a:p>
            <a:pPr marL="0" indent="0" algn="ctr">
              <a:buNone/>
            </a:pPr>
            <a:r>
              <a:rPr sz="1000" b="1" u="sng">
                <a:solidFill>
                  <a:srgbClr val="000000"/>
                </a:solidFill>
                <a:latin typeface="Calibri"/>
                <a:ea typeface="Calibri"/>
                <a:cs typeface="Calibri"/>
              </a:rPr>
              <a:t>3. TRUST &amp; SAFETY</a:t>
            </a:r>
            <a:endParaRPr sz="1000"/>
          </a:p>
          <a:p>
            <a:pPr marL="0" indent="0">
              <a:spcBef>
                <a:spcPts val="500"/>
              </a:spcBef>
              <a:buNone/>
            </a:pPr>
            <a:r>
              <a:rPr sz="1100" b="1">
                <a:solidFill>
                  <a:srgbClr val="000000"/>
                </a:solidFill>
                <a:latin typeface="Calibri"/>
                <a:ea typeface="Calibri"/>
                <a:cs typeface="Calibri"/>
              </a:rPr>
              <a:t>No False Certainty</a:t>
            </a:r>
            <a:endParaRPr sz="1000"/>
          </a:p>
          <a:p>
            <a:pPr marL="0" indent="0">
              <a:spcBef>
                <a:spcPts val="400"/>
              </a:spcBef>
              <a:buNone/>
            </a:pPr>
            <a:r>
              <a:rPr sz="1050">
                <a:solidFill>
                  <a:srgbClr val="000000"/>
                </a:solidFill>
                <a:latin typeface="Calibri"/>
                <a:ea typeface="Calibri"/>
                <a:cs typeface="Calibri"/>
              </a:rPr>
              <a:t>Measured-RF runs show N/A for truth-based metrics, Ground Truth is off by default, and a truth-leak test guards the policy.</a:t>
            </a:r>
            <a:endParaRPr sz="1000"/>
          </a:p>
        </p:txBody>
      </p:sp>
      <p:sp>
        <p:nvSpPr>
          <p:cNvPr id="15" name="Shape 13"/>
          <p:cNvSpPr/>
          <p:nvPr/>
        </p:nvSpPr>
        <p:spPr>
          <a:xfrm>
            <a:off x="182880" y="2578608"/>
            <a:ext cx="2834640" cy="1828800"/>
          </a:xfrm>
          <a:prstGeom prst="roundRect">
            <a:avLst>
              <a:gd name="adj" fmla="val 4000"/>
            </a:avLst>
          </a:prstGeom>
          <a:solidFill>
            <a:srgbClr val="FFD6D6"/>
          </a:solidFill>
          <a:ln w="15875">
            <a:solidFill>
              <a:srgbClr val="000000"/>
            </a:solidFill>
            <a:prstDash val="solid"/>
          </a:ln>
        </p:spPr>
        <p:txBody>
          <a:bodyPr/>
          <a:lstStyle/>
          <a:p>
            <a:endParaRPr/>
          </a:p>
        </p:txBody>
      </p:sp>
      <p:sp>
        <p:nvSpPr>
          <p:cNvPr id="16" name="Text 14"/>
          <p:cNvSpPr txBox="1"/>
          <p:nvPr/>
        </p:nvSpPr>
        <p:spPr>
          <a:xfrm>
            <a:off x="274320" y="2633472"/>
            <a:ext cx="2651760" cy="1719072"/>
          </a:xfrm>
          <a:prstGeom prst="rect">
            <a:avLst/>
          </a:prstGeom>
          <a:noFill/>
          <a:ln/>
        </p:spPr>
        <p:txBody>
          <a:bodyPr wrap="square" lIns="0" tIns="0" rIns="0" bIns="0" anchor="ctr"/>
          <a:lstStyle/>
          <a:p>
            <a:pPr marL="0" indent="0" algn="ctr">
              <a:buNone/>
            </a:pPr>
            <a:r>
              <a:rPr sz="1000" b="1" u="sng">
                <a:solidFill>
                  <a:srgbClr val="000000"/>
                </a:solidFill>
                <a:latin typeface="Calibri"/>
                <a:ea typeface="Calibri"/>
                <a:cs typeface="Calibri"/>
              </a:rPr>
              <a:t>4. EVALUATION SYSTEM</a:t>
            </a:r>
            <a:endParaRPr sz="1000"/>
          </a:p>
          <a:p>
            <a:pPr marL="0" indent="0">
              <a:spcBef>
                <a:spcPts val="500"/>
              </a:spcBef>
              <a:buNone/>
            </a:pPr>
            <a:r>
              <a:rPr sz="1100" b="1">
                <a:solidFill>
                  <a:srgbClr val="000000"/>
                </a:solidFill>
                <a:latin typeface="Calibri"/>
                <a:ea typeface="Calibri"/>
                <a:cs typeface="Calibri"/>
              </a:rPr>
              <a:t>One Reproducible Workbench</a:t>
            </a:r>
            <a:endParaRPr sz="1000"/>
          </a:p>
          <a:p>
            <a:pPr marL="0" indent="0">
              <a:spcBef>
                <a:spcPts val="400"/>
              </a:spcBef>
              <a:buNone/>
            </a:pPr>
            <a:r>
              <a:rPr sz="1050">
                <a:solidFill>
                  <a:srgbClr val="000000"/>
                </a:solidFill>
                <a:latin typeface="Calibri"/>
                <a:ea typeface="Calibri"/>
                <a:cs typeface="Calibri"/>
              </a:rPr>
              <a:t>Fair duels use an identical world, detector noise and timing budget. </a:t>
            </a:r>
            <a:r>
              <a:rPr sz="1050">
                <a:solidFill>
                  <a:srgbClr val="000000"/>
                </a:solidFill>
                <a:latin typeface="Calibri"/>
                <a:ea typeface="Calibri"/>
                <a:cs typeface="Calibri"/>
              </a:rPr>
              <a:t>TSRD: 24 paired worlds and 192 policy evaluations. Six seeds, four receiver budgets, eight policies, stored replays.</a:t>
            </a:r>
            <a:endParaRPr sz="1000"/>
          </a:p>
        </p:txBody>
      </p:sp>
      <p:sp>
        <p:nvSpPr>
          <p:cNvPr id="17" name="Shape 15"/>
          <p:cNvSpPr/>
          <p:nvPr/>
        </p:nvSpPr>
        <p:spPr>
          <a:xfrm>
            <a:off x="3108960" y="2578608"/>
            <a:ext cx="2834640" cy="1828800"/>
          </a:xfrm>
          <a:prstGeom prst="roundRect">
            <a:avLst>
              <a:gd name="adj" fmla="val 4000"/>
            </a:avLst>
          </a:prstGeom>
          <a:solidFill>
            <a:srgbClr val="C5CCFF"/>
          </a:solidFill>
          <a:ln w="15875">
            <a:solidFill>
              <a:srgbClr val="000000"/>
            </a:solidFill>
            <a:prstDash val="solid"/>
          </a:ln>
        </p:spPr>
        <p:txBody>
          <a:bodyPr/>
          <a:lstStyle/>
          <a:p>
            <a:endParaRPr/>
          </a:p>
        </p:txBody>
      </p:sp>
      <p:sp>
        <p:nvSpPr>
          <p:cNvPr id="18" name="Text 16"/>
          <p:cNvSpPr txBox="1"/>
          <p:nvPr/>
        </p:nvSpPr>
        <p:spPr>
          <a:xfrm>
            <a:off x="3200400" y="2633472"/>
            <a:ext cx="2651760" cy="1719072"/>
          </a:xfrm>
          <a:prstGeom prst="rect">
            <a:avLst/>
          </a:prstGeom>
          <a:noFill/>
          <a:ln/>
        </p:spPr>
        <p:txBody>
          <a:bodyPr wrap="square" lIns="0" tIns="0" rIns="0" bIns="0" anchor="ctr"/>
          <a:lstStyle/>
          <a:p>
            <a:pPr marL="0" indent="0" algn="ctr">
              <a:buNone/>
            </a:pPr>
            <a:r>
              <a:rPr sz="1000" b="1" u="sng">
                <a:solidFill>
                  <a:srgbClr val="000000"/>
                </a:solidFill>
                <a:latin typeface="Calibri"/>
                <a:ea typeface="Calibri"/>
                <a:cs typeface="Calibri"/>
              </a:rPr>
              <a:t>5. TECHNOLOGY &amp; RESEARCH</a:t>
            </a:r>
            <a:endParaRPr sz="1000"/>
          </a:p>
          <a:p>
            <a:pPr marL="0" indent="0">
              <a:spcBef>
                <a:spcPts val="500"/>
              </a:spcBef>
              <a:buNone/>
            </a:pPr>
            <a:r>
              <a:rPr sz="1100" b="1">
                <a:solidFill>
                  <a:srgbClr val="000000"/>
                </a:solidFill>
                <a:latin typeface="Calibri"/>
                <a:ea typeface="Calibri"/>
                <a:cs typeface="Calibri"/>
              </a:rPr>
              <a:t>Interpretable by Design</a:t>
            </a:r>
            <a:endParaRPr sz="1000"/>
          </a:p>
          <a:p>
            <a:pPr marL="0" indent="0">
              <a:spcBef>
                <a:spcPts val="400"/>
              </a:spcBef>
              <a:buNone/>
            </a:pPr>
            <a:r>
              <a:rPr sz="1050">
                <a:solidFill>
                  <a:srgbClr val="000000"/>
                </a:solidFill>
                <a:latin typeface="Calibri"/>
                <a:ea typeface="Calibri"/>
                <a:cs typeface="Calibri"/>
              </a:rPr>
              <a:t>Ablations remove memory, information gain or change detection. </a:t>
            </a:r>
            <a:r>
              <a:rPr sz="1050">
                <a:solidFill>
                  <a:srgbClr val="000000"/>
                </a:solidFill>
                <a:latin typeface="Calibri"/>
                <a:ea typeface="Calibri"/>
                <a:cs typeface="Calibri"/>
              </a:rPr>
              <a:t>The saved seed-42 periodic demo estimates an 18-slot period. Other runs can differ.</a:t>
            </a:r>
            <a:endParaRPr sz="1000"/>
          </a:p>
        </p:txBody>
      </p:sp>
      <p:sp>
        <p:nvSpPr>
          <p:cNvPr id="19" name="Shape 17"/>
          <p:cNvSpPr/>
          <p:nvPr/>
        </p:nvSpPr>
        <p:spPr>
          <a:xfrm>
            <a:off x="6035040" y="2578608"/>
            <a:ext cx="2834640" cy="1828800"/>
          </a:xfrm>
          <a:prstGeom prst="roundRect">
            <a:avLst>
              <a:gd name="adj" fmla="val 4000"/>
            </a:avLst>
          </a:prstGeom>
          <a:solidFill>
            <a:srgbClr val="E0C9F5"/>
          </a:solidFill>
          <a:ln w="15875">
            <a:solidFill>
              <a:srgbClr val="000000"/>
            </a:solidFill>
            <a:prstDash val="solid"/>
          </a:ln>
        </p:spPr>
        <p:txBody>
          <a:bodyPr/>
          <a:lstStyle/>
          <a:p>
            <a:endParaRPr/>
          </a:p>
        </p:txBody>
      </p:sp>
      <p:sp>
        <p:nvSpPr>
          <p:cNvPr id="20" name="Text 18"/>
          <p:cNvSpPr txBox="1"/>
          <p:nvPr/>
        </p:nvSpPr>
        <p:spPr>
          <a:xfrm>
            <a:off x="6126480" y="2633472"/>
            <a:ext cx="2651760" cy="1719072"/>
          </a:xfrm>
          <a:prstGeom prst="rect">
            <a:avLst/>
          </a:prstGeom>
          <a:noFill/>
          <a:ln/>
        </p:spPr>
        <p:txBody>
          <a:bodyPr wrap="square" lIns="0" tIns="0" rIns="0" bIns="0" anchor="ctr"/>
          <a:lstStyle/>
          <a:p>
            <a:pPr marL="0" indent="0" algn="ctr">
              <a:buNone/>
            </a:pPr>
            <a:r>
              <a:rPr sz="1000" b="1" u="sng">
                <a:solidFill>
                  <a:srgbClr val="000000"/>
                </a:solidFill>
                <a:latin typeface="Calibri"/>
                <a:ea typeface="Calibri"/>
                <a:cs typeface="Calibri"/>
              </a:rPr>
              <a:t>6. SOCIAL &amp; ECONOMIC</a:t>
            </a:r>
            <a:endParaRPr sz="1000"/>
          </a:p>
          <a:p>
            <a:pPr marL="0" indent="0">
              <a:spcBef>
                <a:spcPts val="500"/>
              </a:spcBef>
              <a:buNone/>
            </a:pPr>
            <a:r>
              <a:rPr sz="1100" b="1">
                <a:solidFill>
                  <a:srgbClr val="000000"/>
                </a:solidFill>
                <a:latin typeface="Calibri"/>
                <a:ea typeface="Calibri"/>
                <a:cs typeface="Calibri"/>
              </a:rPr>
              <a:t>Stretches Scarce Receiver Bandwidth</a:t>
            </a:r>
            <a:endParaRPr sz="1000"/>
          </a:p>
          <a:p>
            <a:pPr marL="0" indent="0">
              <a:spcBef>
                <a:spcPts val="400"/>
              </a:spcBef>
              <a:buNone/>
            </a:pPr>
            <a:r>
              <a:rPr sz="1050">
                <a:solidFill>
                  <a:srgbClr val="000000"/>
                </a:solidFill>
                <a:latin typeface="Calibri"/>
                <a:ea typeface="Calibri"/>
                <a:cs typeface="Calibri"/>
              </a:rPr>
              <a:t>Software evaluation of receiver allocation before hardware trials. Three source modes and an open-source stack.</a:t>
            </a:r>
            <a:endParaRPr sz="1000"/>
          </a:p>
        </p:txBody>
      </p:sp>
      <p:sp>
        <p:nvSpPr>
          <p:cNvPr id="21" name="Shape 19"/>
          <p:cNvSpPr/>
          <p:nvPr/>
        </p:nvSpPr>
        <p:spPr>
          <a:xfrm>
            <a:off x="182880" y="4526280"/>
            <a:ext cx="8778240" cy="274320"/>
          </a:xfrm>
          <a:prstGeom prst="rect">
            <a:avLst/>
          </a:prstGeom>
          <a:solidFill>
            <a:srgbClr val="FFFFFF"/>
          </a:solidFill>
          <a:ln w="25400">
            <a:solidFill>
              <a:srgbClr val="C00000"/>
            </a:solidFill>
            <a:prstDash val="solid"/>
          </a:ln>
        </p:spPr>
        <p:txBody>
          <a:bodyPr/>
          <a:lstStyle/>
          <a:p>
            <a:endParaRPr/>
          </a:p>
        </p:txBody>
      </p:sp>
      <p:sp>
        <p:nvSpPr>
          <p:cNvPr id="22" name="Text 20"/>
          <p:cNvSpPr txBox="1"/>
          <p:nvPr/>
        </p:nvSpPr>
        <p:spPr>
          <a:xfrm>
            <a:off x="182880" y="4526280"/>
            <a:ext cx="8778240" cy="274320"/>
          </a:xfrm>
          <a:prstGeom prst="rect">
            <a:avLst/>
          </a:prstGeom>
          <a:noFill/>
          <a:ln/>
        </p:spPr>
        <p:txBody>
          <a:bodyPr wrap="square" lIns="0" tIns="0" rIns="0" bIns="0" anchor="ctr"/>
          <a:lstStyle/>
          <a:p>
            <a:pPr marL="0" indent="0" algn="ctr">
              <a:buNone/>
            </a:pPr>
            <a:r>
              <a:rPr sz="900" b="1">
                <a:solidFill>
                  <a:srgbClr val="000000"/>
                </a:solidFill>
                <a:latin typeface="Calibri"/>
                <a:ea typeface="Calibri"/>
                <a:cs typeface="Calibri"/>
              </a:rPr>
              <a:t>Turning a bandwidth-limited receiver into an adaptive, explainable, uncertainty-aware spectrum scout</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09728"/>
            <a:ext cx="868680" cy="384048"/>
          </a:xfrm>
          <a:prstGeom prst="ellipse">
            <a:avLst/>
          </a:prstGeom>
          <a:solidFill>
            <a:srgbClr val="F7941D"/>
          </a:solidFill>
          <a:ln w="19050">
            <a:solidFill>
              <a:srgbClr val="7F5FA8"/>
            </a:solidFill>
            <a:prstDash val="solid"/>
          </a:ln>
        </p:spPr>
        <p:txBody>
          <a:bodyPr/>
          <a:lstStyle/>
          <a:p>
            <a:endParaRPr/>
          </a:p>
        </p:txBody>
      </p:sp>
      <p:sp>
        <p:nvSpPr>
          <p:cNvPr id="3" name="Text 1"/>
          <p:cNvSpPr txBox="1"/>
          <p:nvPr/>
        </p:nvSpPr>
        <p:spPr>
          <a:xfrm>
            <a:off x="137160" y="109728"/>
            <a:ext cx="868680" cy="384048"/>
          </a:xfrm>
          <a:prstGeom prst="rect">
            <a:avLst/>
          </a:prstGeom>
          <a:noFill/>
          <a:ln/>
        </p:spPr>
        <p:txBody>
          <a:bodyPr wrap="square" lIns="0" tIns="0" rIns="0" bIns="0" anchor="ctr"/>
          <a:lstStyle/>
          <a:p>
            <a:pPr marL="0" indent="0" algn="ctr">
              <a:buNone/>
            </a:pPr>
            <a:r>
              <a:rPr sz="1100">
                <a:solidFill>
                  <a:srgbClr val="000000"/>
                </a:solidFill>
                <a:latin typeface="Calibri"/>
                <a:ea typeface="Calibri"/>
                <a:cs typeface="Calibri"/>
              </a:rPr>
              <a:t>Alphax</a:t>
            </a:r>
            <a:endParaRPr sz="1100"/>
          </a:p>
        </p:txBody>
      </p:sp>
      <p:sp>
        <p:nvSpPr>
          <p:cNvPr id="4" name="Text 2"/>
          <p:cNvSpPr txBox="1"/>
          <p:nvPr/>
        </p:nvSpPr>
        <p:spPr>
          <a:xfrm>
            <a:off x="1097280" y="73152"/>
            <a:ext cx="6583680" cy="502920"/>
          </a:xfrm>
          <a:prstGeom prst="rect">
            <a:avLst/>
          </a:prstGeom>
          <a:noFill/>
          <a:ln/>
        </p:spPr>
        <p:txBody>
          <a:bodyPr wrap="square" lIns="0" tIns="0" rIns="0" bIns="0" anchor="ctr"/>
          <a:lstStyle/>
          <a:p>
            <a:pPr marL="0" indent="0" algn="ctr">
              <a:buNone/>
            </a:pPr>
            <a:r>
              <a:rPr sz="2200" b="1" u="sng">
                <a:solidFill>
                  <a:srgbClr val="000000"/>
                </a:solidFill>
                <a:latin typeface="Cambria"/>
                <a:ea typeface="Cambria"/>
                <a:cs typeface="Cambria"/>
              </a:rPr>
              <a:t>RESEARCH, EVIDENCE AND ADOPTION</a:t>
            </a:r>
            <a:endParaRPr sz="2200"/>
          </a:p>
        </p:txBody>
      </p:sp>
      <p:sp>
        <p:nvSpPr>
          <p:cNvPr id="5" name="Text 3"/>
          <p:cNvSpPr txBox="1"/>
          <p:nvPr/>
        </p:nvSpPr>
        <p:spPr>
          <a:xfrm>
            <a:off x="7772400" y="45720"/>
            <a:ext cx="1234440" cy="548640"/>
          </a:xfrm>
          <a:prstGeom prst="rect">
            <a:avLst/>
          </a:prstGeom>
          <a:noFill/>
          <a:ln/>
        </p:spPr>
        <p:txBody>
          <a:bodyPr wrap="square" lIns="0" tIns="0" rIns="0" bIns="0" anchor="ctr"/>
          <a:lstStyle/>
          <a:p>
            <a:pPr marL="0" indent="0" algn="r">
              <a:buNone/>
            </a:pPr>
            <a:r>
              <a:rPr sz="800" b="1">
                <a:solidFill>
                  <a:srgbClr val="3E4A56"/>
                </a:solidFill>
                <a:latin typeface="Calibri"/>
                <a:ea typeface="Calibri"/>
                <a:cs typeface="Calibri"/>
              </a:rPr>
              <a:t>SMART INDIA</a:t>
            </a:r>
            <a:endParaRPr sz="800"/>
          </a:p>
          <a:p>
            <a:pPr marL="0" indent="0" algn="r">
              <a:buNone/>
            </a:pPr>
            <a:r>
              <a:rPr sz="800" b="1">
                <a:solidFill>
                  <a:srgbClr val="3E4A56"/>
                </a:solidFill>
                <a:latin typeface="Calibri"/>
                <a:ea typeface="Calibri"/>
                <a:cs typeface="Calibri"/>
              </a:rPr>
              <a:t>HACKATHON</a:t>
            </a:r>
            <a:endParaRPr sz="800"/>
          </a:p>
          <a:p>
            <a:pPr marL="0" indent="0" algn="r">
              <a:buNone/>
            </a:pPr>
            <a:r>
              <a:rPr sz="800" b="1">
                <a:solidFill>
                  <a:srgbClr val="3E4A56"/>
                </a:solidFill>
                <a:latin typeface="Calibri"/>
                <a:ea typeface="Calibri"/>
                <a:cs typeface="Calibri"/>
              </a:rPr>
              <a:t>2026</a:t>
            </a:r>
            <a:endParaRPr sz="800"/>
          </a:p>
        </p:txBody>
      </p:sp>
      <p:sp>
        <p:nvSpPr>
          <p:cNvPr id="6" name="Shape 4"/>
          <p:cNvSpPr/>
          <p:nvPr/>
        </p:nvSpPr>
        <p:spPr>
          <a:xfrm>
            <a:off x="0" y="4869180"/>
            <a:ext cx="9144000" cy="274320"/>
          </a:xfrm>
          <a:prstGeom prst="rect">
            <a:avLst/>
          </a:prstGeom>
          <a:solidFill>
            <a:srgbClr val="0071C1"/>
          </a:solidFill>
          <a:ln w="12700">
            <a:solidFill>
              <a:srgbClr val="0071C1"/>
            </a:solidFill>
            <a:prstDash val="solid"/>
          </a:ln>
        </p:spPr>
        <p:txBody>
          <a:bodyPr/>
          <a:lstStyle/>
          <a:p>
            <a:endParaRPr/>
          </a:p>
        </p:txBody>
      </p:sp>
      <p:sp>
        <p:nvSpPr>
          <p:cNvPr id="7" name="Text 5"/>
          <p:cNvSpPr txBox="1"/>
          <p:nvPr/>
        </p:nvSpPr>
        <p:spPr>
          <a:xfrm>
            <a:off x="0" y="4869180"/>
            <a:ext cx="9144000" cy="274320"/>
          </a:xfrm>
          <a:prstGeom prst="rect">
            <a:avLst/>
          </a:prstGeom>
          <a:noFill/>
          <a:ln/>
        </p:spPr>
        <p:txBody>
          <a:bodyPr wrap="square" lIns="0" tIns="0" rIns="0" bIns="0" anchor="ctr"/>
          <a:lstStyle/>
          <a:p>
            <a:pPr marL="0" indent="0" algn="ctr">
              <a:buNone/>
            </a:pPr>
            <a:r>
              <a:rPr sz="800">
                <a:solidFill>
                  <a:srgbClr val="FFFFFF"/>
                </a:solidFill>
                <a:latin typeface="Calibri"/>
                <a:ea typeface="Calibri"/>
                <a:cs typeface="Calibri"/>
              </a:rPr>
              <a:t>@SIH Idea submission- Template</a:t>
            </a:r>
            <a:endParaRPr sz="800"/>
          </a:p>
        </p:txBody>
      </p:sp>
      <p:sp>
        <p:nvSpPr>
          <p:cNvPr id="8" name="Text 6"/>
          <p:cNvSpPr txBox="1"/>
          <p:nvPr/>
        </p:nvSpPr>
        <p:spPr>
          <a:xfrm>
            <a:off x="8412480" y="4869180"/>
            <a:ext cx="548640" cy="274320"/>
          </a:xfrm>
          <a:prstGeom prst="rect">
            <a:avLst/>
          </a:prstGeom>
          <a:noFill/>
          <a:ln/>
        </p:spPr>
        <p:txBody>
          <a:bodyPr wrap="square" lIns="0" tIns="0" rIns="0" bIns="0" anchor="ctr"/>
          <a:lstStyle/>
          <a:p>
            <a:pPr marL="0" indent="0" algn="r">
              <a:buNone/>
            </a:pPr>
            <a:r>
              <a:rPr sz="800" b="1">
                <a:solidFill>
                  <a:srgbClr val="FFFFFF"/>
                </a:solidFill>
                <a:latin typeface="Calibri"/>
                <a:ea typeface="Calibri"/>
                <a:cs typeface="Calibri"/>
              </a:rPr>
              <a:t>6</a:t>
            </a:r>
            <a:endParaRPr sz="800"/>
          </a:p>
        </p:txBody>
      </p:sp>
      <p:graphicFrame>
        <p:nvGraphicFramePr>
          <p:cNvPr id="9" name="Chart 0"/>
          <p:cNvGraphicFramePr/>
          <p:nvPr/>
        </p:nvGraphicFramePr>
        <p:xfrm>
          <a:off x="182880" y="658368"/>
          <a:ext cx="420624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26280" y="685800"/>
          <a:ext cx="4434840" cy="1760220"/>
        </p:xfrm>
        <a:graphic>
          <a:graphicData uri="http://schemas.openxmlformats.org/drawingml/2006/table">
            <a:tbl>
              <a:tblPr/>
              <a:tblGrid>
                <a:gridCol w="1280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4F81B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Key Finding</a:t>
                      </a:r>
                      <a:endParaRPr lang="en-US" sz="9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4F81B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Research Gap</a:t>
                      </a:r>
                      <a:endParaRPr lang="en-US" sz="90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0">
                <a:tc>
                  <a:txBody>
                    <a:bodyPr/>
                    <a:lstStyle/>
                    <a:p>
                      <a:pPr marL="0" indent="0">
                        <a:buNone/>
                      </a:pPr>
                      <a:r>
                        <a:rPr sz="850">
                          <a:solidFill>
                            <a:srgbClr val="000000"/>
                          </a:solidFill>
                          <a:latin typeface="Calibri"/>
                          <a:ea typeface="Calibri"/>
                          <a:cs typeface="Calibri"/>
                        </a:rPr>
                        <a:t>Official TSRD benchmark</a:t>
                      </a:r>
                      <a:endParaRPr sz="850">
                        <a:latin typeface="Calibri"/>
                        <a:ea typeface="Calibri"/>
                        <a:cs typeface="Calibri"/>
                      </a:endParaRPr>
                    </a:p>
                    <a:p>
                      <a:pPr marL="0" indent="0">
                        <a:buNone/>
                      </a:pPr>
                      <a:r>
                        <a:rPr sz="850">
                          <a:solidFill>
                            <a:srgbClr val="000000"/>
                          </a:solidFill>
                          <a:latin typeface="Calibri"/>
                          <a:ea typeface="Calibri"/>
                          <a:cs typeface="Calibri"/>
                        </a:rPr>
                        <a:t>24 worlds, seeds 42–47</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sz="850">
                          <a:solidFill>
                            <a:srgbClr val="000000"/>
                          </a:solidFill>
                          <a:latin typeface="Calibri"/>
                          <a:ea typeface="Calibri"/>
                          <a:cs typeface="Calibri"/>
                        </a:rPr>
                        <a:t>4/64 recall: MAG 31.48%</a:t>
                      </a:r>
                      <a:endParaRPr sz="850">
                        <a:latin typeface="Calibri"/>
                        <a:ea typeface="Calibri"/>
                        <a:cs typeface="Calibri"/>
                      </a:endParaRPr>
                    </a:p>
                    <a:p>
                      <a:pPr marL="0" indent="0">
                        <a:buNone/>
                      </a:pPr>
                      <a:r>
                        <a:rPr sz="850">
                          <a:solidFill>
                            <a:srgbClr val="000000"/>
                          </a:solidFill>
                          <a:latin typeface="Calibri"/>
                          <a:ea typeface="Calibri"/>
                          <a:cs typeface="Calibri"/>
                        </a:rPr>
                        <a:t>Fixed 5.47%, TS 36.75%</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sz="850">
                          <a:solidFill>
                            <a:srgbClr val="000000"/>
                          </a:solidFill>
                          <a:latin typeface="Calibri"/>
                          <a:ea typeface="Calibri"/>
                          <a:cs typeface="Calibri"/>
                        </a:rPr>
                        <a:t>One validation recording</a:t>
                      </a:r>
                      <a:endParaRPr sz="850">
                        <a:latin typeface="Calibri"/>
                        <a:ea typeface="Calibri"/>
                        <a:cs typeface="Calibri"/>
                      </a:endParaRPr>
                    </a:p>
                    <a:p>
                      <a:pPr marL="0" indent="0">
                        <a:buNone/>
                      </a:pPr>
                      <a:r>
                        <a:rPr sz="850">
                          <a:solidFill>
                            <a:srgbClr val="000000"/>
                          </a:solidFill>
                          <a:latin typeface="Calibri"/>
                          <a:ea typeface="Calibri"/>
                          <a:cs typeface="Calibri"/>
                        </a:rPr>
                        <a:t>Modeled receiver energy</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extLst>
                  <a:ext uri="{0D108BD9-81ED-4DB2-BD59-A6C34878D82A}">
                    <a16:rowId xmlns:a16="http://schemas.microsoft.com/office/drawing/2014/main" val="10001"/>
                  </a:ext>
                </a:extLst>
              </a:tr>
              <a:tr h="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e-CALLISTO archive (Anchorage, 2024-05-10)</a:t>
                      </a:r>
                      <a:endParaRPr lang="en-US" sz="85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705,600 measured samples ingested with SHA-256 provenance</a:t>
                      </a:r>
                      <a:endParaRPr lang="en-US" sz="85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Solar radio, no labelled EW emitter truth</a:t>
                      </a:r>
                      <a:endParaRPr lang="en-US" sz="85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extLst>
                  <a:ext uri="{0D108BD9-81ED-4DB2-BD59-A6C34878D82A}">
                    <a16:rowId xmlns:a16="http://schemas.microsoft.com/office/drawing/2014/main" val="10002"/>
                  </a:ext>
                </a:extLst>
              </a:tr>
              <a:tr h="0">
                <a:tc>
                  <a:txBody>
                    <a:bodyPr/>
                    <a:lstStyle/>
                    <a:p>
                      <a:pPr marL="0" indent="0">
                        <a:buNone/>
                      </a:pPr>
                      <a:r>
                        <a:rPr sz="850">
                          <a:solidFill>
                            <a:srgbClr val="000000"/>
                          </a:solidFill>
                          <a:latin typeface="Calibri"/>
                          <a:ea typeface="Calibri"/>
                          <a:cs typeface="Calibri"/>
                        </a:rPr>
                        <a:t>TSRD / Hugging Face</a:t>
                      </a:r>
                      <a:endParaRPr sz="850">
                        <a:latin typeface="Calibri"/>
                        <a:ea typeface="Calibri"/>
                        <a:cs typeface="Calibri"/>
                      </a:endParaRPr>
                    </a:p>
                    <a:p>
                      <a:pPr marL="0" indent="0">
                        <a:buNone/>
                      </a:pPr>
                      <a:r>
                        <a:rPr sz="850">
                          <a:solidFill>
                            <a:srgbClr val="000000"/>
                          </a:solidFill>
                          <a:latin typeface="Calibri"/>
                          <a:ea typeface="Calibri"/>
                          <a:cs typeface="Calibri"/>
                        </a:rPr>
                        <a:t>Alan Turing Institute</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sz="850">
                          <a:solidFill>
                            <a:srgbClr val="000000"/>
                          </a:solidFill>
                          <a:latin typeface="Calibri"/>
                          <a:ea typeface="Calibri"/>
                          <a:cs typeface="Calibri"/>
                        </a:rPr>
                        <a:t>648,034 official pulses</a:t>
                      </a:r>
                      <a:endParaRPr sz="850">
                        <a:latin typeface="Calibri"/>
                        <a:ea typeface="Calibri"/>
                        <a:cs typeface="Calibri"/>
                      </a:endParaRPr>
                    </a:p>
                    <a:p>
                      <a:pPr marL="0" indent="0">
                        <a:buNone/>
                      </a:pPr>
                      <a:r>
                        <a:rPr sz="850">
                          <a:solidFill>
                            <a:srgbClr val="000000"/>
                          </a:solidFill>
                          <a:latin typeface="Calibri"/>
                          <a:ea typeface="Calibri"/>
                          <a:cs typeface="Calibri"/>
                        </a:rPr>
                        <a:t>6 seeds, 8 policies tested</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sz="850">
                          <a:solidFill>
                            <a:srgbClr val="000000"/>
                          </a:solidFill>
                          <a:latin typeface="Calibri"/>
                          <a:ea typeface="Calibri"/>
                          <a:cs typeface="Calibri"/>
                        </a:rPr>
                        <a:t>Synthetic radar source</a:t>
                      </a:r>
                      <a:endParaRPr sz="850">
                        <a:latin typeface="Calibri"/>
                        <a:ea typeface="Calibri"/>
                        <a:cs typeface="Calibri"/>
                      </a:endParaRPr>
                    </a:p>
                    <a:p>
                      <a:pPr marL="0" indent="0">
                        <a:buNone/>
                      </a:pPr>
                      <a:r>
                        <a:rPr sz="850">
                          <a:solidFill>
                            <a:srgbClr val="000000"/>
                          </a:solidFill>
                          <a:latin typeface="Calibri"/>
                          <a:ea typeface="Calibri"/>
                          <a:cs typeface="Calibri"/>
                        </a:rPr>
                        <a:t>No field validation</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extLst>
                  <a:ext uri="{0D108BD9-81ED-4DB2-BD59-A6C34878D82A}">
                    <a16:rowId xmlns:a16="http://schemas.microsoft.com/office/drawing/2014/main" val="10003"/>
                  </a:ext>
                </a:extLst>
              </a:tr>
              <a:tr h="0">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Periodic challenge</a:t>
                      </a:r>
                      <a:endParaRPr lang="en-US" sz="85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sz="850">
                          <a:solidFill>
                            <a:srgbClr val="000000"/>
                          </a:solidFill>
                          <a:latin typeface="Calibri"/>
                          <a:ea typeface="Calibri"/>
                          <a:cs typeface="Calibri"/>
                        </a:rPr>
                        <a:t>Seed-42 demo: 18 slots</a:t>
                      </a:r>
                      <a:endParaRPr sz="850">
                        <a:latin typeface="Calibri"/>
                        <a:ea typeface="Calibri"/>
                        <a:cs typeface="Calibri"/>
                      </a:endParaRPr>
                    </a:p>
                    <a:p>
                      <a:pPr marL="0" indent="0">
                        <a:buNone/>
                      </a:pPr>
                      <a:r>
                        <a:rPr sz="850">
                          <a:solidFill>
                            <a:srgbClr val="000000"/>
                          </a:solidFill>
                          <a:latin typeface="Calibri"/>
                          <a:ea typeface="Calibri"/>
                          <a:cs typeface="Calibri"/>
                        </a:rPr>
                        <a:t>1.8 s at 100 ms/slot</a:t>
                      </a:r>
                      <a:endParaRPr sz="850">
                        <a:latin typeface="Calibri"/>
                        <a:ea typeface="Calibri"/>
                        <a:cs typeface="Calibri"/>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tc>
                  <a:txBody>
                    <a:bodyPr/>
                    <a:lstStyle/>
                    <a:p>
                      <a:pPr marL="0" indent="0">
                        <a:buNone/>
                      </a:pPr>
                      <a:r>
                        <a:rPr lang="en-US" sz="850" dirty="0">
                          <a:solidFill>
                            <a:srgbClr val="000000"/>
                          </a:solidFill>
                          <a:latin typeface="Calibri" pitchFamily="34" charset="0"/>
                          <a:ea typeface="Calibri" pitchFamily="34" charset="-122"/>
                          <a:cs typeface="Calibri" pitchFamily="34" charset="-120"/>
                        </a:rPr>
                        <a:t>Confidence is heuristic, uncalibrated</a:t>
                      </a:r>
                      <a:endParaRPr lang="en-US" sz="850" dirty="0">
                        <a:latin typeface="Calibri" charset="0"/>
                        <a:ea typeface="Calibri" charset="0"/>
                        <a:cs typeface="Calibri" charset="0"/>
                      </a:endParaRPr>
                    </a:p>
                  </a:txBody>
                  <a:tcPr anchor="ctr">
                    <a:lnL w="9525" cap="flat" cmpd="sng" algn="ctr">
                      <a:solidFill>
                        <a:srgbClr val="9FB2C8"/>
                      </a:solidFill>
                      <a:prstDash val="solid"/>
                      <a:round/>
                      <a:headEnd type="none" w="med" len="med"/>
                      <a:tailEnd type="none" w="med" len="med"/>
                    </a:lnL>
                    <a:lnR w="9525" cap="flat" cmpd="sng" algn="ctr">
                      <a:solidFill>
                        <a:srgbClr val="9FB2C8"/>
                      </a:solidFill>
                      <a:prstDash val="solid"/>
                      <a:round/>
                      <a:headEnd type="none" w="med" len="med"/>
                      <a:tailEnd type="none" w="med" len="med"/>
                    </a:lnR>
                    <a:lnT w="9525" cap="flat" cmpd="sng" algn="ctr">
                      <a:solidFill>
                        <a:srgbClr val="9FB2C8"/>
                      </a:solidFill>
                      <a:prstDash val="solid"/>
                      <a:round/>
                      <a:headEnd type="none" w="med" len="med"/>
                      <a:tailEnd type="none" w="med" len="med"/>
                    </a:lnT>
                    <a:lnB w="9525" cap="flat" cmpd="sng" algn="ctr">
                      <a:solidFill>
                        <a:srgbClr val="9FB2C8"/>
                      </a:solidFill>
                      <a:prstDash val="solid"/>
                      <a:round/>
                      <a:headEnd type="none" w="med" len="med"/>
                      <a:tailEnd type="none" w="med" len="med"/>
                    </a:lnB>
                    <a:solidFill>
                      <a:srgbClr val="EAF0F8"/>
                    </a:solidFill>
                  </a:tcPr>
                </a:tc>
                <a:extLst>
                  <a:ext uri="{0D108BD9-81ED-4DB2-BD59-A6C34878D82A}">
                    <a16:rowId xmlns:a16="http://schemas.microsoft.com/office/drawing/2014/main" val="10004"/>
                  </a:ext>
                </a:extLst>
              </a:tr>
            </a:tbl>
          </a:graphicData>
        </a:graphic>
      </p:graphicFrame>
      <p:sp>
        <p:nvSpPr>
          <p:cNvPr id="11" name="Shape 7"/>
          <p:cNvSpPr/>
          <p:nvPr/>
        </p:nvSpPr>
        <p:spPr>
          <a:xfrm>
            <a:off x="182880" y="3520440"/>
            <a:ext cx="2834640" cy="1252728"/>
          </a:xfrm>
          <a:prstGeom prst="roundRect">
            <a:avLst>
              <a:gd name="adj" fmla="val 5839"/>
            </a:avLst>
          </a:prstGeom>
          <a:solidFill>
            <a:srgbClr val="E4E6D6"/>
          </a:solidFill>
          <a:ln w="15875">
            <a:solidFill>
              <a:srgbClr val="000000"/>
            </a:solidFill>
            <a:prstDash val="solid"/>
          </a:ln>
        </p:spPr>
        <p:txBody>
          <a:bodyPr/>
          <a:lstStyle/>
          <a:p>
            <a:endParaRPr/>
          </a:p>
        </p:txBody>
      </p:sp>
      <p:sp>
        <p:nvSpPr>
          <p:cNvPr id="12" name="Text 8"/>
          <p:cNvSpPr txBox="1"/>
          <p:nvPr/>
        </p:nvSpPr>
        <p:spPr>
          <a:xfrm>
            <a:off x="292608" y="3566160"/>
            <a:ext cx="2615184" cy="1161288"/>
          </a:xfrm>
          <a:prstGeom prst="rect">
            <a:avLst/>
          </a:prstGeom>
          <a:noFill/>
          <a:ln/>
        </p:spPr>
        <p:txBody>
          <a:bodyPr wrap="square" lIns="0" tIns="0" rIns="0" bIns="0" anchor="ctr"/>
          <a:lstStyle/>
          <a:p>
            <a:pPr marL="0" indent="0">
              <a:buNone/>
            </a:pPr>
            <a:r>
              <a:rPr sz="1100" b="1">
                <a:solidFill>
                  <a:srgbClr val="000000"/>
                </a:solidFill>
                <a:latin typeface="Calibri"/>
                <a:ea typeface="Calibri"/>
                <a:cs typeface="Calibri"/>
              </a:rPr>
              <a:t>Potential Applications</a:t>
            </a:r>
            <a:endParaRPr sz="1100"/>
          </a:p>
          <a:p>
            <a:pPr marL="0" indent="0">
              <a:spcBef>
                <a:spcPts val="400"/>
              </a:spcBef>
              <a:buNone/>
            </a:pPr>
            <a:r>
              <a:rPr sz="1000">
                <a:solidFill>
                  <a:srgbClr val="000000"/>
                </a:solidFill>
                <a:latin typeface="Calibri"/>
                <a:ea typeface="Calibri"/>
                <a:cs typeface="Calibri"/>
              </a:rPr>
              <a:t>Defence spectrum monitoring, cognitive radio, spectrum management, SDR receiver platforms</a:t>
            </a:r>
            <a:endParaRPr sz="1100"/>
          </a:p>
        </p:txBody>
      </p:sp>
      <p:sp>
        <p:nvSpPr>
          <p:cNvPr id="13" name="Shape 9"/>
          <p:cNvSpPr/>
          <p:nvPr/>
        </p:nvSpPr>
        <p:spPr>
          <a:xfrm>
            <a:off x="3108960" y="3520440"/>
            <a:ext cx="2834640" cy="1252728"/>
          </a:xfrm>
          <a:prstGeom prst="roundRect">
            <a:avLst>
              <a:gd name="adj" fmla="val 5839"/>
            </a:avLst>
          </a:prstGeom>
          <a:solidFill>
            <a:srgbClr val="E4E6D6"/>
          </a:solidFill>
          <a:ln w="15875">
            <a:solidFill>
              <a:srgbClr val="000000"/>
            </a:solidFill>
            <a:prstDash val="solid"/>
          </a:ln>
        </p:spPr>
        <p:txBody>
          <a:bodyPr/>
          <a:lstStyle/>
          <a:p>
            <a:endParaRPr/>
          </a:p>
        </p:txBody>
      </p:sp>
      <p:sp>
        <p:nvSpPr>
          <p:cNvPr id="14" name="Text 10"/>
          <p:cNvSpPr txBox="1"/>
          <p:nvPr/>
        </p:nvSpPr>
        <p:spPr>
          <a:xfrm>
            <a:off x="3218688" y="3566160"/>
            <a:ext cx="2615184" cy="1161288"/>
          </a:xfrm>
          <a:prstGeom prst="rect">
            <a:avLst/>
          </a:prstGeom>
          <a:noFill/>
          <a:ln/>
        </p:spPr>
        <p:txBody>
          <a:bodyPr wrap="square" lIns="0" tIns="0" rIns="0" bIns="0" anchor="ctr"/>
          <a:lstStyle/>
          <a:p>
            <a:pPr marL="0" indent="0">
              <a:buNone/>
            </a:pPr>
            <a:r>
              <a:rPr sz="1100" b="1">
                <a:solidFill>
                  <a:srgbClr val="000000"/>
                </a:solidFill>
                <a:latin typeface="Calibri"/>
                <a:ea typeface="Calibri"/>
                <a:cs typeface="Calibri"/>
              </a:rPr>
              <a:t>Initial Users</a:t>
            </a:r>
            <a:endParaRPr sz="1100"/>
          </a:p>
          <a:p>
            <a:pPr marL="0" indent="0">
              <a:spcBef>
                <a:spcPts val="400"/>
              </a:spcBef>
              <a:buNone/>
            </a:pPr>
            <a:r>
              <a:rPr sz="1000">
                <a:solidFill>
                  <a:srgbClr val="000000"/>
                </a:solidFill>
                <a:latin typeface="Calibri"/>
                <a:ea typeface="Calibri"/>
                <a:cs typeface="Calibri"/>
              </a:rPr>
              <a:t>EW research labs, receiver developers, evaluators of scan-strategy algorithms</a:t>
            </a:r>
            <a:endParaRPr sz="1100"/>
          </a:p>
        </p:txBody>
      </p:sp>
      <p:sp>
        <p:nvSpPr>
          <p:cNvPr id="15" name="Shape 11"/>
          <p:cNvSpPr/>
          <p:nvPr/>
        </p:nvSpPr>
        <p:spPr>
          <a:xfrm>
            <a:off x="6035040" y="3520440"/>
            <a:ext cx="2834640" cy="1252728"/>
          </a:xfrm>
          <a:prstGeom prst="roundRect">
            <a:avLst>
              <a:gd name="adj" fmla="val 5839"/>
            </a:avLst>
          </a:prstGeom>
          <a:solidFill>
            <a:srgbClr val="E4E6D6"/>
          </a:solidFill>
          <a:ln w="15875">
            <a:solidFill>
              <a:srgbClr val="000000"/>
            </a:solidFill>
            <a:prstDash val="solid"/>
          </a:ln>
        </p:spPr>
        <p:txBody>
          <a:bodyPr/>
          <a:lstStyle/>
          <a:p>
            <a:endParaRPr/>
          </a:p>
        </p:txBody>
      </p:sp>
      <p:sp>
        <p:nvSpPr>
          <p:cNvPr id="16" name="Text 12"/>
          <p:cNvSpPr txBox="1"/>
          <p:nvPr/>
        </p:nvSpPr>
        <p:spPr>
          <a:xfrm>
            <a:off x="6144768" y="3566160"/>
            <a:ext cx="2615184" cy="1161288"/>
          </a:xfrm>
          <a:prstGeom prst="rect">
            <a:avLst/>
          </a:prstGeom>
          <a:noFill/>
          <a:ln/>
        </p:spPr>
        <p:txBody>
          <a:bodyPr wrap="square" lIns="0" tIns="0" rIns="0" bIns="0" anchor="ctr"/>
          <a:lstStyle/>
          <a:p>
            <a:pPr marL="0" indent="0">
              <a:buNone/>
            </a:pPr>
            <a:r>
              <a:rPr sz="1100" b="1">
                <a:solidFill>
                  <a:srgbClr val="000000"/>
                </a:solidFill>
                <a:latin typeface="Calibri"/>
                <a:ea typeface="Calibri"/>
                <a:cs typeface="Calibri"/>
              </a:rPr>
              <a:t>Proposed Pilot Path</a:t>
            </a:r>
            <a:endParaRPr sz="1100"/>
          </a:p>
          <a:p>
            <a:pPr marL="0" indent="0">
              <a:spcBef>
                <a:spcPts val="400"/>
              </a:spcBef>
              <a:buNone/>
            </a:pPr>
            <a:r>
              <a:rPr sz="1000">
                <a:solidFill>
                  <a:srgbClr val="000000"/>
                </a:solidFill>
                <a:latin typeface="Calibri"/>
                <a:ea typeface="Calibri"/>
                <a:cs typeface="Calibri"/>
              </a:rPr>
              <a:t>Research prototyping, benchmarking, hardware-in-the-loop pilots</a:t>
            </a:r>
            <a:endParaRPr sz="1100"/>
          </a:p>
        </p:txBody>
      </p:sp>
      <p:sp>
        <p:nvSpPr>
          <p:cNvPr id="17" name="Judging links heading">
            <a:extLst>
              <a:ext uri="{FF2B5EF4-FFF2-40B4-BE49-F238E27FC236}">
                <a16:creationId xmlns:a16="http://schemas.microsoft.com/office/drawing/2014/main" id="{3687C540-615E-4652-9545-D1CA4224EDBE}"/>
              </a:ext>
            </a:extLst>
          </p:cNvPr>
          <p:cNvSpPr>
            <a:spLocks noGrp="1"/>
          </p:cNvSpPr>
          <p:nvPr/>
        </p:nvSpPr>
        <p:spPr>
          <a:xfrm>
            <a:off x="4552950" y="2781300"/>
            <a:ext cx="4400550" cy="180975"/>
          </a:xfrm>
          <a:prstGeom prst="rect">
            <a:avLst/>
          </a:prstGeom>
          <a:noFill/>
          <a:ln w="0">
            <a:noFill/>
          </a:ln>
        </p:spPr>
        <p:txBody>
          <a:bodyPr>
            <a:noAutofit/>
          </a:bodyPr>
          <a:lstStyle/>
          <a:p>
            <a:pPr>
              <a:defRPr sz="975" b="1">
                <a:solidFill>
                  <a:srgbClr val="000000"/>
                </a:solidFill>
                <a:latin typeface="Calibri"/>
                <a:ea typeface="Calibri"/>
                <a:cs typeface="Calibri"/>
              </a:defRPr>
            </a:pPr>
            <a:r>
              <a:rPr sz="975" b="1">
                <a:solidFill>
                  <a:srgbClr val="000000"/>
                </a:solidFill>
                <a:latin typeface="Calibri"/>
                <a:ea typeface="Calibri"/>
                <a:cs typeface="Calibri"/>
              </a:rPr>
              <a:t>DEMO &amp; SOURCE LINKS</a:t>
            </a:r>
          </a:p>
        </p:txBody>
      </p:sp>
      <p:sp>
        <p:nvSpPr>
          <p:cNvPr id="18" name="Azure website link">
            <a:extLst>
              <a:ext uri="{FF2B5EF4-FFF2-40B4-BE49-F238E27FC236}">
                <a16:creationId xmlns:a16="http://schemas.microsoft.com/office/drawing/2014/main" id="{AA7F2811-1970-4943-B651-7C180289EF8B}"/>
              </a:ext>
            </a:extLst>
          </p:cNvPr>
          <p:cNvSpPr>
            <a:spLocks noGrp="1"/>
          </p:cNvSpPr>
          <p:nvPr/>
        </p:nvSpPr>
        <p:spPr>
          <a:xfrm>
            <a:off x="4552950" y="2952750"/>
            <a:ext cx="4400550" cy="180975"/>
          </a:xfrm>
          <a:prstGeom prst="rect">
            <a:avLst/>
          </a:prstGeom>
          <a:noFill/>
          <a:ln w="0">
            <a:noFill/>
          </a:ln>
        </p:spPr>
        <p:txBody>
          <a:bodyPr>
            <a:noAutofit/>
          </a:bodyPr>
          <a:lstStyle/>
          <a:p>
            <a:pPr>
              <a:defRPr sz="975" b="1">
                <a:solidFill>
                  <a:srgbClr val="0563C1"/>
                </a:solidFill>
                <a:latin typeface="Calibri"/>
                <a:ea typeface="Calibri"/>
                <a:cs typeface="Calibri"/>
              </a:defRPr>
            </a:pPr>
            <a:r>
              <a:rPr sz="975" b="1" u="sng">
                <a:solidFill>
                  <a:srgbClr val="0563C1"/>
                </a:solidFill>
                <a:latin typeface="Calibri"/>
                <a:ea typeface="Calibri"/>
                <a:cs typeface="Calibri"/>
                <a:hlinkClick r:id="rIdJudgesWebsite"/>
              </a:rPr>
              <a:t>LIVE WEBSITE (AZURE): CLICK TO OPEN</a:t>
            </a:r>
          </a:p>
        </p:txBody>
      </p:sp>
      <p:sp>
        <p:nvSpPr>
          <p:cNvPr id="19" name="GitHub source link">
            <a:extLst>
              <a:ext uri="{FF2B5EF4-FFF2-40B4-BE49-F238E27FC236}">
                <a16:creationId xmlns:a16="http://schemas.microsoft.com/office/drawing/2014/main" id="{152DF556-9B62-43F2-9496-74E5A9B0EC1F}"/>
              </a:ext>
            </a:extLst>
          </p:cNvPr>
          <p:cNvSpPr>
            <a:spLocks noGrp="1"/>
          </p:cNvSpPr>
          <p:nvPr/>
        </p:nvSpPr>
        <p:spPr>
          <a:xfrm>
            <a:off x="4552950" y="3124200"/>
            <a:ext cx="4400550" cy="180975"/>
          </a:xfrm>
          <a:prstGeom prst="rect">
            <a:avLst/>
          </a:prstGeom>
          <a:noFill/>
          <a:ln w="0">
            <a:noFill/>
          </a:ln>
        </p:spPr>
        <p:txBody>
          <a:bodyPr>
            <a:noAutofit/>
          </a:bodyPr>
          <a:lstStyle/>
          <a:p>
            <a:pPr>
              <a:defRPr sz="975" b="1">
                <a:solidFill>
                  <a:srgbClr val="0563C1"/>
                </a:solidFill>
                <a:latin typeface="Calibri"/>
                <a:ea typeface="Calibri"/>
                <a:cs typeface="Calibri"/>
              </a:defRPr>
            </a:pPr>
            <a:r>
              <a:rPr sz="975" b="1" u="sng">
                <a:solidFill>
                  <a:srgbClr val="0563C1"/>
                </a:solidFill>
                <a:latin typeface="Calibri"/>
                <a:ea typeface="Calibri"/>
                <a:cs typeface="Calibri"/>
                <a:hlinkClick r:id="rIdJudgesGitHub"/>
              </a:rPr>
              <a:t>GITHUB: Siddhanthkjain2005/AAMS-X</a:t>
            </a:r>
          </a:p>
        </p:txBody>
      </p:sp>
      <p:sp>
        <p:nvSpPr>
          <p:cNvPr id="20" name="YouTube placeholder">
            <a:extLst>
              <a:ext uri="{FF2B5EF4-FFF2-40B4-BE49-F238E27FC236}">
                <a16:creationId xmlns:a16="http://schemas.microsoft.com/office/drawing/2014/main" id="{7B628ED6-090F-4B80-94BB-1F7A93D6814C}"/>
              </a:ext>
            </a:extLst>
          </p:cNvPr>
          <p:cNvSpPr>
            <a:spLocks noGrp="1"/>
          </p:cNvSpPr>
          <p:nvPr/>
        </p:nvSpPr>
        <p:spPr>
          <a:xfrm>
            <a:off x="4552950" y="3295650"/>
            <a:ext cx="4400550" cy="180975"/>
          </a:xfrm>
          <a:prstGeom prst="rect">
            <a:avLst/>
          </a:prstGeom>
          <a:noFill/>
          <a:ln w="0">
            <a:noFill/>
          </a:ln>
        </p:spPr>
        <p:txBody>
          <a:bodyPr>
            <a:noAutofit/>
          </a:bodyPr>
          <a:lstStyle/>
          <a:p>
            <a:pPr>
              <a:defRPr sz="975" b="1">
                <a:solidFill>
                  <a:srgbClr val="B45F06"/>
                </a:solidFill>
                <a:latin typeface="Calibri"/>
                <a:ea typeface="Calibri"/>
                <a:cs typeface="Calibri"/>
              </a:defRPr>
            </a:pPr>
            <a:r>
              <a:rPr sz="975" b="1">
                <a:solidFill>
                  <a:srgbClr val="B45F06"/>
                </a:solidFill>
                <a:latin typeface="Calibri"/>
                <a:ea typeface="Calibri"/>
                <a:cs typeface="Calibri"/>
              </a:rPr>
              <a:t>YOUTUBE DEMO: ADD VIDEO LINK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TotalTime>
  <Words>918</Words>
  <Application>Microsoft Office PowerPoint</Application>
  <PresentationFormat>On-screen Show (16:9)</PresentationFormat>
  <Paragraphs>165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AAMS-X SIH 2026</dc:title>
  <dc:subject>PptxGenJS Presentation</dc:subject>
  <dc:creator>PptxGenJS</dc:creator>
  <cp:lastModifiedBy>Asrith Alapati</cp:lastModifiedBy>
  <cp:revision>4</cp:revision>
  <dcterms:created xsi:type="dcterms:W3CDTF">2026-09-29T06:06:49Z</dcterms:created>
  <dcterms:modified xsi:type="dcterms:W3CDTF">2026-09-29T14:00:01Z</dcterms:modified>
</cp:coreProperties>
</file>