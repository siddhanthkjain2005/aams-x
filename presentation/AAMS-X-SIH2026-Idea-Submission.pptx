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29184" y="585216"/>
            <a:ext cx="5138928" cy="1572768"/>
          </a:xfrm>
        </p:spPr>
        <p:txBody>
          <a:bodyPr wrap="square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4E86"/>
                </a:solidFill>
                <a:latin typeface="Arial"/>
              </a:rPr>
              <a:t>AAMS-X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>
                <a:solidFill>
                  <a:srgbClr val="0F8B80"/>
                </a:solidFill>
                <a:latin typeface="Arial"/>
              </a:rPr>
              <a:t>Adaptive Active Multi-band Spectrum eXplorer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3D5163"/>
                </a:solidFill>
                <a:latin typeface="Arial"/>
              </a:rPr>
              <a:t>An explainable active-sensing scheduler for wideband receivers, measured on real public spectrum.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9184" y="36576"/>
            <a:ext cx="5138928" cy="475488"/>
          </a:xfrm>
        </p:spPr>
        <p:txBody>
          <a:bodyPr wrap="square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4E86"/>
                </a:solidFill>
                <a:latin typeface="Arial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249424"/>
            <a:ext cx="5138928" cy="2103120"/>
          </a:xfrm>
          <a:prstGeom prst="rect">
            <a:avLst/>
          </a:prstGeom>
          <a:noFill/>
        </p:spPr>
        <p:txBody>
          <a:bodyPr wrap="square" rtlCol="0" lIns="0" t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D8F"/>
                </a:solidFill>
                <a:latin typeface="Arial"/>
              </a:rPr>
              <a:t>Problem Statement ID – </a:t>
            </a:r>
            <a:r>
              <a:rPr sz="1050" b="1" i="0">
                <a:solidFill>
                  <a:srgbClr val="0D1B2A"/>
                </a:solidFill>
                <a:latin typeface="Arial"/>
              </a:rPr>
              <a:t>SIH26055</a:t>
            </a:r>
            <a:endParaRPr lang="en-US" dirty="0"/>
          </a:p>
          <a:p>
            <a:pPr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</a:pPr>
            <a:r>
              <a:rPr sz="1050" b="1" i="0">
                <a:solidFill>
                  <a:srgbClr val="6B7D8F"/>
                </a:solidFill>
                <a:latin typeface="Arial"/>
              </a:rPr>
              <a:t>Problem Statement Title – </a:t>
            </a:r>
            <a:r>
              <a:rPr sz="1050" b="1" i="0">
                <a:solidFill>
                  <a:srgbClr val="0D1B2A"/>
                </a:solidFill>
                <a:latin typeface="Arial"/>
              </a:rPr>
              <a:t>Smart Scan Strategy for Electronic Warfare</a:t>
            </a:r>
          </a:p>
          <a:p>
            <a:pPr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</a:pPr>
            <a:r>
              <a:rPr sz="1050" b="1" i="0">
                <a:solidFill>
                  <a:srgbClr val="6B7D8F"/>
                </a:solidFill>
                <a:latin typeface="Arial"/>
              </a:rPr>
              <a:t>Theme – </a:t>
            </a:r>
            <a:r>
              <a:rPr sz="1050" b="1" i="0">
                <a:solidFill>
                  <a:srgbClr val="0D1B2A"/>
                </a:solidFill>
                <a:latin typeface="Arial"/>
              </a:rPr>
              <a:t>Robotics and Drones</a:t>
            </a:r>
          </a:p>
          <a:p>
            <a:pPr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</a:pPr>
            <a:r>
              <a:rPr sz="1050" b="1" i="0">
                <a:solidFill>
                  <a:srgbClr val="6B7D8F"/>
                </a:solidFill>
                <a:latin typeface="Arial"/>
              </a:rPr>
              <a:t>PS Category – </a:t>
            </a:r>
            <a:r>
              <a:rPr sz="1050" b="1" i="0">
                <a:solidFill>
                  <a:srgbClr val="0D1B2A"/>
                </a:solidFill>
                <a:latin typeface="Arial"/>
              </a:rPr>
              <a:t>Software</a:t>
            </a:r>
          </a:p>
          <a:p>
            <a:pPr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</a:pPr>
            <a:r>
              <a:rPr sz="1050" b="1" i="0">
                <a:solidFill>
                  <a:srgbClr val="6B7D8F"/>
                </a:solidFill>
                <a:latin typeface="Arial"/>
              </a:rPr>
              <a:t>Team ID – </a:t>
            </a:r>
            <a:r>
              <a:rPr sz="1050" b="1" i="0">
                <a:solidFill>
                  <a:srgbClr val="0D1B2A"/>
                </a:solidFill>
                <a:latin typeface="Arial"/>
              </a:rPr>
              <a:t>&lt; Team ID &gt;</a:t>
            </a:r>
          </a:p>
          <a:p>
            <a:pPr algn="l">
              <a:lnSpc>
                <a:spcPct val="95000"/>
              </a:lnSpc>
              <a:spcBef>
                <a:spcPts val="450"/>
              </a:spcBef>
              <a:spcAft>
                <a:spcPts val="0"/>
              </a:spcAft>
            </a:pPr>
            <a:r>
              <a:rPr sz="1050" b="1" i="0">
                <a:solidFill>
                  <a:srgbClr val="6B7D8F"/>
                </a:solidFill>
                <a:latin typeface="Arial"/>
              </a:rPr>
              <a:t>Team Name – </a:t>
            </a:r>
            <a:r>
              <a:rPr sz="1050" b="1" i="0">
                <a:solidFill>
                  <a:srgbClr val="0D1B2A"/>
                </a:solidFill>
                <a:latin typeface="Arial"/>
              </a:rPr>
              <a:t>Alpha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29184" y="4425696"/>
            <a:ext cx="5138928" cy="1719072"/>
          </a:xfrm>
          <a:prstGeom prst="roundRect">
            <a:avLst>
              <a:gd name="adj" fmla="val 55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329184" y="4425696"/>
            <a:ext cx="45720" cy="1719072"/>
          </a:xfrm>
          <a:prstGeom prst="rect">
            <a:avLst/>
          </a:prstGeom>
          <a:solidFill>
            <a:srgbClr val="0F8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" y="4535424"/>
            <a:ext cx="4828032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8B80"/>
                </a:solidFill>
                <a:latin typeface="Arial"/>
              </a:rPr>
              <a:t>WORKING SYSTEM  ·  REAL DATA  ·  REPRODUCIBLE</a:t>
            </a:r>
          </a:p>
          <a:p>
            <a:pPr algn="l" indent="-118872" marL="118872">
              <a:lnSpc>
                <a:spcPct val="94000"/>
              </a:lnSpc>
              <a:spcBef>
                <a:spcPts val="400"/>
              </a:spcBef>
              <a:spcAft>
                <a:spcPts val="0"/>
              </a:spcAft>
            </a:pPr>
            <a:r>
              <a:rPr sz="80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800" b="1" i="0">
                <a:solidFill>
                  <a:srgbClr val="0D1B2A"/>
                </a:solidFill>
                <a:latin typeface="Arial"/>
              </a:rPr>
              <a:t>7 real e-CALLISTO recordings</a:t>
            </a:r>
            <a:r>
              <a:rPr sz="800" b="0" i="0">
                <a:solidFill>
                  <a:srgbClr val="3D5163"/>
                </a:solidFill>
                <a:latin typeface="Arial"/>
              </a:rPr>
              <a:t>  139 MB cached · 218 M spectrogram cells · is_synthetic: false, always</a:t>
            </a:r>
          </a:p>
          <a:p>
            <a:pPr algn="l" indent="-118872" marL="118872">
              <a:lnSpc>
                <a:spcPct val="94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800" b="1" i="0">
                <a:solidFill>
                  <a:srgbClr val="0D1B2A"/>
                </a:solidFill>
                <a:latin typeface="Arial"/>
              </a:rPr>
              <a:t>252 benchmark episodes</a:t>
            </a:r>
            <a:r>
              <a:rPr sz="800" b="0" i="0">
                <a:solidFill>
                  <a:srgbClr val="3D5163"/>
                </a:solidFill>
                <a:latin typeface="Arial"/>
              </a:rPr>
              <a:t>  6 seeds × 6 policies × 7 presets — wins and losses both published</a:t>
            </a:r>
          </a:p>
          <a:p>
            <a:pPr algn="l" indent="-118872" marL="118872">
              <a:lnSpc>
                <a:spcPct val="94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800" b="1" i="0">
                <a:solidFill>
                  <a:srgbClr val="0D1B2A"/>
                </a:solidFill>
                <a:latin typeface="Arial"/>
              </a:rPr>
              <a:t>406 / 406 published values re-derive</a:t>
            </a:r>
            <a:r>
              <a:rPr sz="800" b="0" i="0">
                <a:solidFill>
                  <a:srgbClr val="3D5163"/>
                </a:solidFill>
                <a:latin typeface="Arial"/>
              </a:rPr>
              <a:t>  1,456 stored comparisons audited, 0 disagreements</a:t>
            </a:r>
          </a:p>
          <a:p>
            <a:pPr algn="l" indent="-118872" marL="118872">
              <a:lnSpc>
                <a:spcPct val="94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800" b="1" i="0">
                <a:solidFill>
                  <a:srgbClr val="0D1B2A"/>
                </a:solidFill>
                <a:latin typeface="Arial"/>
              </a:rPr>
              <a:t>0.31 ms median decision</a:t>
            </a:r>
            <a:r>
              <a:rPr sz="800" b="0" i="0">
                <a:solidFill>
                  <a:srgbClr val="3D5163"/>
                </a:solidFill>
                <a:latin typeface="Arial"/>
              </a:rPr>
              <a:t>  against a 250 ms environment step · CPU only, no GPU</a:t>
            </a:r>
          </a:p>
          <a:p>
            <a:pPr algn="l" indent="-118872" marL="118872">
              <a:lnSpc>
                <a:spcPct val="94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800" b="1" i="0">
                <a:solidFill>
                  <a:srgbClr val="0D1B2A"/>
                </a:solidFill>
                <a:latin typeface="Arial"/>
              </a:rPr>
              <a:t>Deployed and running</a:t>
            </a:r>
            <a:r>
              <a:rPr sz="800" b="0" i="0">
                <a:solidFill>
                  <a:srgbClr val="3D5163"/>
                </a:solidFill>
                <a:latin typeface="Arial"/>
              </a:rPr>
              <a:t>  http://98.130.46.223 — Docker Compose behind nginx</a:t>
            </a:r>
          </a:p>
        </p:txBody>
      </p:sp>
      <p:pic>
        <p:nvPicPr>
          <p:cNvPr id="40" name="Picture 39" descr="command_ce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133856"/>
            <a:ext cx="6190488" cy="331490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669280" y="4485338"/>
            <a:ext cx="6190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B7D8F"/>
                </a:solidFill>
                <a:latin typeface="Arial"/>
              </a:rPr>
              <a:t>Command Center, live — real recording replaying, belief map, the eight-term decision decomposition, run KPIs.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0" y="4773168"/>
            <a:ext cx="6190488" cy="14996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669280" y="4773168"/>
            <a:ext cx="6190488" cy="32004"/>
          </a:xfrm>
          <a:prstGeom prst="rect">
            <a:avLst/>
          </a:prstGeom>
          <a:solidFill>
            <a:srgbClr val="6B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11012" y="4896612"/>
            <a:ext cx="5907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6B7D8F"/>
                </a:solidFill>
                <a:latin typeface="Arial"/>
              </a:rPr>
              <a:t>SCOPE, STATED UP FRONT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1012" y="5138928"/>
            <a:ext cx="590702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6B7D8F"/>
                </a:solidFill>
                <a:latin typeface="Arial"/>
              </a:rPr>
              <a:t>▪  </a:t>
            </a:r>
            <a:r>
              <a:rPr sz="880" b="1" i="0">
                <a:solidFill>
                  <a:srgbClr val="0D1B2A"/>
                </a:solidFill>
                <a:latin typeface="Arial"/>
              </a:rPr>
              <a:t>Domain</a:t>
            </a:r>
            <a:r>
              <a:rPr sz="880" b="0" i="0">
                <a:solidFill>
                  <a:srgbClr val="3D5163"/>
                </a:solidFill>
                <a:latin typeface="Arial"/>
              </a:rPr>
              <a:t>  public e-CALLISTO solar-radio recordings, replayed from a local cache.</a:t>
            </a:r>
          </a:p>
          <a:p>
            <a:pPr algn="l" indent="-118872" marL="118872">
              <a:lnSpc>
                <a:spcPct val="94000"/>
              </a:lnSpc>
              <a:spcBef>
                <a:spcPts val="360"/>
              </a:spcBef>
              <a:spcAft>
                <a:spcPts val="0"/>
              </a:spcAft>
            </a:pPr>
            <a:r>
              <a:rPr sz="880" b="1" i="0">
                <a:solidFill>
                  <a:srgbClr val="6B7D8F"/>
                </a:solidFill>
                <a:latin typeface="Arial"/>
              </a:rPr>
              <a:t>▪  </a:t>
            </a:r>
            <a:r>
              <a:rPr sz="880" b="1" i="0">
                <a:solidFill>
                  <a:srgbClr val="0D1B2A"/>
                </a:solidFill>
                <a:latin typeface="Arial"/>
              </a:rPr>
              <a:t>Out of scope on purpose</a:t>
            </a:r>
            <a:r>
              <a:rPr sz="880" b="0" i="0">
                <a:solidFill>
                  <a:srgbClr val="3D5163"/>
                </a:solidFill>
                <a:latin typeface="Arial"/>
              </a:rPr>
              <a:t>  no transmission, no jamming, no emitter identification, no geolocation, no hardware control.</a:t>
            </a:r>
          </a:p>
          <a:p>
            <a:pPr algn="l" indent="-118872" marL="118872">
              <a:lnSpc>
                <a:spcPct val="94000"/>
              </a:lnSpc>
              <a:spcBef>
                <a:spcPts val="360"/>
              </a:spcBef>
              <a:spcAft>
                <a:spcPts val="0"/>
              </a:spcAft>
            </a:pPr>
            <a:r>
              <a:rPr sz="880" b="1" i="0">
                <a:solidFill>
                  <a:srgbClr val="6B7D8F"/>
                </a:solidFill>
                <a:latin typeface="Arial"/>
              </a:rPr>
              <a:t>▪  </a:t>
            </a:r>
            <a:r>
              <a:rPr sz="880" b="1" i="0">
                <a:solidFill>
                  <a:srgbClr val="0D1B2A"/>
                </a:solidFill>
                <a:latin typeface="Arial"/>
              </a:rPr>
              <a:t>Transferable part</a:t>
            </a:r>
            <a:r>
              <a:rPr sz="880" b="0" i="0">
                <a:solidFill>
                  <a:srgbClr val="3D5163"/>
                </a:solidFill>
                <a:latin typeface="Arial"/>
              </a:rPr>
              <a:t>  budgeted active sensing under non-stationarity — the mathematics is domain-independent.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00784" y="18288"/>
            <a:ext cx="7863840" cy="78638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29184" y="841248"/>
            <a:ext cx="11530584" cy="512064"/>
          </a:xfrm>
          <a:prstGeom prst="roundRect">
            <a:avLst>
              <a:gd name="adj" fmla="val 24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3" name="TextBox 15362"/>
          <p:cNvSpPr txBox="1"/>
          <p:nvPr/>
        </p:nvSpPr>
        <p:spPr>
          <a:xfrm>
            <a:off x="530352" y="896112"/>
            <a:ext cx="111282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070C0"/>
                </a:solidFill>
                <a:latin typeface="Arial"/>
              </a:rPr>
              <a:t>THE IDEA IN ONE LINE  —  </a:t>
            </a:r>
            <a:r>
              <a:rPr sz="1040" b="0" i="0">
                <a:solidFill>
                  <a:srgbClr val="0D1B2A"/>
                </a:solidFill>
                <a:latin typeface="Arial"/>
              </a:rPr>
              <a:t>A receiver can only listen to a slice of the band at a time. AAMS-X decides where to point it next — on real public spectrum recordings, with every decision explainable and every number reproducible.</a:t>
            </a:r>
          </a:p>
        </p:txBody>
      </p:sp>
      <p:pic>
        <p:nvPicPr>
          <p:cNvPr id="15364" name="Picture 15363" descr="problem_aper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1481328"/>
            <a:ext cx="5760720" cy="2292109"/>
          </a:xfrm>
          <a:prstGeom prst="rect">
            <a:avLst/>
          </a:prstGeom>
        </p:spPr>
      </p:pic>
      <p:sp>
        <p:nvSpPr>
          <p:cNvPr id="15365" name="TextBox 15364"/>
          <p:cNvSpPr txBox="1"/>
          <p:nvPr/>
        </p:nvSpPr>
        <p:spPr>
          <a:xfrm>
            <a:off x="329184" y="3800868"/>
            <a:ext cx="5760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B7D8F"/>
                </a:solidFill>
                <a:latin typeface="Arial"/>
              </a:rPr>
              <a:t>Measured from the cache: 4 of 48 regions visible per step — 8.3 % of the band.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6364224" y="1133856"/>
            <a:ext cx="5495544" cy="26395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7" name="Rectangle 15366"/>
          <p:cNvSpPr/>
          <p:nvPr/>
        </p:nvSpPr>
        <p:spPr>
          <a:xfrm>
            <a:off x="6364224" y="1133856"/>
            <a:ext cx="5495544" cy="32004"/>
          </a:xfrm>
          <a:prstGeom prst="rect">
            <a:avLst/>
          </a:prstGeom>
          <a:solidFill>
            <a:srgbClr val="6D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6505956" y="1257300"/>
            <a:ext cx="5212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6D4FD8"/>
                </a:solidFill>
                <a:latin typeface="Arial"/>
              </a:rPr>
              <a:t>WHAT IS NEW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6505956" y="1499616"/>
            <a:ext cx="5212080" cy="2136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Contiguous-window action space.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The scheduler picks a physically realisable tuning — a start channel and a span — not an unordered set of regions.</a:t>
            </a:r>
          </a:p>
          <a:p>
            <a:pPr algn="l" indent="-118872" marL="118872">
              <a:lnSpc>
                <a:spcPct val="94000"/>
              </a:lnSpc>
              <a:spcBef>
                <a:spcPts val="459"/>
              </a:spcBef>
              <a:spcAft>
                <a:spcPts val="0"/>
              </a:spcAft>
            </a:pPr>
            <a:r>
              <a:rPr sz="94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Memory of contexts, not actions.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24 bounded prototypes; retrieval is one modern-Hopfield step at β = 12, so a returning environment is recognised, not relearned.</a:t>
            </a:r>
          </a:p>
          <a:p>
            <a:pPr algn="l" indent="-118872" marL="118872">
              <a:lnSpc>
                <a:spcPct val="94000"/>
              </a:lnSpc>
              <a:spcBef>
                <a:spcPts val="459"/>
              </a:spcBef>
              <a:spcAft>
                <a:spcPts val="0"/>
              </a:spcAft>
            </a:pPr>
            <a:r>
              <a:rPr sz="94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The score is the algorithm.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8 additive terms with published weights. The UI shows the chosen window and the runner-up, term by term — no post-hoc attribution.</a:t>
            </a:r>
          </a:p>
          <a:p>
            <a:pPr algn="l" indent="-118872" marL="118872">
              <a:lnSpc>
                <a:spcPct val="94000"/>
              </a:lnSpc>
              <a:spcBef>
                <a:spcPts val="459"/>
              </a:spcBef>
              <a:spcAft>
                <a:spcPts val="0"/>
              </a:spcAft>
            </a:pPr>
            <a:r>
              <a:rPr sz="94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Change detection gates memory.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A Page-Hinkley + EWMA detector suppresses stale recall the moment the environment moves.</a:t>
            </a:r>
          </a:p>
          <a:p>
            <a:pPr algn="l" indent="-118872" marL="118872">
              <a:lnSpc>
                <a:spcPct val="94000"/>
              </a:lnSpc>
              <a:spcBef>
                <a:spcPts val="459"/>
              </a:spcBef>
              <a:spcAft>
                <a:spcPts val="0"/>
              </a:spcAft>
            </a:pPr>
            <a:r>
              <a:rPr sz="94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Losses are published.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3 significant wins, 2 significant losses across 7 presets, each with the mechanism named.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329184" y="40294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  <a:latin typeface="Arial"/>
              </a:rPr>
              <a:t>HOW IT WORKS · ONE DECISION, FOUR STAGES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329184" y="4230636"/>
            <a:ext cx="2512314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1B2A"/>
                </a:solidFill>
                <a:latin typeface="Arial"/>
              </a:rPr>
              <a:t>1. Sense</a:t>
            </a:r>
          </a:p>
          <a:p>
            <a:pPr algn="l">
              <a:lnSpc>
                <a:spcPct val="92000"/>
              </a:lnSpc>
              <a:spcBef>
                <a:spcPts val="120"/>
              </a:spcBef>
              <a:spcAft>
                <a:spcPts val="0"/>
              </a:spcAft>
            </a:pPr>
            <a:r>
              <a:rPr sz="760" b="0" i="0">
                <a:solidFill>
                  <a:srgbClr val="3D5163"/>
                </a:solidFill>
                <a:latin typeface="Arial"/>
              </a:rPr>
              <a:t>replay a real recording; only the chosen window is revealed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329184" y="4230636"/>
            <a:ext cx="38404" cy="457200"/>
          </a:xfrm>
          <a:prstGeom prst="rect">
            <a:avLst/>
          </a:prstGeom>
          <a:solidFill>
            <a:srgbClr val="0F8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Right Arrow 15372"/>
          <p:cNvSpPr/>
          <p:nvPr/>
        </p:nvSpPr>
        <p:spPr>
          <a:xfrm>
            <a:off x="2873502" y="4386084"/>
            <a:ext cx="210312" cy="146304"/>
          </a:xfrm>
          <a:prstGeom prst="rightArrow">
            <a:avLst/>
          </a:prstGeom>
          <a:solidFill>
            <a:srgbClr val="93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3335274" y="4230636"/>
            <a:ext cx="2512314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1B2A"/>
                </a:solidFill>
                <a:latin typeface="Arial"/>
              </a:rPr>
              <a:t>2. Believe</a:t>
            </a:r>
          </a:p>
          <a:p>
            <a:pPr algn="l">
              <a:lnSpc>
                <a:spcPct val="92000"/>
              </a:lnSpc>
              <a:spcBef>
                <a:spcPts val="120"/>
              </a:spcBef>
              <a:spcAft>
                <a:spcPts val="0"/>
              </a:spcAft>
            </a:pPr>
            <a:r>
              <a:rPr sz="760" b="0" i="0">
                <a:solidFill>
                  <a:srgbClr val="3D5163"/>
                </a:solidFill>
                <a:latin typeface="Arial"/>
              </a:rPr>
              <a:t>per-region Beta posterior, decaying while unobserved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3335274" y="4230636"/>
            <a:ext cx="38404" cy="457200"/>
          </a:xfrm>
          <a:prstGeom prst="rect">
            <a:avLst/>
          </a:prstGeom>
          <a:solidFill>
            <a:srgbClr val="1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ight Arrow 15375"/>
          <p:cNvSpPr/>
          <p:nvPr/>
        </p:nvSpPr>
        <p:spPr>
          <a:xfrm>
            <a:off x="5879592" y="4386084"/>
            <a:ext cx="210312" cy="146304"/>
          </a:xfrm>
          <a:prstGeom prst="rightArrow">
            <a:avLst/>
          </a:prstGeom>
          <a:solidFill>
            <a:srgbClr val="93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6341364" y="4230636"/>
            <a:ext cx="2512314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1B2A"/>
                </a:solidFill>
                <a:latin typeface="Arial"/>
              </a:rPr>
              <a:t>3. Decide</a:t>
            </a:r>
          </a:p>
          <a:p>
            <a:pPr algn="l">
              <a:lnSpc>
                <a:spcPct val="92000"/>
              </a:lnSpc>
              <a:spcBef>
                <a:spcPts val="120"/>
              </a:spcBef>
              <a:spcAft>
                <a:spcPts val="0"/>
              </a:spcAft>
            </a:pPr>
            <a:r>
              <a:rPr sz="760" b="0" i="0">
                <a:solidFill>
                  <a:srgbClr val="3D5163"/>
                </a:solidFill>
                <a:latin typeface="Arial"/>
              </a:rPr>
              <a:t>score every contiguous window on 8 terms, then sample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6341364" y="4230636"/>
            <a:ext cx="38404" cy="457200"/>
          </a:xfrm>
          <a:prstGeom prst="rect">
            <a:avLst/>
          </a:prstGeom>
          <a:solidFill>
            <a:srgbClr val="6D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Right Arrow 15378"/>
          <p:cNvSpPr/>
          <p:nvPr/>
        </p:nvSpPr>
        <p:spPr>
          <a:xfrm>
            <a:off x="8885682" y="4386084"/>
            <a:ext cx="210312" cy="146304"/>
          </a:xfrm>
          <a:prstGeom prst="rightArrow">
            <a:avLst/>
          </a:prstGeom>
          <a:solidFill>
            <a:srgbClr val="93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ounded Rectangle 15379"/>
          <p:cNvSpPr/>
          <p:nvPr/>
        </p:nvSpPr>
        <p:spPr>
          <a:xfrm>
            <a:off x="9347454" y="4230636"/>
            <a:ext cx="2512314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1B2A"/>
                </a:solidFill>
                <a:latin typeface="Arial"/>
              </a:rPr>
              <a:t>4. Explain</a:t>
            </a:r>
          </a:p>
          <a:p>
            <a:pPr algn="l">
              <a:lnSpc>
                <a:spcPct val="92000"/>
              </a:lnSpc>
              <a:spcBef>
                <a:spcPts val="120"/>
              </a:spcBef>
              <a:spcAft>
                <a:spcPts val="0"/>
              </a:spcAft>
            </a:pPr>
            <a:r>
              <a:rPr sz="760" b="0" i="0">
                <a:solidFill>
                  <a:srgbClr val="3D5163"/>
                </a:solidFill>
                <a:latin typeface="Arial"/>
              </a:rPr>
              <a:t>emit the decomposition, the runner-up and a note</a:t>
            </a:r>
          </a:p>
        </p:txBody>
      </p:sp>
      <p:sp>
        <p:nvSpPr>
          <p:cNvPr id="15381" name="Rectangle 15380"/>
          <p:cNvSpPr/>
          <p:nvPr/>
        </p:nvSpPr>
        <p:spPr>
          <a:xfrm>
            <a:off x="9347454" y="4230636"/>
            <a:ext cx="38404" cy="4572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Rounded Rectangle 15381"/>
          <p:cNvSpPr/>
          <p:nvPr/>
        </p:nvSpPr>
        <p:spPr>
          <a:xfrm>
            <a:off x="329184" y="4779276"/>
            <a:ext cx="5760720" cy="14935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3" name="Rectangle 15382"/>
          <p:cNvSpPr/>
          <p:nvPr/>
        </p:nvSpPr>
        <p:spPr>
          <a:xfrm>
            <a:off x="329184" y="4779276"/>
            <a:ext cx="5760720" cy="32004"/>
          </a:xfrm>
          <a:prstGeom prst="rect">
            <a:avLst/>
          </a:prstGeom>
          <a:solidFill>
            <a:srgbClr val="0F8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470916" y="4902720"/>
            <a:ext cx="54772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8B80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70916" y="5145036"/>
            <a:ext cx="5477256" cy="990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Scarcity is the constraint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8.3 % of the band is visible per step; the policy turns that into an information-maximising schedule instead of a sweep.</a:t>
            </a:r>
          </a:p>
          <a:p>
            <a:pPr algn="l" indent="-118872" marL="118872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</a:pPr>
            <a:r>
              <a:rPr sz="94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Non-stationarity is explicit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periodicity and change detection are separate, measurable terms — not hyperparameters.</a:t>
            </a:r>
          </a:p>
          <a:p>
            <a:pPr algn="l" indent="-118872" marL="118872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</a:pPr>
            <a:r>
              <a:rPr sz="94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Trust is a requirement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an operator can read why the receiver moved; a deep-RL policy cannot supply that.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6364224" y="4779276"/>
            <a:ext cx="5495544" cy="14935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7" name="Rectangle 15386"/>
          <p:cNvSpPr/>
          <p:nvPr/>
        </p:nvSpPr>
        <p:spPr>
          <a:xfrm>
            <a:off x="6364224" y="4779276"/>
            <a:ext cx="5495544" cy="32004"/>
          </a:xfrm>
          <a:prstGeom prst="rect">
            <a:avLst/>
          </a:prstGeom>
          <a:solidFill>
            <a:srgbClr val="1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TextBox 15387"/>
          <p:cNvSpPr txBox="1"/>
          <p:nvPr/>
        </p:nvSpPr>
        <p:spPr>
          <a:xfrm>
            <a:off x="6505956" y="4902720"/>
            <a:ext cx="5212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7FC4"/>
                </a:solidFill>
                <a:latin typeface="Arial"/>
              </a:rPr>
              <a:t>WHAT A JUDGE CAN CHECK IN 60 SECONDS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6505956" y="5145036"/>
            <a:ext cx="5212080" cy="990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F7FC4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Open the provenance panel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source URL, retrieval time, preprocessing chain, licence, is_synthetic: false.</a:t>
            </a:r>
          </a:p>
          <a:p>
            <a:pPr algn="l" indent="-118872" marL="118872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</a:pPr>
            <a:r>
              <a:rPr sz="940" b="1" i="0">
                <a:solidFill>
                  <a:srgbClr val="1F7FC4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Toggle the truth overlay off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the scheduler never had it; belief tracks it anyway.</a:t>
            </a:r>
          </a:p>
          <a:p>
            <a:pPr algn="l" indent="-118872" marL="118872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</a:pPr>
            <a:r>
              <a:rPr sz="940" b="1" i="0">
                <a:solidFill>
                  <a:srgbClr val="1F7FC4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Run the arena, then the ablation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a preset it wins, then one it loses.</a:t>
            </a:r>
          </a:p>
          <a:p>
            <a:pPr algn="l" indent="-118872" marL="118872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</a:pPr>
            <a:r>
              <a:rPr sz="940" b="1" i="0">
                <a:solidFill>
                  <a:srgbClr val="1F7FC4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Press Replay on a history row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the episode re-runs and must reproduce the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784" y="18288"/>
            <a:ext cx="7863840" cy="78638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859536"/>
            <a:ext cx="6309360" cy="3249025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29184" y="4135993"/>
            <a:ext cx="6309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B7D8F"/>
                </a:solidFill>
                <a:latin typeface="Arial"/>
              </a:rPr>
              <a:t>Five layers, each one directory. The sealed boundary is enforced by tests.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912864" y="1133856"/>
            <a:ext cx="4946904" cy="297470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Rectangle 17412"/>
          <p:cNvSpPr/>
          <p:nvPr/>
        </p:nvSpPr>
        <p:spPr>
          <a:xfrm>
            <a:off x="6912864" y="1133856"/>
            <a:ext cx="4946904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054596" y="1257300"/>
            <a:ext cx="4663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70C0"/>
                </a:solidFill>
                <a:latin typeface="Arial"/>
              </a:rPr>
              <a:t>TECHNOLOGIES USED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054596" y="1499616"/>
            <a:ext cx="4663440" cy="24717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F7FC4"/>
                </a:solidFill>
                <a:latin typeface="Arial"/>
              </a:rPr>
              <a:t>▪  </a:t>
            </a:r>
            <a:r>
              <a:rPr sz="960" b="1" i="0">
                <a:solidFill>
                  <a:srgbClr val="0D1B2A"/>
                </a:solidFill>
                <a:latin typeface="Arial"/>
              </a:rPr>
              <a:t>Core</a:t>
            </a:r>
            <a:r>
              <a:rPr sz="960" b="0" i="0">
                <a:solidFill>
                  <a:srgbClr val="3D5163"/>
                </a:solidFill>
                <a:latin typeface="Arial"/>
              </a:rPr>
              <a:t>  Python 3.11 · NumPy · SciPy — 72 modules, 12,007 lines, mypy clean</a:t>
            </a:r>
          </a:p>
          <a:p>
            <a:pPr algn="l" indent="-118872" marL="118872">
              <a:lnSpc>
                <a:spcPct val="94000"/>
              </a:lnSpc>
              <a:spcBef>
                <a:spcPts val="459"/>
              </a:spcBef>
              <a:spcAft>
                <a:spcPts val="0"/>
              </a:spcAft>
            </a:pPr>
            <a:r>
              <a:rPr sz="960" b="1" i="0">
                <a:solidFill>
                  <a:srgbClr val="1F7FC4"/>
                </a:solidFill>
                <a:latin typeface="Arial"/>
              </a:rPr>
              <a:t>▪  </a:t>
            </a:r>
            <a:r>
              <a:rPr sz="960" b="1" i="0">
                <a:solidFill>
                  <a:srgbClr val="0D1B2A"/>
                </a:solidFill>
                <a:latin typeface="Arial"/>
              </a:rPr>
              <a:t>Service</a:t>
            </a:r>
            <a:r>
              <a:rPr sz="960" b="0" i="0">
                <a:solidFill>
                  <a:srgbClr val="3D5163"/>
                </a:solidFill>
                <a:latin typeface="Arial"/>
              </a:rPr>
              <a:t>  FastAPI · Pydantic v2 · Uvicorn — 24 HTTP routes + 1 WebSocket, OpenAPI generated</a:t>
            </a:r>
          </a:p>
          <a:p>
            <a:pPr algn="l" indent="-118872" marL="118872">
              <a:lnSpc>
                <a:spcPct val="94000"/>
              </a:lnSpc>
              <a:spcBef>
                <a:spcPts val="459"/>
              </a:spcBef>
              <a:spcAft>
                <a:spcPts val="0"/>
              </a:spcAft>
            </a:pPr>
            <a:r>
              <a:rPr sz="960" b="1" i="0">
                <a:solidFill>
                  <a:srgbClr val="1F7FC4"/>
                </a:solidFill>
                <a:latin typeface="Arial"/>
              </a:rPr>
              <a:t>▪  </a:t>
            </a:r>
            <a:r>
              <a:rPr sz="960" b="1" i="0">
                <a:solidFill>
                  <a:srgbClr val="0D1B2A"/>
                </a:solidFill>
                <a:latin typeface="Arial"/>
              </a:rPr>
              <a:t>Interface</a:t>
            </a:r>
            <a:r>
              <a:rPr sz="960" b="0" i="0">
                <a:solidFill>
                  <a:srgbClr val="3D5163"/>
                </a:solidFill>
                <a:latin typeface="Arial"/>
              </a:rPr>
              <a:t>  React 19 · TypeScript · Vite · Tailwind — 13 screens, Canvas waterfall at 60 fps</a:t>
            </a:r>
          </a:p>
          <a:p>
            <a:pPr algn="l" indent="-118872" marL="118872">
              <a:lnSpc>
                <a:spcPct val="94000"/>
              </a:lnSpc>
              <a:spcBef>
                <a:spcPts val="459"/>
              </a:spcBef>
              <a:spcAft>
                <a:spcPts val="0"/>
              </a:spcAft>
            </a:pPr>
            <a:r>
              <a:rPr sz="960" b="1" i="0">
                <a:solidFill>
                  <a:srgbClr val="1F7FC4"/>
                </a:solidFill>
                <a:latin typeface="Arial"/>
              </a:rPr>
              <a:t>▪  </a:t>
            </a:r>
            <a:r>
              <a:rPr sz="960" b="1" i="0">
                <a:solidFill>
                  <a:srgbClr val="0D1B2A"/>
                </a:solidFill>
                <a:latin typeface="Arial"/>
              </a:rPr>
              <a:t>Data</a:t>
            </a:r>
            <a:r>
              <a:rPr sz="960" b="0" i="0">
                <a:solidFill>
                  <a:srgbClr val="3D5163"/>
                </a:solidFill>
                <a:latin typeface="Arial"/>
              </a:rPr>
              <a:t>  Parquet + DuckDB window index (3,350 windows) · SQLite run registry</a:t>
            </a:r>
          </a:p>
          <a:p>
            <a:pPr algn="l" indent="-118872" marL="118872">
              <a:lnSpc>
                <a:spcPct val="94000"/>
              </a:lnSpc>
              <a:spcBef>
                <a:spcPts val="459"/>
              </a:spcBef>
              <a:spcAft>
                <a:spcPts val="0"/>
              </a:spcAft>
            </a:pPr>
            <a:r>
              <a:rPr sz="960" b="1" i="0">
                <a:solidFill>
                  <a:srgbClr val="1F7FC4"/>
                </a:solidFill>
                <a:latin typeface="Arial"/>
              </a:rPr>
              <a:t>▪  </a:t>
            </a:r>
            <a:r>
              <a:rPr sz="960" b="1" i="0">
                <a:solidFill>
                  <a:srgbClr val="0D1B2A"/>
                </a:solidFill>
                <a:latin typeface="Arial"/>
              </a:rPr>
              <a:t>Policies</a:t>
            </a:r>
            <a:r>
              <a:rPr sz="960" b="0" i="0">
                <a:solidFill>
                  <a:srgbClr val="3D5163"/>
                </a:solidFill>
                <a:latin typeface="Arial"/>
              </a:rPr>
              <a:t>  MAG-NTS + 5 classical baselines · optional DQN behind a Torch extra</a:t>
            </a:r>
          </a:p>
          <a:p>
            <a:pPr algn="l" indent="-118872" marL="118872">
              <a:lnSpc>
                <a:spcPct val="94000"/>
              </a:lnSpc>
              <a:spcBef>
                <a:spcPts val="459"/>
              </a:spcBef>
              <a:spcAft>
                <a:spcPts val="0"/>
              </a:spcAft>
            </a:pPr>
            <a:r>
              <a:rPr sz="960" b="1" i="0">
                <a:solidFill>
                  <a:srgbClr val="1F7FC4"/>
                </a:solidFill>
                <a:latin typeface="Arial"/>
              </a:rPr>
              <a:t>▪  </a:t>
            </a:r>
            <a:r>
              <a:rPr sz="960" b="1" i="0">
                <a:solidFill>
                  <a:srgbClr val="0D1B2A"/>
                </a:solidFill>
                <a:latin typeface="Arial"/>
              </a:rPr>
              <a:t>Delivery</a:t>
            </a:r>
            <a:r>
              <a:rPr sz="960" b="0" i="0">
                <a:solidFill>
                  <a:srgbClr val="3D5163"/>
                </a:solidFill>
                <a:latin typeface="Arial"/>
              </a:rPr>
              <a:t>  Docker Compose · nginx · AWS EC2 · fully offline after the first fetch</a:t>
            </a:r>
          </a:p>
          <a:p>
            <a:pPr algn="l" indent="-118872" marL="118872">
              <a:lnSpc>
                <a:spcPct val="94000"/>
              </a:lnSpc>
              <a:spcBef>
                <a:spcPts val="459"/>
              </a:spcBef>
              <a:spcAft>
                <a:spcPts val="0"/>
              </a:spcAft>
            </a:pPr>
            <a:r>
              <a:rPr sz="960" b="1" i="0">
                <a:solidFill>
                  <a:srgbClr val="1F7FC4"/>
                </a:solidFill>
                <a:latin typeface="Arial"/>
              </a:rPr>
              <a:t>▪  </a:t>
            </a:r>
            <a:r>
              <a:rPr sz="960" b="1" i="0">
                <a:solidFill>
                  <a:srgbClr val="0D1B2A"/>
                </a:solidFill>
                <a:latin typeface="Arial"/>
              </a:rPr>
              <a:t>Quality</a:t>
            </a:r>
            <a:r>
              <a:rPr sz="960" b="0" i="0">
                <a:solidFill>
                  <a:srgbClr val="3D5163"/>
                </a:solidFill>
                <a:latin typeface="Arial"/>
              </a:rPr>
              <a:t>  pytest (507 collected) · ruff · mypy · verify_docs.py re-derives every published number</a:t>
            </a:r>
          </a:p>
        </p:txBody>
      </p:sp>
      <p:pic>
        <p:nvPicPr>
          <p:cNvPr id="17416" name="Picture 17415" descr="decision_s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" y="4437745"/>
            <a:ext cx="4097570" cy="1835039"/>
          </a:xfrm>
          <a:prstGeom prst="rect">
            <a:avLst/>
          </a:prstGeom>
        </p:spPr>
      </p:pic>
      <p:sp>
        <p:nvSpPr>
          <p:cNvPr id="17417" name="Rounded Rectangle 17416"/>
          <p:cNvSpPr/>
          <p:nvPr/>
        </p:nvSpPr>
        <p:spPr>
          <a:xfrm>
            <a:off x="4701073" y="4437745"/>
            <a:ext cx="3469619" cy="18350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Rectangle 17417"/>
          <p:cNvSpPr/>
          <p:nvPr/>
        </p:nvSpPr>
        <p:spPr>
          <a:xfrm>
            <a:off x="4701073" y="4437745"/>
            <a:ext cx="3469619" cy="32004"/>
          </a:xfrm>
          <a:prstGeom prst="rect">
            <a:avLst/>
          </a:prstGeom>
          <a:solidFill>
            <a:srgbClr val="0F8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842805" y="4561189"/>
            <a:ext cx="31861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8B80"/>
                </a:solidFill>
                <a:latin typeface="Arial"/>
              </a:rPr>
              <a:t>THE EIGHT-TERM SCORE — THIS IS THE ALGORITHM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842805" y="4803505"/>
            <a:ext cx="3186155" cy="1332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Weights, published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detection 0.942 · information 0.066 · memory 0.565 · periodicity 0.270 · uncertainty 0.234 · recency 0.172 · cost 0.292 · switching 0.103</a:t>
            </a:r>
          </a:p>
          <a:p>
            <a:pPr algn="l" indent="-118872" marL="118872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</a:pPr>
            <a:r>
              <a:rPr sz="919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Tuned on train receivers only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45 candidates, 3 seeds, roles: ["train"] — the record is in data/index/mag_nts_tuning.json (advantage +28.57, win-rate 1.0).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390148" y="4437745"/>
            <a:ext cx="3469619" cy="18350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Rectangle 17421"/>
          <p:cNvSpPr/>
          <p:nvPr/>
        </p:nvSpPr>
        <p:spPr>
          <a:xfrm>
            <a:off x="8390148" y="4437745"/>
            <a:ext cx="3469619" cy="32004"/>
          </a:xfrm>
          <a:prstGeom prst="rect">
            <a:avLst/>
          </a:prstGeom>
          <a:solidFill>
            <a:srgbClr val="6D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8531880" y="4561189"/>
            <a:ext cx="31861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6D4FD8"/>
                </a:solidFill>
                <a:latin typeface="Arial"/>
              </a:rPr>
              <a:t>THREE COUPLINGS, PLUS A HARD BUDGET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531880" y="4803505"/>
            <a:ext cx="3186155" cy="1332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Change gating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a detected shift damps the memory term for that step.</a:t>
            </a:r>
          </a:p>
          <a:p>
            <a:pPr algn="l" indent="-118872" marL="118872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</a:pPr>
            <a:r>
              <a:rPr sz="919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Memory gating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recall applies only above a similarity threshold.</a:t>
            </a:r>
          </a:p>
          <a:p>
            <a:pPr algn="l" indent="-118872" marL="118872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</a:pPr>
            <a:r>
              <a:rPr sz="919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Budget pressure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remaining budget rescales the cost and switching terms.</a:t>
            </a:r>
          </a:p>
          <a:p>
            <a:pPr algn="l" indent="-118872" marL="118872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</a:pPr>
            <a:r>
              <a:rPr sz="919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Σc(aₜ) ≤ B enforced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the environment rejects an over-budget action; it is not a soft penalty.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784" y="18288"/>
            <a:ext cx="7863840" cy="78638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reproduci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859536"/>
            <a:ext cx="6675120" cy="3266401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29184" y="4162513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B7D8F"/>
                </a:solidFill>
                <a:latin typeface="Arial"/>
              </a:rPr>
              <a:t>Five stages from public archive to a number the panel can re-derive here.</a:t>
            </a:r>
          </a:p>
        </p:txBody>
      </p:sp>
      <p:pic>
        <p:nvPicPr>
          <p:cNvPr id="17412" name="Picture 17411" descr="late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236" y="1133856"/>
            <a:ext cx="3931920" cy="1896910"/>
          </a:xfrm>
          <a:prstGeom prst="rect">
            <a:avLst/>
          </a:prstGeom>
        </p:spPr>
      </p:pic>
      <p:sp>
        <p:nvSpPr>
          <p:cNvPr id="17413" name="Rounded Rectangle 17412"/>
          <p:cNvSpPr/>
          <p:nvPr/>
        </p:nvSpPr>
        <p:spPr>
          <a:xfrm>
            <a:off x="7278624" y="3186214"/>
            <a:ext cx="4581144" cy="121404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Rectangle 17413"/>
          <p:cNvSpPr/>
          <p:nvPr/>
        </p:nvSpPr>
        <p:spPr>
          <a:xfrm>
            <a:off x="7278624" y="3186214"/>
            <a:ext cx="4581144" cy="32004"/>
          </a:xfrm>
          <a:prstGeom prst="rect">
            <a:avLst/>
          </a:prstGeom>
          <a:solidFill>
            <a:srgbClr val="0F8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7420356" y="3309658"/>
            <a:ext cx="4297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8B80"/>
                </a:solidFill>
                <a:latin typeface="Arial"/>
              </a:rPr>
              <a:t>IT RUNS ON THE LAPTOP IN FRONT OF YOU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420356" y="3551974"/>
            <a:ext cx="4297680" cy="7111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740" b="1" i="0">
                <a:solidFill>
                  <a:srgbClr val="0D1B2A"/>
                </a:solidFill>
                <a:latin typeface="Arial"/>
              </a:rPr>
              <a:t>0.31 ms median decision</a:t>
            </a:r>
            <a:r>
              <a:rPr sz="740" b="0" i="0">
                <a:solidFill>
                  <a:srgbClr val="3D5163"/>
                </a:solidFill>
                <a:latin typeface="Arial"/>
              </a:rPr>
              <a:t>  against a 250 ms step — three orders of magnitude of headroom.</a:t>
            </a:r>
          </a:p>
          <a:p>
            <a:pPr algn="l" indent="-118872" marL="118872">
              <a:lnSpc>
                <a:spcPct val="94000"/>
              </a:lnSpc>
              <a:spcBef>
                <a:spcPts val="328"/>
              </a:spcBef>
              <a:spcAft>
                <a:spcPts val="0"/>
              </a:spcAft>
            </a:pPr>
            <a:r>
              <a:rPr sz="74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740" b="1" i="0">
                <a:solidFill>
                  <a:srgbClr val="0D1B2A"/>
                </a:solidFill>
                <a:latin typeface="Arial"/>
              </a:rPr>
              <a:t>CPU only</a:t>
            </a:r>
            <a:r>
              <a:rPr sz="740" b="0" i="0">
                <a:solidFill>
                  <a:srgbClr val="3D5163"/>
                </a:solidFill>
                <a:latin typeface="Arial"/>
              </a:rPr>
              <a:t>  NumPy and SciPy; no GPU, no cluster, no broker.</a:t>
            </a:r>
          </a:p>
          <a:p>
            <a:pPr algn="l" indent="-118872" marL="118872">
              <a:lnSpc>
                <a:spcPct val="94000"/>
              </a:lnSpc>
              <a:spcBef>
                <a:spcPts val="328"/>
              </a:spcBef>
              <a:spcAft>
                <a:spcPts val="0"/>
              </a:spcAft>
            </a:pPr>
            <a:r>
              <a:rPr sz="74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740" b="1" i="0">
                <a:solidFill>
                  <a:srgbClr val="0D1B2A"/>
                </a:solidFill>
                <a:latin typeface="Arial"/>
              </a:rPr>
              <a:t>139 MB, fetched once</a:t>
            </a:r>
            <a:r>
              <a:rPr sz="740" b="0" i="0">
                <a:solidFill>
                  <a:srgbClr val="3D5163"/>
                </a:solidFill>
                <a:latin typeface="Arial"/>
              </a:rPr>
              <a:t>  then fully offline.</a:t>
            </a:r>
          </a:p>
          <a:p>
            <a:pPr algn="l" indent="-118872" marL="118872">
              <a:lnSpc>
                <a:spcPct val="94000"/>
              </a:lnSpc>
              <a:spcBef>
                <a:spcPts val="328"/>
              </a:spcBef>
              <a:spcAft>
                <a:spcPts val="0"/>
              </a:spcAft>
            </a:pPr>
            <a:r>
              <a:rPr sz="74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740" b="1" i="0">
                <a:solidFill>
                  <a:srgbClr val="0D1B2A"/>
                </a:solidFill>
                <a:latin typeface="Arial"/>
              </a:rPr>
              <a:t>Already deployed</a:t>
            </a:r>
            <a:r>
              <a:rPr sz="740" b="0" i="0">
                <a:solidFill>
                  <a:srgbClr val="3D5163"/>
                </a:solidFill>
                <a:latin typeface="Arial"/>
              </a:rPr>
              <a:t>  Docker Compose behind nginx on one EC2 instance.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29184" y="4546561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  <a:latin typeface="Arial"/>
              </a:rPr>
              <a:t>POTENTIAL CHALLENGES  →  HOW EACH ONE IS HANDLED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9184" y="4747729"/>
            <a:ext cx="2772918" cy="1525055"/>
          </a:xfrm>
          <a:prstGeom prst="roundRect">
            <a:avLst>
              <a:gd name="adj" fmla="val 55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Rectangle 17418"/>
          <p:cNvSpPr/>
          <p:nvPr/>
        </p:nvSpPr>
        <p:spPr>
          <a:xfrm>
            <a:off x="329184" y="4747729"/>
            <a:ext cx="2772918" cy="31089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466344" y="4875745"/>
            <a:ext cx="2498598" cy="1287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D1B2A"/>
                </a:solidFill>
                <a:latin typeface="Arial"/>
              </a:rPr>
              <a:t>Abrupt change breaks recall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819" b="0" i="0">
                <a:solidFill>
                  <a:srgbClr val="3D5163"/>
                </a:solidFill>
                <a:latin typeface="Arial"/>
              </a:rPr>
              <a:t>memory retrieves a prior for a context that is gone: −85.89 reward on sudden-shift.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19" b="1" i="0">
                <a:solidFill>
                  <a:srgbClr val="2F8B52"/>
                </a:solidFill>
                <a:latin typeface="Arial"/>
              </a:rPr>
              <a:t>→  </a:t>
            </a:r>
            <a:r>
              <a:rPr sz="819" b="0" i="0">
                <a:solidFill>
                  <a:srgbClr val="2F8B52"/>
                </a:solidFill>
                <a:latin typeface="Arial"/>
              </a:rPr>
              <a:t>Gating retrieval on the change posterior is specified but not implemented — doing it after seeing the held-out result would be tuning on the test set.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248406" y="4747729"/>
            <a:ext cx="2772918" cy="1525055"/>
          </a:xfrm>
          <a:prstGeom prst="roundRect">
            <a:avLst>
              <a:gd name="adj" fmla="val 55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Rectangle 17421"/>
          <p:cNvSpPr/>
          <p:nvPr/>
        </p:nvSpPr>
        <p:spPr>
          <a:xfrm>
            <a:off x="3248406" y="4747729"/>
            <a:ext cx="2772918" cy="31089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3385566" y="4875745"/>
            <a:ext cx="2498598" cy="1287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D1B2A"/>
                </a:solidFill>
                <a:latin typeface="Arial"/>
              </a:rPr>
              <a:t>No per-emitter ground truth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819" b="0" i="0">
                <a:solidFill>
                  <a:srgbClr val="3D5163"/>
                </a:solidFill>
                <a:latin typeface="Arial"/>
              </a:rPr>
              <a:t>no public archive of this kind has one.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19" b="1" i="0">
                <a:solidFill>
                  <a:srgbClr val="2F8B52"/>
                </a:solidFill>
                <a:latin typeface="Arial"/>
              </a:rPr>
              <a:t>→  </a:t>
            </a:r>
            <a:r>
              <a:rPr sz="819" b="0" i="0">
                <a:solidFill>
                  <a:srgbClr val="2F8B52"/>
                </a:solidFill>
                <a:latin typeface="Arial"/>
              </a:rPr>
              <a:t>A stated derived label: excess above max(1.5 dB, 5σ) over a drift-tracked P10 baseline. Every panel from it is tagged derived-label.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67628" y="4747729"/>
            <a:ext cx="2772918" cy="1525055"/>
          </a:xfrm>
          <a:prstGeom prst="roundRect">
            <a:avLst>
              <a:gd name="adj" fmla="val 55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Rectangle 17424"/>
          <p:cNvSpPr/>
          <p:nvPr/>
        </p:nvSpPr>
        <p:spPr>
          <a:xfrm>
            <a:off x="6167628" y="4747729"/>
            <a:ext cx="2772918" cy="31089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304788" y="4875745"/>
            <a:ext cx="2498598" cy="1287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D1B2A"/>
                </a:solidFill>
                <a:latin typeface="Arial"/>
              </a:rPr>
              <a:t>Six seeds is a small sample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819" b="0" i="0">
                <a:solidFill>
                  <a:srgbClr val="3D5163"/>
                </a:solidFill>
                <a:latin typeface="Arial"/>
              </a:rPr>
              <a:t>gaps under roughly ±20 reward are not resolvable.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19" b="1" i="0">
                <a:solidFill>
                  <a:srgbClr val="2F8B52"/>
                </a:solidFill>
                <a:latin typeface="Arial"/>
              </a:rPr>
              <a:t>→  </a:t>
            </a:r>
            <a:r>
              <a:rPr sz="819" b="0" i="0">
                <a:solidFill>
                  <a:srgbClr val="2F8B52"/>
                </a:solidFill>
                <a:latin typeface="Arial"/>
              </a:rPr>
              <a:t>Welch t and Mann-Whitney U must both pass at α = 0.05; anything else is reported as not significant, in either direction.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9086850" y="4747729"/>
            <a:ext cx="2772918" cy="1525055"/>
          </a:xfrm>
          <a:prstGeom prst="roundRect">
            <a:avLst>
              <a:gd name="adj" fmla="val 55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Rectangle 17427"/>
          <p:cNvSpPr/>
          <p:nvPr/>
        </p:nvSpPr>
        <p:spPr>
          <a:xfrm>
            <a:off x="9086850" y="4747729"/>
            <a:ext cx="2772918" cy="31089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9224010" y="4875745"/>
            <a:ext cx="2498598" cy="1287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D1B2A"/>
                </a:solidFill>
                <a:latin typeface="Arial"/>
              </a:rPr>
              <a:t>Not production-hardened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819" b="0" i="0">
                <a:solidFill>
                  <a:srgbClr val="3D5163"/>
                </a:solidFill>
                <a:latin typeface="Arial"/>
              </a:rPr>
              <a:t>the API is unauthenticated and one query path builds SQL fragments.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819" b="1" i="0">
                <a:solidFill>
                  <a:srgbClr val="2F8B52"/>
                </a:solidFill>
                <a:latin typeface="Arial"/>
              </a:rPr>
              <a:t>→  </a:t>
            </a:r>
            <a:r>
              <a:rPr sz="819" b="0" i="0">
                <a:solidFill>
                  <a:srgbClr val="2F8B52"/>
                </a:solidFill>
                <a:latin typeface="Arial"/>
              </a:rPr>
              <a:t>Both are logged in docs/QUALITY_AND_RISKS.md with a fix order; the demo host is single-operator.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784" y="18288"/>
            <a:ext cx="7863840" cy="78638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delta_bo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859536"/>
            <a:ext cx="5989320" cy="224626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29184" y="3133235"/>
            <a:ext cx="5989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B7D8F"/>
                </a:solidFill>
                <a:latin typeface="Arial"/>
              </a:rPr>
              <a:t>Every preset, both directions. A bar counts only when Welch t and Mann-Whitney U both pass at α = 0.05.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592824" y="1133856"/>
            <a:ext cx="2569464" cy="13487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Rectangle 17412"/>
          <p:cNvSpPr/>
          <p:nvPr/>
        </p:nvSpPr>
        <p:spPr>
          <a:xfrm>
            <a:off x="6592824" y="1133856"/>
            <a:ext cx="2569464" cy="32918"/>
          </a:xfrm>
          <a:prstGeom prst="rect">
            <a:avLst/>
          </a:prstGeom>
          <a:solidFill>
            <a:srgbClr val="2F8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6739128" y="1280160"/>
            <a:ext cx="227685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8B52"/>
                </a:solidFill>
                <a:latin typeface="Arial"/>
              </a:rPr>
              <a:t>+54.26</a:t>
            </a:r>
          </a:p>
          <a:p>
            <a:pPr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1" i="0">
                <a:solidFill>
                  <a:srgbClr val="0D1B2A"/>
                </a:solidFill>
                <a:latin typeface="Arial"/>
              </a:rPr>
              <a:t>reward vs. best classical baseline</a:t>
            </a:r>
          </a:p>
          <a:p>
            <a:pPr algn="l">
              <a:lnSpc>
                <a:spcPct val="96000"/>
              </a:lnSpc>
              <a:spcBef>
                <a:spcPts val="150"/>
              </a:spcBef>
              <a:spcAft>
                <a:spcPts val="0"/>
              </a:spcAft>
            </a:pPr>
            <a:r>
              <a:rPr sz="740" b="0" i="0">
                <a:solidFill>
                  <a:srgbClr val="6B7D8F"/>
                </a:solidFill>
                <a:latin typeface="Arial"/>
              </a:rPr>
              <a:t>high-noise · p = 0.0006 · 6 seeds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290304" y="1133856"/>
            <a:ext cx="2569464" cy="13487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Rectangle 17415"/>
          <p:cNvSpPr/>
          <p:nvPr/>
        </p:nvSpPr>
        <p:spPr>
          <a:xfrm>
            <a:off x="9290304" y="1133856"/>
            <a:ext cx="2569464" cy="32918"/>
          </a:xfrm>
          <a:prstGeom prst="rect">
            <a:avLst/>
          </a:prstGeom>
          <a:solidFill>
            <a:srgbClr val="6D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9436608" y="1280160"/>
            <a:ext cx="227685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6D4FD8"/>
                </a:solidFill>
                <a:latin typeface="Arial"/>
              </a:rPr>
              <a:t>+99.07</a:t>
            </a:r>
          </a:p>
          <a:p>
            <a:pPr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1" i="0">
                <a:solidFill>
                  <a:srgbClr val="0D1B2A"/>
                </a:solidFill>
                <a:latin typeface="Arial"/>
              </a:rPr>
              <a:t>reward contributed by memory alone</a:t>
            </a:r>
          </a:p>
          <a:p>
            <a:pPr algn="l">
              <a:lnSpc>
                <a:spcPct val="96000"/>
              </a:lnSpc>
              <a:spcBef>
                <a:spcPts val="150"/>
              </a:spcBef>
              <a:spcAft>
                <a:spcPts val="0"/>
              </a:spcAft>
            </a:pPr>
            <a:r>
              <a:rPr sz="740" b="0" i="0">
                <a:solidFill>
                  <a:srgbClr val="6B7D8F"/>
                </a:solidFill>
                <a:latin typeface="Arial"/>
              </a:rPr>
              <a:t>high-noise · p = 0.00005 · ablation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592824" y="2610612"/>
            <a:ext cx="2569464" cy="13487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Rectangle 17418"/>
          <p:cNvSpPr/>
          <p:nvPr/>
        </p:nvSpPr>
        <p:spPr>
          <a:xfrm>
            <a:off x="6592824" y="2610612"/>
            <a:ext cx="2569464" cy="32918"/>
          </a:xfrm>
          <a:prstGeom prst="rect">
            <a:avLst/>
          </a:prstGeom>
          <a:solidFill>
            <a:srgbClr val="C8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6739128" y="2756916"/>
            <a:ext cx="227685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8383C"/>
                </a:solidFill>
                <a:latin typeface="Arial"/>
              </a:rPr>
              <a:t>−69.43</a:t>
            </a:r>
          </a:p>
          <a:p>
            <a:pPr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1" i="0">
                <a:solidFill>
                  <a:srgbClr val="0D1B2A"/>
                </a:solidFill>
                <a:latin typeface="Arial"/>
              </a:rPr>
              <a:t>reward on the held-out receivers</a:t>
            </a:r>
          </a:p>
          <a:p>
            <a:pPr algn="l">
              <a:lnSpc>
                <a:spcPct val="96000"/>
              </a:lnSpc>
              <a:spcBef>
                <a:spcPts val="150"/>
              </a:spcBef>
              <a:spcAft>
                <a:spcPts val="0"/>
              </a:spcAft>
            </a:pPr>
            <a:r>
              <a:rPr sz="740" b="0" i="0">
                <a:solidFill>
                  <a:srgbClr val="6B7D8F"/>
                </a:solidFill>
                <a:latin typeface="Arial"/>
              </a:rPr>
              <a:t>unseen-generalization · p = 0.0079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290304" y="2610612"/>
            <a:ext cx="2569464" cy="13487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Rectangle 17421"/>
          <p:cNvSpPr/>
          <p:nvPr/>
        </p:nvSpPr>
        <p:spPr>
          <a:xfrm>
            <a:off x="9290304" y="2610612"/>
            <a:ext cx="2569464" cy="32918"/>
          </a:xfrm>
          <a:prstGeom prst="rect">
            <a:avLst/>
          </a:prstGeom>
          <a:solidFill>
            <a:srgbClr val="1F7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9436608" y="2756916"/>
            <a:ext cx="227685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7FC4"/>
                </a:solidFill>
                <a:latin typeface="Arial"/>
              </a:rPr>
              <a:t>0.5594</a:t>
            </a:r>
          </a:p>
          <a:p>
            <a:pPr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</a:pPr>
            <a:r>
              <a:rPr sz="860" b="1" i="0">
                <a:solidFill>
                  <a:srgbClr val="0D1B2A"/>
                </a:solidFill>
                <a:latin typeface="Arial"/>
              </a:rPr>
              <a:t>of the oracle's achievable reward</a:t>
            </a:r>
          </a:p>
          <a:p>
            <a:pPr algn="l">
              <a:lnSpc>
                <a:spcPct val="96000"/>
              </a:lnSpc>
              <a:spcBef>
                <a:spcPts val="150"/>
              </a:spcBef>
              <a:spcAft>
                <a:spcPts val="0"/>
              </a:spcAft>
            </a:pPr>
            <a:r>
              <a:rPr sz="740" b="0" i="0">
                <a:solidFill>
                  <a:srgbClr val="6B7D8F"/>
                </a:solidFill>
                <a:latin typeface="Arial"/>
              </a:rPr>
              <a:t>vs. 0.4331 for the best baseline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592824" y="4178808"/>
            <a:ext cx="5266944" cy="20939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Rectangle 17424"/>
          <p:cNvSpPr/>
          <p:nvPr/>
        </p:nvSpPr>
        <p:spPr>
          <a:xfrm>
            <a:off x="6592824" y="4178808"/>
            <a:ext cx="5266944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734556" y="4302252"/>
            <a:ext cx="4983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70C0"/>
                </a:solidFill>
                <a:latin typeface="Arial"/>
              </a:rPr>
              <a:t>WHO BENEFITS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734556" y="4544568"/>
            <a:ext cx="4983480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▪  </a:t>
            </a:r>
            <a:r>
              <a:rPr sz="900" b="1" i="0">
                <a:solidFill>
                  <a:srgbClr val="0D1B2A"/>
                </a:solidFill>
                <a:latin typeface="Arial"/>
              </a:rPr>
              <a:t>Spectrum monitoring teams</a:t>
            </a:r>
            <a:r>
              <a:rPr sz="900" b="0" i="0">
                <a:solidFill>
                  <a:srgbClr val="3D5163"/>
                </a:solidFill>
                <a:latin typeface="Arial"/>
              </a:rPr>
              <a:t>  the same decision — which slice to sample next under a hard budget — appears in interference hunting, shared-spectrum enforcement and radio-astronomy RFI surveys.</a:t>
            </a:r>
          </a:p>
          <a:p>
            <a:pPr algn="l" indent="-118872" marL="118872">
              <a:lnSpc>
                <a:spcPct val="94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▪  </a:t>
            </a:r>
            <a:r>
              <a:rPr sz="900" b="1" i="0">
                <a:solidFill>
                  <a:srgbClr val="0D1B2A"/>
                </a:solidFill>
                <a:latin typeface="Arial"/>
              </a:rPr>
              <a:t>Researchers</a:t>
            </a:r>
            <a:r>
              <a:rPr sz="900" b="0" i="0">
                <a:solidFill>
                  <a:srgbClr val="3D5163"/>
                </a:solidFill>
                <a:latin typeface="Arial"/>
              </a:rPr>
              <a:t>  a reproducible active-sensing benchmark on public recordings: 7 stations, 3,350 indexed windows, 7 presets, fixed seeds.</a:t>
            </a:r>
          </a:p>
          <a:p>
            <a:pPr algn="l" indent="-118872" marL="118872">
              <a:lnSpc>
                <a:spcPct val="94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1" i="0">
                <a:solidFill>
                  <a:srgbClr val="0070C0"/>
                </a:solidFill>
                <a:latin typeface="Arial"/>
              </a:rPr>
              <a:t>▪  </a:t>
            </a:r>
            <a:r>
              <a:rPr sz="900" b="1" i="0">
                <a:solidFill>
                  <a:srgbClr val="0D1B2A"/>
                </a:solidFill>
                <a:latin typeface="Arial"/>
              </a:rPr>
              <a:t>Students and reviewers</a:t>
            </a:r>
            <a:r>
              <a:rPr sz="900" b="0" i="0">
                <a:solidFill>
                  <a:srgbClr val="3D5163"/>
                </a:solidFill>
                <a:latin typeface="Arial"/>
              </a:rPr>
              <a:t>  an explainable scheduler where the eight-term score is the algorithm, not a post-hoc attribution.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29184" y="3489851"/>
            <a:ext cx="5989320" cy="278293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Rectangle 17428"/>
          <p:cNvSpPr/>
          <p:nvPr/>
        </p:nvSpPr>
        <p:spPr>
          <a:xfrm>
            <a:off x="329184" y="3489851"/>
            <a:ext cx="5989320" cy="32004"/>
          </a:xfrm>
          <a:prstGeom prst="rect">
            <a:avLst/>
          </a:prstGeom>
          <a:solidFill>
            <a:srgbClr val="0F8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470916" y="3613295"/>
            <a:ext cx="5705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8B80"/>
                </a:solidFill>
                <a:latin typeface="Arial"/>
              </a:rPr>
              <a:t>BENEFITS, MEASURED RATHER THAN ASSERTED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70916" y="3855611"/>
            <a:ext cx="5705856" cy="22800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Economic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one commodity CPU replaces a wider or faster receiver for the same detection yield — 0.5594 of oracle reward within a fixed 1,200-step budget.</a:t>
            </a:r>
          </a:p>
          <a:p>
            <a:pPr algn="l" indent="-118872" marL="118872">
              <a:lnSpc>
                <a:spcPct val="94000"/>
              </a:lnSpc>
              <a:spcBef>
                <a:spcPts val="440"/>
              </a:spcBef>
              <a:spcAft>
                <a:spcPts val="0"/>
              </a:spcAft>
            </a:pPr>
            <a:r>
              <a:rPr sz="94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Scientific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wins and losses both published, with the mechanism named; the ablation says which component earns each effect.</a:t>
            </a:r>
          </a:p>
          <a:p>
            <a:pPr algn="l" indent="-118872" marL="118872">
              <a:lnSpc>
                <a:spcPct val="94000"/>
              </a:lnSpc>
              <a:spcBef>
                <a:spcPts val="440"/>
              </a:spcBef>
              <a:spcAft>
                <a:spcPts val="0"/>
              </a:spcAft>
            </a:pPr>
            <a:r>
              <a:rPr sz="940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940" b="1" i="0">
                <a:solidFill>
                  <a:srgbClr val="0D1B2A"/>
                </a:solidFill>
                <a:latin typeface="Arial"/>
              </a:rPr>
              <a:t>Social</a:t>
            </a:r>
            <a:r>
              <a:rPr sz="940" b="0" i="0">
                <a:solidFill>
                  <a:srgbClr val="3D5163"/>
                </a:solidFill>
                <a:latin typeface="Arial"/>
              </a:rPr>
              <a:t>  no transmission, no jamming, no emitter identification, no geolocation, no hardware control — an academic scheduler on public scientific data.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784" y="18288"/>
            <a:ext cx="7863840" cy="78638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t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859536"/>
            <a:ext cx="5852160" cy="2504255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29184" y="3400366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B7D8F"/>
                </a:solidFill>
                <a:latin typeface="Arial"/>
              </a:rPr>
              <a:t>Seven public receivers, four continents. Roles are fixed in the catalogue — the held-out stations drive exactly one preset.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455664" y="1133856"/>
            <a:ext cx="5404104" cy="222993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Rectangle 17412"/>
          <p:cNvSpPr/>
          <p:nvPr/>
        </p:nvSpPr>
        <p:spPr>
          <a:xfrm>
            <a:off x="6455664" y="1133856"/>
            <a:ext cx="5404104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6597396" y="1257300"/>
            <a:ext cx="5120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70C0"/>
                </a:solidFill>
                <a:latin typeface="Arial"/>
              </a:rPr>
              <a:t>DATA PROVENANCE AND LABELLING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597396" y="1499616"/>
            <a:ext cx="5120640" cy="17270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70C0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Archive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e-CALLISTO, the international network of solar radio spectrometers (FHNW Institute for Data Science, Brugg/Windisch).</a:t>
            </a:r>
          </a:p>
          <a:p>
            <a:pPr algn="l" indent="-118872" marL="118872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</a:pPr>
            <a:r>
              <a:rPr sz="919" b="1" i="0">
                <a:solidFill>
                  <a:srgbClr val="0070C0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Per recording, stored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source URL, retrieval timestamp, source file count, SHA of the cached cube, full preprocessing chain, licence, is_synthetic: false.</a:t>
            </a:r>
          </a:p>
          <a:p>
            <a:pPr algn="l" indent="-118872" marL="118872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</a:pPr>
            <a:r>
              <a:rPr sz="919" b="1" i="0">
                <a:solidFill>
                  <a:srgbClr val="0070C0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Derived label, not ground truth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excess above max(1.5 dB, 5σ), σ from a first-difference MAD estimate against a drift-tracking P10 baseline. Every panel computed from it is tagged derived-label.</a:t>
            </a:r>
          </a:p>
          <a:p>
            <a:pPr algn="l" indent="-118872" marL="118872">
              <a:lnSpc>
                <a:spcPct val="94000"/>
              </a:lnSpc>
              <a:spcBef>
                <a:spcPts val="420"/>
              </a:spcBef>
              <a:spcAft>
                <a:spcPts val="0"/>
              </a:spcAft>
            </a:pPr>
            <a:r>
              <a:rPr sz="919" b="1" i="0">
                <a:solidFill>
                  <a:srgbClr val="0070C0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Split roles are declared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train / validation / unseen; the held-out receivers appear in exactly one preset, asserted by a test that fails the build.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9184" y="3747838"/>
            <a:ext cx="5852160" cy="252494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Rectangle 17416"/>
          <p:cNvSpPr/>
          <p:nvPr/>
        </p:nvSpPr>
        <p:spPr>
          <a:xfrm>
            <a:off x="329184" y="3747838"/>
            <a:ext cx="5852160" cy="32004"/>
          </a:xfrm>
          <a:prstGeom prst="rect">
            <a:avLst/>
          </a:prstGeom>
          <a:solidFill>
            <a:srgbClr val="6D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470916" y="3871282"/>
            <a:ext cx="55686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6D4FD8"/>
                </a:solidFill>
                <a:latin typeface="Arial"/>
              </a:rPr>
              <a:t>METHODS WE BUILD 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70916" y="4113598"/>
            <a:ext cx="5568696" cy="20220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860" b="1" i="0">
                <a:solidFill>
                  <a:srgbClr val="0D1B2A"/>
                </a:solidFill>
                <a:latin typeface="Arial"/>
              </a:rPr>
              <a:t>Thompson, 1933</a:t>
            </a:r>
            <a:r>
              <a:rPr sz="860" b="0" i="0">
                <a:solidFill>
                  <a:srgbClr val="3D5163"/>
                </a:solidFill>
                <a:latin typeface="Arial"/>
              </a:rPr>
              <a:t>  posterior sampling — extended here to contiguous windows.</a:t>
            </a:r>
          </a:p>
          <a:p>
            <a:pPr algn="l" indent="-118872" marL="118872">
              <a:lnSpc>
                <a:spcPct val="94000"/>
              </a:lnSpc>
              <a:spcBef>
                <a:spcPts val="280"/>
              </a:spcBef>
              <a:spcAft>
                <a:spcPts val="0"/>
              </a:spcAft>
            </a:pPr>
            <a:r>
              <a:rPr sz="86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860" b="1" i="0">
                <a:solidFill>
                  <a:srgbClr val="0D1B2A"/>
                </a:solidFill>
                <a:latin typeface="Arial"/>
              </a:rPr>
              <a:t>Auer, Cesa-Bianchi &amp; Fischer, 2002</a:t>
            </a:r>
            <a:r>
              <a:rPr sz="860" b="0" i="0">
                <a:solidFill>
                  <a:srgbClr val="3D5163"/>
                </a:solidFill>
                <a:latin typeface="Arial"/>
              </a:rPr>
              <a:t>  UCB1 — the confidence-bound baseline.</a:t>
            </a:r>
          </a:p>
          <a:p>
            <a:pPr algn="l" indent="-118872" marL="118872">
              <a:lnSpc>
                <a:spcPct val="94000"/>
              </a:lnSpc>
              <a:spcBef>
                <a:spcPts val="280"/>
              </a:spcBef>
              <a:spcAft>
                <a:spcPts val="0"/>
              </a:spcAft>
            </a:pPr>
            <a:r>
              <a:rPr sz="86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860" b="1" i="0">
                <a:solidFill>
                  <a:srgbClr val="0D1B2A"/>
                </a:solidFill>
                <a:latin typeface="Arial"/>
              </a:rPr>
              <a:t>Raj &amp; Kalyani, 2017</a:t>
            </a:r>
            <a:r>
              <a:rPr sz="860" b="0" i="0">
                <a:solidFill>
                  <a:srgbClr val="3D5163"/>
                </a:solidFill>
                <a:latin typeface="Arial"/>
              </a:rPr>
              <a:t>  Taming non-stationary bandits (arXiv:1707.09727) — the NTS control policy.</a:t>
            </a:r>
          </a:p>
          <a:p>
            <a:pPr algn="l" indent="-118872" marL="118872">
              <a:lnSpc>
                <a:spcPct val="94000"/>
              </a:lnSpc>
              <a:spcBef>
                <a:spcPts val="280"/>
              </a:spcBef>
              <a:spcAft>
                <a:spcPts val="0"/>
              </a:spcAft>
            </a:pPr>
            <a:r>
              <a:rPr sz="86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860" b="1" i="0">
                <a:solidFill>
                  <a:srgbClr val="0D1B2A"/>
                </a:solidFill>
                <a:latin typeface="Arial"/>
              </a:rPr>
              <a:t>Ramsauer et al., 2021</a:t>
            </a:r>
            <a:r>
              <a:rPr sz="860" b="0" i="0">
                <a:solidFill>
                  <a:srgbClr val="3D5163"/>
                </a:solidFill>
                <a:latin typeface="Arial"/>
              </a:rPr>
              <a:t>  Hopfield Networks is All You Need (arXiv:2008.02217) — single-step retrieval at β = 12.</a:t>
            </a:r>
          </a:p>
          <a:p>
            <a:pPr algn="l" indent="-118872" marL="118872">
              <a:lnSpc>
                <a:spcPct val="94000"/>
              </a:lnSpc>
              <a:spcBef>
                <a:spcPts val="280"/>
              </a:spcBef>
              <a:spcAft>
                <a:spcPts val="0"/>
              </a:spcAft>
            </a:pPr>
            <a:r>
              <a:rPr sz="86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860" b="1" i="0">
                <a:solidFill>
                  <a:srgbClr val="0D1B2A"/>
                </a:solidFill>
                <a:latin typeface="Arial"/>
              </a:rPr>
              <a:t>Page, 1954</a:t>
            </a:r>
            <a:r>
              <a:rPr sz="860" b="0" i="0">
                <a:solidFill>
                  <a:srgbClr val="3D5163"/>
                </a:solidFill>
                <a:latin typeface="Arial"/>
              </a:rPr>
              <a:t>  continuous inspection schemes — the Page-Hinkley detector.</a:t>
            </a:r>
          </a:p>
          <a:p>
            <a:pPr algn="l" indent="-118872" marL="118872">
              <a:lnSpc>
                <a:spcPct val="94000"/>
              </a:lnSpc>
              <a:spcBef>
                <a:spcPts val="280"/>
              </a:spcBef>
              <a:spcAft>
                <a:spcPts val="0"/>
              </a:spcAft>
            </a:pPr>
            <a:r>
              <a:rPr sz="86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860" b="1" i="0">
                <a:solidFill>
                  <a:srgbClr val="0D1B2A"/>
                </a:solidFill>
                <a:latin typeface="Arial"/>
              </a:rPr>
              <a:t>Garivier &amp; Moulines, 2011</a:t>
            </a:r>
            <a:r>
              <a:rPr sz="860" b="0" i="0">
                <a:solidFill>
                  <a:srgbClr val="3D5163"/>
                </a:solidFill>
                <a:latin typeface="Arial"/>
              </a:rPr>
              <a:t>  UCB policies for switching bandits — the change-aware framing.</a:t>
            </a:r>
          </a:p>
          <a:p>
            <a:pPr algn="l" indent="-118872" marL="118872">
              <a:lnSpc>
                <a:spcPct val="94000"/>
              </a:lnSpc>
              <a:spcBef>
                <a:spcPts val="280"/>
              </a:spcBef>
              <a:spcAft>
                <a:spcPts val="0"/>
              </a:spcAft>
            </a:pPr>
            <a:r>
              <a:rPr sz="86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860" b="1" i="0">
                <a:solidFill>
                  <a:srgbClr val="0D1B2A"/>
                </a:solidFill>
                <a:latin typeface="Arial"/>
              </a:rPr>
              <a:t>Lindley, 1956</a:t>
            </a:r>
            <a:r>
              <a:rPr sz="860" b="0" i="0">
                <a:solidFill>
                  <a:srgbClr val="3D5163"/>
                </a:solidFill>
                <a:latin typeface="Arial"/>
              </a:rPr>
              <a:t>  information provided by an experiment — the information term.</a:t>
            </a:r>
          </a:p>
          <a:p>
            <a:pPr algn="l" indent="-118872" marL="118872">
              <a:lnSpc>
                <a:spcPct val="94000"/>
              </a:lnSpc>
              <a:spcBef>
                <a:spcPts val="280"/>
              </a:spcBef>
              <a:spcAft>
                <a:spcPts val="0"/>
              </a:spcAft>
            </a:pPr>
            <a:r>
              <a:rPr sz="860" b="1" i="0">
                <a:solidFill>
                  <a:srgbClr val="6D4FD8"/>
                </a:solidFill>
                <a:latin typeface="Arial"/>
              </a:rPr>
              <a:t>▪  </a:t>
            </a:r>
            <a:r>
              <a:rPr sz="860" b="1" i="0">
                <a:solidFill>
                  <a:srgbClr val="0D1B2A"/>
                </a:solidFill>
                <a:latin typeface="Arial"/>
              </a:rPr>
              <a:t>Chaloner &amp; Verdinelli, 1995</a:t>
            </a:r>
            <a:r>
              <a:rPr sz="860" b="0" i="0">
                <a:solidFill>
                  <a:srgbClr val="3D5163"/>
                </a:solidFill>
                <a:latin typeface="Arial"/>
              </a:rPr>
              <a:t>  Bayesian experimental design — the objective.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455664" y="3747838"/>
            <a:ext cx="5404104" cy="252494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Rectangle 17420"/>
          <p:cNvSpPr/>
          <p:nvPr/>
        </p:nvSpPr>
        <p:spPr>
          <a:xfrm>
            <a:off x="6455664" y="3747838"/>
            <a:ext cx="5404104" cy="32004"/>
          </a:xfrm>
          <a:prstGeom prst="rect">
            <a:avLst/>
          </a:prstGeom>
          <a:solidFill>
            <a:srgbClr val="0F8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597396" y="3871282"/>
            <a:ext cx="5120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F8B80"/>
                </a:solidFill>
                <a:latin typeface="Arial"/>
              </a:rPr>
              <a:t>HOW CLAIMS ARE DECIDED, AND WHAT IS OURS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597396" y="4113598"/>
            <a:ext cx="5120640" cy="20220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18872" marL="118872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Welch, 1947 and Mann &amp; Whitney, 1947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the two tests every claim must pass; both at α = 0.05, or the difference is reported as not significant in either direction.</a:t>
            </a:r>
          </a:p>
          <a:p>
            <a:pPr algn="l" indent="-118872" marL="118872">
              <a:lnSpc>
                <a:spcPct val="94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Ours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the contiguous-window action space, the eight-term score with its three couplings, the change-gated bounded context memory, and the 7-preset benchmark on public recordings.</a:t>
            </a:r>
          </a:p>
          <a:p>
            <a:pPr algn="l" indent="-118872" marL="118872">
              <a:lnSpc>
                <a:spcPct val="94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Written down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docs/EXPERIMENTS.md (every measured number, wins and losses), LIMITATIONS.md (what it does not do), QUALITY_AND_RISKS.md (verification state and open risks).</a:t>
            </a:r>
          </a:p>
          <a:p>
            <a:pPr algn="l" indent="-118872" marL="118872">
              <a:lnSpc>
                <a:spcPct val="94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1" i="0">
                <a:solidFill>
                  <a:srgbClr val="0F8B80"/>
                </a:solidFill>
                <a:latin typeface="Arial"/>
              </a:rPr>
              <a:t>▪  </a:t>
            </a:r>
            <a:r>
              <a:rPr sz="919" b="1" i="0">
                <a:solidFill>
                  <a:srgbClr val="0D1B2A"/>
                </a:solidFill>
                <a:latin typeface="Arial"/>
              </a:rPr>
              <a:t>Re-derivable</a:t>
            </a:r>
            <a:r>
              <a:rPr sz="919" b="0" i="0">
                <a:solidFill>
                  <a:srgbClr val="3D5163"/>
                </a:solidFill>
                <a:latin typeface="Arial"/>
              </a:rPr>
              <a:t>  scripts/verify_docs.py re-computes 406 published values from the stored JSON and audits 1,456 comparisons; a mismatch fails.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