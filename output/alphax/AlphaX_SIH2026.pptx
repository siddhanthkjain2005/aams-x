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c6123a79d2c43e1" /><Relationship Type="http://schemas.openxmlformats.org/officeDocument/2006/relationships/extended-properties" Target="/docProps/app.xml" Id="R9822af70b5c74acf" /><Relationship Type="http://schemas.openxmlformats.org/officeDocument/2006/relationships/officeDocument" Target="/ppt/presentation.xml" Id="R44e70afcb2734ea9" /></Relationships>
</file>

<file path=ppt/presentation.xml><?xml version="1.0" encoding="utf-8"?>
<p:presentation xmlns:p="http://schemas.openxmlformats.org/presentationml/2006/main">
  <p:sldMasterIdLst>
    <p:sldMasterId xmlns:r="http://schemas.openxmlformats.org/officeDocument/2006/relationships" id="2147483648" r:id="Re53e54aa53f64c7a"/>
  </p:sldMasterIdLst>
  <p:notesMasterIdLst>
    <p:notesMasterId xmlns:r="http://schemas.openxmlformats.org/officeDocument/2006/relationships" r:id="R10dfa08d58304177"/>
  </p:notesMasterIdLst>
  <p:sldIdLst>
    <p:sldId xmlns:r="http://schemas.openxmlformats.org/officeDocument/2006/relationships" id="256" r:id="R389020e6e4814fa8"/>
    <p:sldId xmlns:r="http://schemas.openxmlformats.org/officeDocument/2006/relationships" id="257" r:id="Rb892e33327ad4a19"/>
    <p:sldId xmlns:r="http://schemas.openxmlformats.org/officeDocument/2006/relationships" id="258" r:id="Rcc67cc6b6c3f4108"/>
    <p:sldId xmlns:r="http://schemas.openxmlformats.org/officeDocument/2006/relationships" id="259" r:id="R04378c31179d4b30"/>
    <p:sldId xmlns:r="http://schemas.openxmlformats.org/officeDocument/2006/relationships" id="260" r:id="R00de77549b7345d6"/>
    <p:sldId xmlns:r="http://schemas.openxmlformats.org/officeDocument/2006/relationships" id="261" r:id="R844b7dff12bd43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2279e6d1aea4425" /><Relationship Type="http://schemas.openxmlformats.org/officeDocument/2006/relationships/slideMaster" Target="/ppt/slideMasters/slideMaster1.xml" Id="Re53e54aa53f64c7a" /><Relationship Type="http://schemas.openxmlformats.org/officeDocument/2006/relationships/notesMaster" Target="/ppt/notesMasters/notesMaster1.xml" Id="R10dfa08d58304177" /><Relationship Type="http://schemas.openxmlformats.org/officeDocument/2006/relationships/presProps" Target="/ppt/presProps.xml" Id="R0aa0118549ee4bdb" /><Relationship Type="http://schemas.openxmlformats.org/officeDocument/2006/relationships/viewProps" Target="/ppt/viewProps.xml" Id="Rbd097687aa8a4955" /><Relationship Type="http://schemas.openxmlformats.org/officeDocument/2006/relationships/tableStyles" Target="/ppt/tableStyles.xml" Id="R5d27ad958c554dd8" /><Relationship Type="http://schemas.openxmlformats.org/officeDocument/2006/relationships/slide" Target="/ppt/slides/slide1.xml" Id="R389020e6e4814fa8" /><Relationship Type="http://schemas.openxmlformats.org/officeDocument/2006/relationships/slide" Target="/ppt/slides/slide2.xml" Id="Rb892e33327ad4a19" /><Relationship Type="http://schemas.openxmlformats.org/officeDocument/2006/relationships/slide" Target="/ppt/slides/slide3.xml" Id="Rcc67cc6b6c3f4108" /><Relationship Type="http://schemas.openxmlformats.org/officeDocument/2006/relationships/slide" Target="/ppt/slides/slide4.xml" Id="R04378c31179d4b30" /><Relationship Type="http://schemas.openxmlformats.org/officeDocument/2006/relationships/slide" Target="/ppt/slides/slide5.xml" Id="R00de77549b7345d6" /><Relationship Type="http://schemas.openxmlformats.org/officeDocument/2006/relationships/slide" Target="/ppt/slides/slide6.xml" Id="R844b7dff12bd43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ff071e35644b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18469217864d4b" /><Relationship Type="http://schemas.openxmlformats.org/officeDocument/2006/relationships/notesMaster" Target="/ppt/notesMasters/notesMaster1.xml" Id="Rb37d5555c91e4d0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2b6188a73e4a1c" /><Relationship Type="http://schemas.openxmlformats.org/officeDocument/2006/relationships/notesMaster" Target="/ppt/notesMasters/notesMaster1.xml" Id="Rf84d332b3b7a41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528529224248dd" /><Relationship Type="http://schemas.openxmlformats.org/officeDocument/2006/relationships/notesMaster" Target="/ppt/notesMasters/notesMaster1.xml" Id="R5be62213b14746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2c3efd10724579" /><Relationship Type="http://schemas.openxmlformats.org/officeDocument/2006/relationships/notesMaster" Target="/ppt/notesMasters/notesMaster1.xml" Id="Rfb953903cfec42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d33bf2b2e0c46f3" /><Relationship Type="http://schemas.openxmlformats.org/officeDocument/2006/relationships/notesMaster" Target="/ppt/notesMasters/notesMaster1.xml" Id="R40578d3c127143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2f15b4c5e94799" /><Relationship Type="http://schemas.openxmlformats.org/officeDocument/2006/relationships/notesMaster" Target="/ppt/notesMasters/notesMaster1.xml" Id="R06488809c0ed44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(25 seconds)</a:t>
            </a:r>
          </a:p>
          <a:p xmlns:a="http://schemas.openxmlformats.org/drawingml/2006/main">
            <a:r>
              <a:t>We are AlphaX. AAMS-X is our software research prototype for SIH26055. A receiver only observes a small part of the spectrum at a time. Our contribution is an inspectable workbench that demonstrates the resulting partial-observation problem and lets a reviewer reproduce the evidence.</a:t>
            </a:r>
          </a:p>
          <a:p xmlns:a="http://schemas.openxmlformats.org/drawingml/2006/main">
            <a:r>
              <a:t/>
            </a:r>
          </a:p>
          <a:p xmlns:a="http://schemas.openxmlformats.org/drawingml/2006/main">
            <a:r>
              <a:t>PROJECT SCOPE</a:t>
            </a:r>
          </a:p>
          <a:p xmlns:a="http://schemas.openxmlformats.org/drawingml/2006/main">
            <a:r>
              <a:t>This presentation describes the supplied software prototype at a high level. It does not establish field readiness or calibrated hardware performance. The registered Team ID and official portal theme were not supplied and must be completed before submission. Do not infer the theme from unofficial listings.</a:t>
            </a:r>
          </a:p>
          <a:p xmlns:a="http://schemas.openxmlformats.org/drawingml/2006/main">
            <a:r>
              <a:t/>
            </a:r>
          </a:p>
          <a:p xmlns:a="http://schemas.openxmlformats.org/drawingml/2006/main">
            <a:r>
              <a:t>SOURCES</a:t>
            </a:r>
          </a:p>
          <a:p xmlns:a="http://schemas.openxmlformats.org/drawingml/2006/main">
            <a:r>
              <a:t>User-supplied SIH2026-IDEA-Presentation-Format.pptx, slides 1 and 7. Project README.md, project identity and interpretation. Official SIH artwork extracted unchanged from the supplied template.</a:t>
            </a:r>
          </a:p>
          <a:p xmlns:a="http://schemas.openxmlformats.org/drawingml/2006/main">
            <a:r>
              <a:t/>
            </a:r>
          </a:p>
          <a:p xmlns:a="http://schemas.openxmlformats.org/drawingml/2006/main">
            <a:r>
              <a:t>FULL NAME</a:t>
            </a:r>
          </a:p>
          <a:p xmlns:a="http://schemas.openxmlformats.org/drawingml/2006/main">
            <a:r>
              <a:t>Adaptive Autonomous Mission Spectrum eXplorer.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PROPOSED SOLUTION (45 seconds)</a:t>
            </a:r>
            <a:endParaRPr/>
          </a:p>
          <a:p xmlns:a="http://schemas.openxmlformats.org/drawingml/2006/main">
            <a:pPr>
              <a:spcBef>
                <a:spcPct val="0"/>
              </a:spcBef>
              <a:buNone/>
            </a:pPr>
            <a:r>
              <a:t>Explain the visual first: the blue field represents a broad unknown spectrum and the amber slice represents a limited observation. It is a concept image, not a measurement. AAMS-X provides a seeded environment, an abstract receiver, existing adaptive and baseline policies, and an independent evaluator in one working local app.</a:t>
            </a:r>
            <a:endParaRPr/>
          </a:p>
          <a:p xmlns:a="http://schemas.openxmlformats.org/drawingml/2006/main">
            <a:pPr>
              <a:spcBef>
                <a:spcPct val="0"/>
              </a:spcBef>
              <a:buNone/>
            </a:pPr>
            <a:r>
              <a:t/>
            </a:r>
            <a:endParaRPr/>
          </a:p>
          <a:p xmlns:a="http://schemas.openxmlformats.org/drawingml/2006/main">
            <a:pPr>
              <a:spcBef>
                <a:spcPct val="0"/>
              </a:spcBef>
              <a:buNone/>
            </a:pPr>
            <a:r>
              <a:t>HOW IT ADDRESSES THE PROBLEM</a:t>
            </a:r>
            <a:endParaRPr/>
          </a:p>
          <a:p xmlns:a="http://schemas.openxmlformats.org/drawingml/2006/main">
            <a:pPr>
              <a:spcBef>
                <a:spcPct val="0"/>
              </a:spcBef>
              <a:buNone/>
            </a:pPr>
            <a:r>
              <a:t>The policy receives observations from the selected window only. Missing observations do not become negative labels. The research UI separates estimated probability from uncertainty. Reviewers can pause, inspect a saved decision, open the 3D view and replay the same stored run.</a:t>
            </a:r>
            <a:endParaRPr/>
          </a:p>
          <a:p xmlns:a="http://schemas.openxmlformats.org/drawingml/2006/main">
            <a:pPr>
              <a:spcBef>
                <a:spcPct val="0"/>
              </a:spcBef>
              <a:buNone/>
            </a:pPr>
            <a:r>
              <a:t/>
            </a:r>
            <a:endParaRPr/>
          </a:p>
          <a:p xmlns:a="http://schemas.openxmlformats.org/drawingml/2006/main">
            <a:pPr>
              <a:spcBef>
                <a:spcPct val="0"/>
              </a:spcBef>
              <a:buNone/>
            </a:pPr>
            <a:r>
              <a:t>INNOVATION CLAIM</a:t>
            </a:r>
            <a:endParaRPr/>
          </a:p>
          <a:p xmlns:a="http://schemas.openxmlformats.org/drawingml/2006/main">
            <a:pPr>
              <a:spcBef>
                <a:spcPct val="0"/>
              </a:spcBef>
              <a:buNone/>
            </a:pPr>
            <a:r>
              <a:t>The differentiator is the integration of explainable partial-observation experiments with reproducibility and visible provenance. MAG-NTS is an experimental composition of established online learning ideas. We do not claim that Thompson sampling, memory, change detection or periodicity estimation are newly invented, or that the composite is universally superior.</a:t>
            </a:r>
            <a:endParaRPr/>
          </a:p>
          <a:p xmlns:a="http://schemas.openxmlformats.org/drawingml/2006/main">
            <a:pPr>
              <a:spcBef>
                <a:spcPct val="0"/>
              </a:spcBef>
              <a:buNone/>
            </a:pPr>
            <a:r>
              <a:t/>
            </a:r>
            <a:endParaRPr/>
          </a:p>
          <a:p xmlns:a="http://schemas.openxmlformats.org/drawingml/2006/main">
            <a:pPr>
              <a:spcBef>
                <a:spcPct val="0"/>
              </a:spcBef>
              <a:buNone/>
            </a:pPr>
            <a:r>
              <a:t>SOURCE</a:t>
            </a:r>
            <a:endParaRPr/>
          </a:p>
          <a:p xmlns:a="http://schemas.openxmlformats.org/drawingml/2006/main">
            <a:pPr>
              <a:spcBef>
                <a:spcPct val="0"/>
              </a:spcBef>
              <a:buNone/>
            </a:pPr>
            <a:r>
              <a:t>README.md, Product workflow, Programmatic truth isolation, MAG-NTS and Limitations.</a:t>
            </a:r>
            <a:endParaRPr/>
          </a:p>
          <a:p xmlns:a="http://schemas.openxmlformats.org/drawingml/2006/main">
            <a:pPr>
              <a:spcBef>
                <a:spcPct val="0"/>
              </a:spcBef>
              <a:buNone/>
            </a:pPr>
            <a:r>
              <a:t/>
            </a:r>
            <a:endParaRPr/>
          </a:p>
          <a:p xmlns:a="http://schemas.openxmlformats.org/drawingml/2006/main">
            <a:pPr>
              <a:spcBef>
                <a:spcPct val="0"/>
              </a:spcBef>
              <a:buNone/>
            </a:pPr>
            <a:r>
              <a:t>VISUAL PROVENANCE</a:t>
            </a:r>
            <a:endParaRPr/>
          </a:p>
          <a:p xmlns:a="http://schemas.openxmlformats.org/drawingml/2006/main">
            <a:pPr>
              <a:spcBef>
                <a:spcPct val="0"/>
              </a:spcBef>
              <a:buNone/>
            </a:pPr>
            <a:r>
              <a:t>Generated with the built-in image generation tool for this presentation. Saved project asset: .alphax-build/spectrum-concept.png. Prompt: Premium scientific editorial illustration on observing a wide radio-frequency spectrum through a limited receiver view. Wide landscape, pure white background, translucent navy-blue spectral wave ribbons and cyan peaks, with one narrow amber glass observation slice. Isometric 3D scientific visualization. No text, numbers, logos, maps, interface panels or military equipment. Conceptual illustration, not measured data.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TECHNICAL APPROACH (55 seconds)</a:t>
            </a:r>
            <a:endParaRPr/>
          </a:p>
          <a:p xmlns:a="http://schemas.openxmlformats.org/drawingml/2006/main">
            <a:pPr>
              <a:spcBef>
                <a:spcPct val="0"/>
              </a:spcBef>
              <a:buNone/>
            </a:pPr>
            <a:r>
              <a:t>Describe the software boundary at a high level. A source adapter produces an immutable world. The receiver returns only the chosen observation window. A policy updates its internal state from those observations. A separate evaluator can inspect hidden simulation truth and record metrics. The evaluator never supplies truth-derived reward to policy updates.</a:t>
            </a:r>
            <a:endParaRPr/>
          </a:p>
          <a:p xmlns:a="http://schemas.openxmlformats.org/drawingml/2006/main">
            <a:pPr>
              <a:spcBef>
                <a:spcPct val="0"/>
              </a:spcBef>
              <a:buNone/>
            </a:pPr>
            <a:r>
              <a:t/>
            </a:r>
            <a:endParaRPr/>
          </a:p>
          <a:p xmlns:a="http://schemas.openxmlformats.org/drawingml/2006/main">
            <a:pPr>
              <a:spcBef>
                <a:spcPct val="0"/>
              </a:spcBef>
              <a:buNone/>
            </a:pPr>
            <a:r>
              <a:t>WORKING PROTOTYPE</a:t>
            </a:r>
            <a:endParaRPr/>
          </a:p>
          <a:p xmlns:a="http://schemas.openxmlformats.org/drawingml/2006/main">
            <a:pPr>
              <a:spcBef>
                <a:spcPct val="0"/>
              </a:spcBef>
              <a:buNone/>
            </a:pPr>
            <a:r>
              <a:t>The pictured Spectrum Intelligence Cube is an authentic screenshot in docs/screenshots/spectrum-cube.png, captured from a recorded periodic run. Evaluation view is enabled in this screenshot, so the audience can see information deliberately withheld from the policy. This distinction is central to explaining the prototype honestly. The screenshot is shown as product evidence, not as a substitute for an editable scientific chart.</a:t>
            </a:r>
            <a:endParaRPr/>
          </a:p>
          <a:p xmlns:a="http://schemas.openxmlformats.org/drawingml/2006/main">
            <a:pPr>
              <a:spcBef>
                <a:spcPct val="0"/>
              </a:spcBef>
              <a:buNone/>
            </a:pPr>
            <a:r>
              <a:t/>
            </a:r>
            <a:endParaRPr/>
          </a:p>
          <a:p xmlns:a="http://schemas.openxmlformats.org/drawingml/2006/main">
            <a:pPr>
              <a:spcBef>
                <a:spcPct val="0"/>
              </a:spcBef>
              <a:buNone/>
            </a:pPr>
            <a:r>
              <a:t>TECHNOLOGIES USED</a:t>
            </a:r>
            <a:endParaRPr/>
          </a:p>
          <a:p xmlns:a="http://schemas.openxmlformats.org/drawingml/2006/main">
            <a:pPr>
              <a:spcBef>
                <a:spcPct val="0"/>
              </a:spcBef>
              <a:buNone/>
            </a:pPr>
            <a:r>
              <a:t>Python 3.11+ with FastAPI, NumPy and SciPy for the local service and scientific work. React, TypeScript and Three.js for the UI. SQLite indexes stored experiments. JSON/CSV exports and checksummed compressed traces support review. Parquet, FITS and HDF5 adapters retain source provenance. Local operation after installation does not require a paid AI API.</a:t>
            </a:r>
            <a:endParaRPr/>
          </a:p>
          <a:p xmlns:a="http://schemas.openxmlformats.org/drawingml/2006/main">
            <a:pPr>
              <a:spcBef>
                <a:spcPct val="0"/>
              </a:spcBef>
              <a:buNone/>
            </a:pPr>
            <a:r>
              <a:t/>
            </a:r>
            <a:endParaRPr/>
          </a:p>
          <a:p xmlns:a="http://schemas.openxmlformats.org/drawingml/2006/main">
            <a:pPr>
              <a:spcBef>
                <a:spcPct val="0"/>
              </a:spcBef>
              <a:buNone/>
            </a:pPr>
            <a:r>
              <a:t>IMPLEMENTATION STATUS</a:t>
            </a:r>
            <a:endParaRPr/>
          </a:p>
          <a:p xmlns:a="http://schemas.openxmlformats.org/drawingml/2006/main">
            <a:pPr>
              <a:spcBef>
                <a:spcPct val="0"/>
              </a:spcBef>
              <a:buNone/>
            </a:pPr>
            <a:r>
              <a:t>Implemented: local simulation, existing policies and ablations, observation boundary, live transport, stored replay, provenance, 3D visualization, metrics and exports. Proposed next work: broader independent validation and a separately reviewed hardware interface.</a:t>
            </a:r>
            <a:endParaRPr/>
          </a:p>
          <a:p xmlns:a="http://schemas.openxmlformats.org/drawingml/2006/main">
            <a:pPr>
              <a:spcBef>
                <a:spcPct val="0"/>
              </a:spcBef>
              <a:buNone/>
            </a:pPr>
            <a:r>
              <a:t/>
            </a:r>
            <a:endParaRPr/>
          </a:p>
          <a:p xmlns:a="http://schemas.openxmlformats.org/drawingml/2006/main">
            <a:pPr>
              <a:spcBef>
                <a:spcPct val="0"/>
              </a:spcBef>
              <a:buNone/>
            </a:pPr>
            <a:r>
              <a:t>SOURCES</a:t>
            </a:r>
            <a:endParaRPr/>
          </a:p>
          <a:p xmlns:a="http://schemas.openxmlformats.org/drawingml/2006/main">
            <a:pPr>
              <a:spcBef>
                <a:spcPct val="0"/>
              </a:spcBef>
              <a:buNone/>
            </a:pPr>
            <a:r>
              <a:t>README.md Architecture, Receiver model, API and event model, Offline replay and performance. backend/contracts.py. docs/VALIDATION.md. Screenshot: docs/screenshots/spectrum-cube.png.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FEASIBILITY AND VIABILITY (50 seconds)</a:t>
            </a:r>
            <a:endParaRPr/>
          </a:p>
          <a:p xmlns:a="http://schemas.openxmlformats.org/drawingml/2006/main">
            <a:pPr>
              <a:spcBef>
                <a:spcPct val="0"/>
              </a:spcBef>
              <a:buNone/>
            </a:pPr>
            <a:r>
              <a:t>We have a working local research application and recorded evidence. The supplied benchmark covers ten presets, three seeds per preset and six policies, giving 30 paired worlds and 180 policy evaluations. The 32 backend tests passed in this workspace during the current session. They cover software contracts and calculations, not operational effectiveness.</a:t>
            </a:r>
            <a:endParaRPr/>
          </a:p>
          <a:p xmlns:a="http://schemas.openxmlformats.org/drawingml/2006/main">
            <a:pPr>
              <a:spcBef>
                <a:spcPct val="0"/>
              </a:spcBef>
              <a:buNone/>
            </a:pPr>
            <a:r>
              <a:t/>
            </a:r>
            <a:endParaRPr/>
          </a:p>
          <a:p xmlns:a="http://schemas.openxmlformats.org/drawingml/2006/main">
            <a:pPr>
              <a:spcBef>
                <a:spcPct val="0"/>
              </a:spcBef>
              <a:buNone/>
            </a:pPr>
            <a:r>
              <a:t>ECONOMIC AND PRACTICAL VIABILITY</a:t>
            </a:r>
            <a:endParaRPr/>
          </a:p>
          <a:p xmlns:a="http://schemas.openxmlformats.org/drawingml/2006/main">
            <a:pPr>
              <a:spcBef>
                <a:spcPct val="0"/>
              </a:spcBef>
              <a:buNone/>
            </a:pPr>
            <a:r>
              <a:t>The prototype uses open-source libraries and runs locally after installation. No paid external model API or bespoke RF hardware is required for the current simulator demonstration. We have not measured deployment cost, energy use, or financial savings. Those should remain future evaluation topics.</a:t>
            </a:r>
            <a:endParaRPr/>
          </a:p>
          <a:p xmlns:a="http://schemas.openxmlformats.org/drawingml/2006/main">
            <a:pPr>
              <a:spcBef>
                <a:spcPct val="0"/>
              </a:spcBef>
              <a:buNone/>
            </a:pPr>
            <a:r>
              <a:t/>
            </a:r>
            <a:endParaRPr/>
          </a:p>
          <a:p xmlns:a="http://schemas.openxmlformats.org/drawingml/2006/main">
            <a:pPr>
              <a:spcBef>
                <a:spcPct val="0"/>
              </a:spcBef>
              <a:buNone/>
            </a:pPr>
            <a:r>
              <a:t>DATA STATUS</a:t>
            </a:r>
            <a:endParaRPr/>
          </a:p>
          <a:p xmlns:a="http://schemas.openxmlformats.org/drawingml/2006/main">
            <a:pPr>
              <a:spcBef>
                <a:spcPct val="0"/>
              </a:spcBef>
              <a:buNone/>
            </a:pPr>
            <a:r>
              <a:t>The public e-CALLISTO recording is ALASKA-ANCHORAGE, 10 May 2024, approximately 16:00 UTC. Standardization retains 705,600 values. It is a solar-radio measurement used to demonstrate ingestion, missing-channel handling and provenance. It cannot support labelled EW interception or classification claims.</a:t>
            </a:r>
            <a:endParaRPr/>
          </a:p>
          <a:p xmlns:a="http://schemas.openxmlformats.org/drawingml/2006/main">
            <a:pPr>
              <a:spcBef>
                <a:spcPct val="0"/>
              </a:spcBef>
              <a:buNone/>
            </a:pPr>
            <a:r>
              <a:t/>
            </a:r>
            <a:endParaRPr/>
          </a:p>
          <a:p xmlns:a="http://schemas.openxmlformats.org/drawingml/2006/main">
            <a:pPr>
              <a:spcBef>
                <a:spcPct val="0"/>
              </a:spcBef>
              <a:buNone/>
            </a:pPr>
            <a:r>
              <a:t>RISKS AND MITIGATIONS</a:t>
            </a:r>
            <a:endParaRPr/>
          </a:p>
          <a:p xmlns:a="http://schemas.openxmlformats.org/drawingml/2006/main">
            <a:pPr>
              <a:spcBef>
                <a:spcPct val="0"/>
              </a:spcBef>
              <a:buNone/>
            </a:pPr>
            <a:r>
              <a:t>The TSRD importer exists, but an authorized publisher artifact is absent. Do not present synthetic test fixtures as official data. Software abstractions need independent hardware calibration before any hardware claim. Small seed counts limit statistical certainty. Existing results show scenario-dependent behavior, so expanding independent data and reporting all baselines is necessary. These are proposed validation steps, not completed milestones.</a:t>
            </a:r>
            <a:endParaRPr/>
          </a:p>
          <a:p xmlns:a="http://schemas.openxmlformats.org/drawingml/2006/main">
            <a:pPr>
              <a:spcBef>
                <a:spcPct val="0"/>
              </a:spcBef>
              <a:buNone/>
            </a:pPr>
            <a:r>
              <a:t/>
            </a:r>
            <a:endParaRPr/>
          </a:p>
          <a:p xmlns:a="http://schemas.openxmlformats.org/drawingml/2006/main">
            <a:pPr>
              <a:spcBef>
                <a:spcPct val="0"/>
              </a:spcBef>
              <a:buNone/>
            </a:pPr>
            <a:r>
              <a:t>SOURCES</a:t>
            </a:r>
            <a:endParaRPr/>
          </a:p>
          <a:p xmlns:a="http://schemas.openxmlformats.org/drawingml/2006/main">
            <a:pPr>
              <a:spcBef>
                <a:spcPct val="0"/>
              </a:spcBef>
              <a:buNone/>
            </a:pPr>
            <a:r>
              <a:t>Current pytest output: 32 passed. docs/VALIDATION.md. docs/DATA.md. data/demo/BENCH-723C785465.json. Actual screenshot: docs/screenshots/measured-rf.png. e-CALLISTO network: https://www.e-callisto.org/ . Public source archive: https://soleil.i4ds.ch/solarradio/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IMPACT AND BENEFITS (50 seconds)</a:t>
            </a:r>
            <a:endParaRPr/>
          </a:p>
          <a:p xmlns:a="http://schemas.openxmlformats.org/drawingml/2006/main">
            <a:pPr>
              <a:spcBef>
                <a:spcPct val="0"/>
              </a:spcBef>
              <a:buNone/>
            </a:pPr>
            <a:r>
              <a:t>This chart contains actual bundled simulation results. It uses four explicitly selected scenarios from the ten-scenario suite. Each mean uses seeds 42, 43 and 44 at a 240-slot horizon. The chart retains the fixed baseline and vanilla Thompson, including the sparse case where Thompson exceeds the composite policy.</a:t>
            </a:r>
            <a:endParaRPr/>
          </a:p>
          <a:p xmlns:a="http://schemas.openxmlformats.org/drawingml/2006/main">
            <a:pPr>
              <a:spcBef>
                <a:spcPct val="0"/>
              </a:spcBef>
              <a:buNone/>
            </a:pPr>
            <a:r>
              <a:t/>
            </a:r>
            <a:endParaRPr/>
          </a:p>
          <a:p xmlns:a="http://schemas.openxmlformats.org/drawingml/2006/main">
            <a:pPr>
              <a:spcBef>
                <a:spcPct val="0"/>
              </a:spcBef>
              <a:buNone/>
            </a:pPr>
            <a:r>
              <a:t>READING THE CHART</a:t>
            </a:r>
            <a:endParaRPr/>
          </a:p>
          <a:p xmlns:a="http://schemas.openxmlformats.org/drawingml/2006/main">
            <a:pPr>
              <a:spcBef>
                <a:spcPct val="0"/>
              </a:spcBef>
              <a:buNone/>
            </a:pPr>
            <a:r>
              <a:t>Global recall divides detected active cells by all active band-time cells, including cells outside the observed window. It is distinct from detector probability of detection conditioned on observing a cell. The bundled report includes confidence intervals, variance, all scenarios and ablations. Wide intervals and only three seeds per scenario limit conclusions. Do not describe these figures as live hardware results, accuracy, or guaranteed gains.</a:t>
            </a:r>
            <a:endParaRPr/>
          </a:p>
          <a:p xmlns:a="http://schemas.openxmlformats.org/drawingml/2006/main">
            <a:pPr>
              <a:spcBef>
                <a:spcPct val="0"/>
              </a:spcBef>
              <a:buNone/>
            </a:pPr>
            <a:r>
              <a:t/>
            </a:r>
            <a:endParaRPr/>
          </a:p>
          <a:p xmlns:a="http://schemas.openxmlformats.org/drawingml/2006/main">
            <a:pPr>
              <a:spcBef>
                <a:spcPct val="0"/>
              </a:spcBef>
              <a:buNone/>
            </a:pPr>
            <a:r>
              <a:t>EXPECTED IMPACT</a:t>
            </a:r>
            <a:endParaRPr/>
          </a:p>
          <a:p xmlns:a="http://schemas.openxmlformats.org/drawingml/2006/main">
            <a:pPr>
              <a:spcBef>
                <a:spcPct val="0"/>
              </a:spcBef>
              <a:buNone/>
            </a:pPr>
            <a:r>
              <a:t>For reviewers and researchers, the immediate value is a transparent comparison workflow with replayable scientific evidence. For engineering teams, the prototype exposes data, software and evaluation gaps before hardware trials. Reusable experiments may reduce duplicated evaluation work, but no economic, environmental, or time-saving amount has been measured.</a:t>
            </a:r>
            <a:endParaRPr/>
          </a:p>
          <a:p xmlns:a="http://schemas.openxmlformats.org/drawingml/2006/main">
            <a:pPr>
              <a:spcBef>
                <a:spcPct val="0"/>
              </a:spcBef>
              <a:buNone/>
            </a:pPr>
            <a:r>
              <a:t/>
            </a:r>
            <a:endParaRPr/>
          </a:p>
          <a:p xmlns:a="http://schemas.openxmlformats.org/drawingml/2006/main">
            <a:pPr>
              <a:spcBef>
                <a:spcPct val="0"/>
              </a:spcBef>
              <a:buNone/>
            </a:pPr>
            <a:r>
              <a:t>SOURCE</a:t>
            </a:r>
            <a:endParaRPr/>
          </a:p>
          <a:p xmlns:a="http://schemas.openxmlformats.org/drawingml/2006/main">
            <a:pPr>
              <a:spcBef>
                <a:spcPct val="0"/>
              </a:spcBef>
              <a:buNone/>
            </a:pPr>
            <a:r>
              <a:t>data/demo/BENCH-723C785465.json, aggregates[*].metrics.recall.mean. Benchmark ID BENCH-723C785465. Local README.md, Fair experiments and metrics and Reproducible evidence included. Chart values derive directly from the JSON report, not copied from marketing claims.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RESEARCH AND REFERENCES (35 seconds)</a:t>
            </a:r>
            <a:endParaRPr/>
          </a:p>
          <a:p xmlns:a="http://schemas.openxmlformats.org/drawingml/2006/main">
            <a:pPr>
              <a:spcBef>
                <a:spcPct val="0"/>
              </a:spcBef>
              <a:buNone/>
            </a:pPr>
            <a:r>
              <a:t>Our project uses established research ideas and makes the evidence inspectable. The novelty claim is the integrated workbench and evaluation workflow, not ownership of the underlying statistical methods.</a:t>
            </a:r>
            <a:endParaRPr/>
          </a:p>
          <a:p xmlns:a="http://schemas.openxmlformats.org/drawingml/2006/main">
            <a:pPr>
              <a:spcBef>
                <a:spcPct val="0"/>
              </a:spcBef>
              <a:buNone/>
            </a:pPr>
            <a:r>
              <a:t/>
            </a:r>
            <a:endParaRPr/>
          </a:p>
          <a:p xmlns:a="http://schemas.openxmlformats.org/drawingml/2006/main">
            <a:pPr>
              <a:spcBef>
                <a:spcPct val="0"/>
              </a:spcBef>
              <a:buNone/>
            </a:pPr>
            <a:r>
              <a:t>PRIMARY REFERENCES</a:t>
            </a:r>
            <a:endParaRPr/>
          </a:p>
          <a:p xmlns:a="http://schemas.openxmlformats.org/drawingml/2006/main">
            <a:pPr>
              <a:spcBef>
                <a:spcPct val="0"/>
              </a:spcBef>
              <a:buNone/>
            </a:pPr>
            <a:r>
              <a:t>1. Daniel Russo, Benjamin Van Roy, Abbas Kazerouni, Ian Osband and Zheng Wen. A Tutorial on Thompson Sampling. Foundations and Trends in Machine Learning 11(1), 2018. Preprint: https://arxiv.org/abs/1707.02038 . Used for conceptual background on sequential decisions under uncertainty.</a:t>
            </a:r>
            <a:endParaRPr/>
          </a:p>
          <a:p xmlns:a="http://schemas.openxmlformats.org/drawingml/2006/main">
            <a:pPr>
              <a:spcBef>
                <a:spcPct val="0"/>
              </a:spcBef>
              <a:buNone/>
            </a:pPr>
            <a:r>
              <a:t>2. Edward Gunn, Adam Hosford, Robert Jones, Leo Zeitler, Ian Groves and Victoria Nockles. The Turing Synthetic Radar Dataset: A dataset for pulse deinterleaving. 2026. https://arxiv.org/abs/2602.03856 . Publisher dataset: https://huggingface.co/datasets/alan-turing-institute/turing-synthetic-radar-dataset . Our workspace has an importer but no authorized official artifact. We make no completed evaluation claim on TSRD.</a:t>
            </a:r>
            <a:endParaRPr/>
          </a:p>
          <a:p xmlns:a="http://schemas.openxmlformats.org/drawingml/2006/main">
            <a:pPr>
              <a:spcBef>
                <a:spcPct val="0"/>
              </a:spcBef>
              <a:buNone/>
            </a:pPr>
            <a:r>
              <a:t>3. e-CALLISTO, International Network of Solar Radio Spectrometers. https://www.e-callisto.org/ . FHNW public archive: https://soleil.i4ds.ch/solarradio/ . Included recording: https://soleil.i4ds.ch/solarradio/data/2002-20yy_Callisto/2024/05/10/ALASKA-ANCHORAGE_20240510_160000_01.fit.gz . Attribution to the recording station, e-CALLISTO network and FHNW archive.</a:t>
            </a:r>
            <a:endParaRPr/>
          </a:p>
          <a:p xmlns:a="http://schemas.openxmlformats.org/drawingml/2006/main">
            <a:pPr>
              <a:spcBef>
                <a:spcPct val="0"/>
              </a:spcBef>
              <a:buNone/>
            </a:pPr>
            <a:r>
              <a:t>4. AlphaX project evidence: README.md, docs/DATA.md, docs/METHODOLOGY.md, docs/VALIDATION.md, backend/tests/ and data/demo/BENCH-723C785465.json.</a:t>
            </a:r>
            <a:endParaRPr/>
          </a:p>
          <a:p xmlns:a="http://schemas.openxmlformats.org/drawingml/2006/main">
            <a:pPr>
              <a:spcBef>
                <a:spcPct val="0"/>
              </a:spcBef>
              <a:buNone/>
            </a:pPr>
            <a:r>
              <a:t/>
            </a:r>
            <a:endParaRPr/>
          </a:p>
          <a:p xmlns:a="http://schemas.openxmlformats.org/drawingml/2006/main">
            <a:pPr>
              <a:spcBef>
                <a:spcPct val="0"/>
              </a:spcBef>
              <a:buNone/>
            </a:pPr>
            <a:r>
              <a:t>IMAGE SOURCE</a:t>
            </a:r>
            <a:endParaRPr/>
          </a:p>
          <a:p xmlns:a="http://schemas.openxmlformats.org/drawingml/2006/main">
            <a:pPr>
              <a:spcBef>
                <a:spcPct val="0"/>
              </a:spcBef>
              <a:buNone/>
            </a:pPr>
            <a:r>
              <a:t>Actual product screenshot docs/screenshots/data-provenance.png. Official SIH branding is from the user-supplied SIH 2026 template.</a:t>
            </a:r>
            <a:endParaRPr/>
          </a:p>
          <a:p xmlns:a="http://schemas.openxmlformats.org/drawingml/2006/main">
            <a:pPr>
              <a:spcBef>
                <a:spcPct val="0"/>
              </a:spcBef>
              <a:buNone/>
            </a:pPr>
            <a:r>
              <a:t/>
            </a:r>
            <a:endParaRPr/>
          </a:p>
          <a:p xmlns:a="http://schemas.openxmlformats.org/drawingml/2006/main">
            <a:pPr>
              <a:spcBef>
                <a:spcPct val="0"/>
              </a:spcBef>
              <a:buNone/>
            </a:pPr>
            <a:r>
              <a:t>CLOSING</a:t>
            </a:r>
            <a:endParaRPr/>
          </a:p>
          <a:p xmlns:a="http://schemas.openxmlformats.org/drawingml/2006/main">
            <a:pPr>
              <a:spcBef>
                <a:spcPct val="0"/>
              </a:spcBef>
              <a:buNone/>
            </a:pPr>
            <a:r>
              <a:t>AAMS-X gives judges a working demonstration they can pause, inspect and reproduce. We are seeking further validation of the software research prototype, not claiming operational readiness.</a:t>
            </a:r>
            <a:endParaRPr/>
          </a:p>
          <a:p xmlns:a="http://schemas.openxmlformats.org/drawingml/2006/main">
            <a:pPr>
              <a:spcBef>
                <a:spcPct val="0"/>
              </a:spcBef>
              <a:buNone/>
            </a:pPr>
            <a:r>
              <a:t/>
            </a:r>
            <a:endParaRPr/>
          </a:p>
          <a:p xmlns:a="http://schemas.openxmlformats.org/drawingml/2006/main">
            <a:pPr>
              <a:spcBef>
                <a:spcPct val="0"/>
              </a:spcBef>
              <a:buNone/>
            </a:pPr>
            <a:r>
              <a:t>SHORT Q&amp;A</a:t>
            </a:r>
            <a:endParaRPr/>
          </a:p>
          <a:p xmlns:a="http://schemas.openxmlformats.org/drawingml/2006/main">
            <a:pPr>
              <a:spcBef>
                <a:spcPct val="0"/>
              </a:spcBef>
              <a:buNone/>
            </a:pPr>
            <a:r>
              <a:t>Is it field-tested? No, it is a software research prototype.</a:t>
            </a:r>
            <a:endParaRPr/>
          </a:p>
          <a:p xmlns:a="http://schemas.openxmlformats.org/drawingml/2006/main">
            <a:pPr>
              <a:spcBef>
                <a:spcPct val="0"/>
              </a:spcBef>
              <a:buNone/>
            </a:pPr>
            <a:r>
              <a:t>Is measured data labelled EW data? No, it is solar-radio data used for ingestion and robustness demonstration.</a:t>
            </a:r>
            <a:endParaRPr/>
          </a:p>
          <a:p xmlns:a="http://schemas.openxmlformats.org/drawingml/2006/main">
            <a:pPr>
              <a:spcBef>
                <a:spcPct val="0"/>
              </a:spcBef>
              <a:buNone/>
            </a:pPr>
            <a:r>
              <a:t>Does the policy see hidden truth? The policy contract supplies selected-window observations only, and tests guard that boundary.</a:t>
            </a:r>
            <a:endParaRPr/>
          </a:p>
          <a:p xmlns:a="http://schemas.openxmlformats.org/drawingml/2006/main">
            <a:pPr>
              <a:spcBef>
                <a:spcPct val="0"/>
              </a:spcBef>
              <a:buNone/>
            </a:pPr>
            <a:r>
              <a:t>Is MAG-NTS universally better? No, results depend on scenario and simpler baselines can outperform it.</a:t>
            </a:r>
            <a:endParaRPr/>
          </a:p>
          <a:p xmlns:a="http://schemas.openxmlformats.org/drawingml/2006/main">
            <a:pPr>
              <a:spcBef>
                <a:spcPct val="0"/>
              </a:spcBef>
              <a:buNone/>
            </a:pPr>
            <a:r>
              <a:t>Can judges rerun the demonstration? Yes, recorded traces, local launcher and metric definitions are supplied.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721bd76b15473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52acc58f870467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d555c56d1aa483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58fa90b766349a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f349366b9e542b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b05558b8b754b0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2d9ecde8a374be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738b7eca3b84c8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644fde996cf467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f33790b990a433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dec825235f44715"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39ECC71-0724-4041-8255-41C8463D0741}"/>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37765D82-CDFC-416D-B7FE-507FE32D7D63}"/>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76E0D94F-B5DE-4920-82ED-C9676DB4F3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6FEF6A10-23CE-4403-98D0-74830E76882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541A2517-964E-4DBC-9338-221EC9CFE3B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720C7B7-5037-40C0-BC92-3A4286D1DB5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A0AFEDD-ADF7-4EA8-813E-D84F0B13546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A76DF7F-032E-47EE-B677-6C8002B7447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4BDF6A64-B67C-4D9B-A6AF-24F3180BDA9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4D002187-96EE-465D-93F1-D4527D2D059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3F3404A-D5E0-4900-AE16-8DB610CB8D3B}"/>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0AEC4C4-9BE9-4965-8440-7DEF1C028727}"/>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928CDA9A-58F5-40B1-AC68-3DF7ADC8CB7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98EDB382-E3A7-4976-A8CA-92350819028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F8D99019-271F-4BF1-B90F-29033C31AEF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2FB2A72-28CB-4BCB-BAF0-610EFB6B8A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C5595C7-9CC0-44D3-88E0-FF5E980478D2}"/>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CA383872-E57F-42B7-A9EF-CFD891F73C87}"/>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98718C39-4C66-4438-BC23-5090774AFE7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1E2C0108-6F90-4594-9C2D-78FB3073089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87B9B652-538B-447D-BF08-67392A30CCF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B5CD6EF-581A-4E4C-B43E-2E0B5611CB4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A4656DF3-4313-4432-A3BF-06110693DEB9}"/>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17FCB826-5FA5-441D-BEE9-35156709D0BD}"/>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D2AE38FF-E6F0-40CF-81E4-3CBBFA4436B4}"/>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A0608C63-2ED9-4BA8-8AB1-0E141901F872}"/>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DBDD0658-6899-42CF-BC31-DCBF7F7FAC6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6995EC38-6A77-4B32-98D5-A5AAA9A454D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67B58FDD-DAB1-4585-8A48-F7EDCD4E806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C49E36E-85CE-4EC1-AED0-1048E35849A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BCAF43F3-F8AE-4E17-A6AE-206C284CED9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D1FA0D8A-ED46-4F60-8154-F5BA5F7C6D5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C84EF5CE-40FD-47D0-B4A6-4349F5ACF0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F2398F85-6D13-4F81-9749-507B8C18A3F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C3705C8B-683F-4824-A3B1-99A8C787559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13BBF13F-9572-452E-92A6-017C311013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3B88EF5-2AEB-470F-A12F-24F7AB8A3561}"/>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8AAE5BB-ECBC-43DC-A5C8-FA270556024C}"/>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D22F34F2-F1A2-445E-AC88-5F0EBBF98B47}"/>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36C8E73D-2496-4C88-982F-ABB2DEFBD4B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EF2B7AFD-A15C-4588-90EA-12D394292A4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3938A3E0-398F-48FE-BB62-C2AEDE7B058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291CD47-070A-4E44-B4D1-E049963FB117}"/>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DFF70185-1423-4772-A4E0-0A1DC6C1308E}"/>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17082E29-401F-4026-AC7E-70A1EFB60773}"/>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B4EE19F8-5ABD-47CB-8F41-7F1A4F2B7FE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911B8CD4-C684-4CC3-9E5E-9DDCA9DD82C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76E37E3A-D64E-49D8-8EDD-617F5FBE917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BAC2D6B-C759-4BE9-8CD2-20C5641280C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BFB2D0BC-9FA1-4CD2-84E5-7C5C700CB4D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7C67B01-749D-4B18-95FC-A2698017D9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B4F36472-DABB-43B5-B3C2-E1FAA602CD5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01F95EE3-C8C3-4F18-A009-ADEA375909E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8D253982-7061-4271-A224-98226D57F705}"/>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E6860C7-E194-44C7-AF97-E200C87F9472}"/>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51F5AB8-A9D3-4E97-91EB-DC7153B7BE4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55648984-939B-4C7D-8C85-B7F13CFA7E6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FC358F24-1235-4B8A-ACE9-19296FF41E2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a3811898fc4948" /><Relationship Type="http://schemas.openxmlformats.org/officeDocument/2006/relationships/slideLayout" Target="/ppt/slideLayouts/slideLayout1.xml" Id="Rfc06182daffc4ed8" /><Relationship Type="http://schemas.openxmlformats.org/officeDocument/2006/relationships/slideLayout" Target="/ppt/slideLayouts/slideLayout2.xml" Id="R525583836e104775" /><Relationship Type="http://schemas.openxmlformats.org/officeDocument/2006/relationships/slideLayout" Target="/ppt/slideLayouts/slideLayout3.xml" Id="R516df98997974894" /><Relationship Type="http://schemas.openxmlformats.org/officeDocument/2006/relationships/slideLayout" Target="/ppt/slideLayouts/slideLayout4.xml" Id="R0249b385eafe4cbd" /><Relationship Type="http://schemas.openxmlformats.org/officeDocument/2006/relationships/slideLayout" Target="/ppt/slideLayouts/slideLayout5.xml" Id="R665a618d34284193" /><Relationship Type="http://schemas.openxmlformats.org/officeDocument/2006/relationships/slideLayout" Target="/ppt/slideLayouts/slideLayout6.xml" Id="R6deb1132a39a4edf" /><Relationship Type="http://schemas.openxmlformats.org/officeDocument/2006/relationships/slideLayout" Target="/ppt/slideLayouts/slideLayout7.xml" Id="Rf8d05c9400ed4cbd" /><Relationship Type="http://schemas.openxmlformats.org/officeDocument/2006/relationships/slideLayout" Target="/ppt/slideLayouts/slideLayout8.xml" Id="R43c68af60ffd48a2" /><Relationship Type="http://schemas.openxmlformats.org/officeDocument/2006/relationships/slideLayout" Target="/ppt/slideLayouts/slideLayout9.xml" Id="Re038ed8e9b6545d8" /><Relationship Type="http://schemas.openxmlformats.org/officeDocument/2006/relationships/slideLayout" Target="/ppt/slideLayouts/slideLayout10.xml" Id="R4aa924ae59c6436d" /><Relationship Type="http://schemas.openxmlformats.org/officeDocument/2006/relationships/slideLayout" Target="/ppt/slideLayouts/slideLayout11.xml" Id="R1d2162d28a5d4e6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55324755-5283-4683-BB93-FB9C2463BCC5}"/>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1F0CAA29-F1FD-4074-BAD8-C4FB7D4A6D3B}"/>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499D16A-0D4E-4979-9843-A250DAB793AC}"/>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C7352E15-9CCC-4451-8E41-73DD8A4DC66D}"/>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2F2A1C71-DB39-4393-932A-5F144A1B4194}"/>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06182daffc4ed8"/>
    <p:sldLayoutId xmlns:r="http://schemas.openxmlformats.org/officeDocument/2006/relationships" id="2147483650" r:id="R525583836e104775"/>
    <p:sldLayoutId xmlns:r="http://schemas.openxmlformats.org/officeDocument/2006/relationships" id="2147483651" r:id="R516df98997974894"/>
    <p:sldLayoutId xmlns:r="http://schemas.openxmlformats.org/officeDocument/2006/relationships" id="2147483652" r:id="R0249b385eafe4cbd"/>
    <p:sldLayoutId xmlns:r="http://schemas.openxmlformats.org/officeDocument/2006/relationships" id="2147483653" r:id="R665a618d34284193"/>
    <p:sldLayoutId xmlns:r="http://schemas.openxmlformats.org/officeDocument/2006/relationships" id="2147483654" r:id="R6deb1132a39a4edf"/>
    <p:sldLayoutId xmlns:r="http://schemas.openxmlformats.org/officeDocument/2006/relationships" id="2147483655" r:id="Rf8d05c9400ed4cbd"/>
    <p:sldLayoutId xmlns:r="http://schemas.openxmlformats.org/officeDocument/2006/relationships" id="2147483656" r:id="R43c68af60ffd48a2"/>
    <p:sldLayoutId xmlns:r="http://schemas.openxmlformats.org/officeDocument/2006/relationships" id="2147483657" r:id="Re038ed8e9b6545d8"/>
    <p:sldLayoutId xmlns:r="http://schemas.openxmlformats.org/officeDocument/2006/relationships" id="2147483658" r:id="R4aa924ae59c6436d"/>
    <p:sldLayoutId xmlns:r="http://schemas.openxmlformats.org/officeDocument/2006/relationships" id="2147483659" r:id="R1d2162d28a5d4e65"/>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2d7309ef054682" /><Relationship Type="http://schemas.openxmlformats.org/officeDocument/2006/relationships/image" Target="/ppt/media/image.png" Id="R74d214fae58244a2" /><Relationship Type="http://schemas.openxmlformats.org/officeDocument/2006/relationships/image" Target="/ppt/media/image2.png" Id="Rd2dca207eaea4b07" /><Relationship Type="http://schemas.openxmlformats.org/officeDocument/2006/relationships/notesSlide" Target="/ppt/notesSlides/notesSlide1.xml" Id="R148a50afc5d647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85c59d562f6b4f56" /><Relationship Type="http://schemas.openxmlformats.org/officeDocument/2006/relationships/image" Target="/ppt/media/image3.png" Id="R5aeec7f763c94122" /><Relationship Type="http://schemas.openxmlformats.org/officeDocument/2006/relationships/image" Target="/ppt/media/image4.png" Id="R2548abe9d896440f" /><Relationship Type="http://schemas.openxmlformats.org/officeDocument/2006/relationships/notesSlide" Target="/ppt/notesSlides/notesSlide2.xml" Id="R2a6f6ea4c4a949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108d375aa51e46ea" /><Relationship Type="http://schemas.openxmlformats.org/officeDocument/2006/relationships/image" Target="/ppt/media/image5.png" Id="R52ab9c5fda6c4bc7" /><Relationship Type="http://schemas.openxmlformats.org/officeDocument/2006/relationships/image" Target="/ppt/media/image6.png" Id="R3af643c659574df1" /><Relationship Type="http://schemas.openxmlformats.org/officeDocument/2006/relationships/notesSlide" Target="/ppt/notesSlides/notesSlide3.xml" Id="R1ef13b79034243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c78088504ca42bf" /><Relationship Type="http://schemas.openxmlformats.org/officeDocument/2006/relationships/image" Target="/ppt/media/image7.png" Id="Rf02203d71d9e4b40" /><Relationship Type="http://schemas.openxmlformats.org/officeDocument/2006/relationships/image" Target="/ppt/media/image8.png" Id="R5b8b3efc3c8e4fa4" /><Relationship Type="http://schemas.openxmlformats.org/officeDocument/2006/relationships/notesSlide" Target="/ppt/notesSlides/notesSlide4.xml" Id="R70d18966ebd044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1d321b46b174ed7" /><Relationship Type="http://schemas.openxmlformats.org/officeDocument/2006/relationships/image" Target="/ppt/media/image9.png" Id="R336ed827771a472c" /><Relationship Type="http://schemas.openxmlformats.org/officeDocument/2006/relationships/chart" Target="/ppt/slides/charts/chart1.xml" Id="Ra237fc7e31ad4589" /><Relationship Type="http://schemas.openxmlformats.org/officeDocument/2006/relationships/notesSlide" Target="/ppt/notesSlides/notesSlide5.xml" Id="Rfdf98c818a0942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887b9ea51a464d83" /><Relationship Type="http://schemas.openxmlformats.org/officeDocument/2006/relationships/image" Target="/ppt/media/image10.png" Id="Rd248da6805b64122" /><Relationship Type="http://schemas.openxmlformats.org/officeDocument/2006/relationships/hyperlink" Target="https://arxiv.org/abs/1707.02038" TargetMode="External" Id="Rd9a6e9849246447c" /><Relationship Type="http://schemas.openxmlformats.org/officeDocument/2006/relationships/hyperlink" Target="https://arxiv.org/abs/2602.03856" TargetMode="External" Id="R285053e02a3849ce" /><Relationship Type="http://schemas.openxmlformats.org/officeDocument/2006/relationships/hyperlink" Target="https://www.e-callisto.org/" TargetMode="External" Id="R447becc82813423f" /><Relationship Type="http://schemas.openxmlformats.org/officeDocument/2006/relationships/image" Target="/ppt/media/image11.png" Id="R7b1dc607a9d64db1" /><Relationship Type="http://schemas.openxmlformats.org/officeDocument/2006/relationships/notesSlide" Target="/ppt/notesSlides/notesSlide6.xml" Id="Rd161fb701efd411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Fixed sweep</c:v>
          </c:tx>
          <c:spPr>
            <a:solidFill xmlns:a="http://schemas.openxmlformats.org/drawingml/2006/main">
              <a:srgbClr val="9AA9B7"/>
            </a:solidFill>
          </c:spPr>
          <c:cat>
            <c:strRef>
              <c:f>'Chart Data'!$A$2:$A$5</c:f>
              <c:strCache>
                <c:ptCount val="4"/>
                <c:pt idx="0">
                  <c:v>Sparse</c:v>
                </c:pt>
                <c:pt idx="1">
                  <c:v>Periodic</c:v>
                </c:pt>
                <c:pt idx="2">
                  <c:v>Changing</c:v>
                </c:pt>
                <c:pt idx="3">
                  <c:v>Randomized</c:v>
                </c:pt>
              </c:strCache>
            </c:strRef>
          </c:cat>
          <c:val>
            <c:numRef>
              <c:f>'Chart Data'!$B$2:$B$5</c:f>
              <c:numCache>
                <c:formatCode>0.0%</c:formatCode>
                <c:ptCount val="4"/>
                <c:pt idx="0">
                  <c:v>0.072656</c:v>
                </c:pt>
                <c:pt idx="1">
                  <c:v>0.012721</c:v>
                </c:pt>
                <c:pt idx="2">
                  <c:v>0.07696633</c:v>
                </c:pt>
                <c:pt idx="3">
                  <c:v>0.06467433</c:v>
                </c:pt>
              </c:numCache>
            </c:numRef>
          </c:val>
        </c:ser>
        <c:ser>
          <c:idx val="1"/>
          <c:order val="1"/>
          <c:tx>
            <c:v>MAG-NTS</c:v>
          </c:tx>
          <c:spPr>
            <a:solidFill xmlns:a="http://schemas.openxmlformats.org/drawingml/2006/main">
              <a:srgbClr val="0078B7"/>
            </a:solidFill>
          </c:spPr>
          <c:cat>
            <c:strRef>
              <c:f>'Chart Data'!$C$2:$C$5</c:f>
              <c:strCache>
                <c:ptCount val="4"/>
                <c:pt idx="0">
                  <c:v>Sparse</c:v>
                </c:pt>
                <c:pt idx="1">
                  <c:v>Periodic</c:v>
                </c:pt>
                <c:pt idx="2">
                  <c:v>Changing</c:v>
                </c:pt>
                <c:pt idx="3">
                  <c:v>Randomized</c:v>
                </c:pt>
              </c:strCache>
            </c:strRef>
          </c:cat>
          <c:val>
            <c:numRef>
              <c:f>'Chart Data'!$D$2:$D$5</c:f>
              <c:numCache>
                <c:formatCode>0.0%</c:formatCode>
                <c:ptCount val="4"/>
                <c:pt idx="0">
                  <c:v>0.49243767</c:v>
                </c:pt>
                <c:pt idx="1">
                  <c:v>0.25823667</c:v>
                </c:pt>
                <c:pt idx="2">
                  <c:v>0.371613</c:v>
                </c:pt>
                <c:pt idx="3">
                  <c:v>0.07464167</c:v>
                </c:pt>
              </c:numCache>
            </c:numRef>
          </c:val>
        </c:ser>
        <c:ser>
          <c:idx val="2"/>
          <c:order val="2"/>
          <c:tx>
            <c:v>Thompson</c:v>
          </c:tx>
          <c:spPr>
            <a:solidFill xmlns:a="http://schemas.openxmlformats.org/drawingml/2006/main">
              <a:srgbClr val="D8984A"/>
            </a:solidFill>
          </c:spPr>
          <c:cat>
            <c:strRef>
              <c:f>'Chart Data'!$E$2:$E$5</c:f>
              <c:strCache>
                <c:ptCount val="4"/>
                <c:pt idx="0">
                  <c:v>Sparse</c:v>
                </c:pt>
                <c:pt idx="1">
                  <c:v>Periodic</c:v>
                </c:pt>
                <c:pt idx="2">
                  <c:v>Changing</c:v>
                </c:pt>
                <c:pt idx="3">
                  <c:v>Randomized</c:v>
                </c:pt>
              </c:strCache>
            </c:strRef>
          </c:cat>
          <c:val>
            <c:numRef>
              <c:f>'Chart Data'!$F$2:$F$5</c:f>
              <c:numCache>
                <c:formatCode>0.0%</c:formatCode>
                <c:ptCount val="4"/>
                <c:pt idx="0">
                  <c:v>0.63629067</c:v>
                </c:pt>
                <c:pt idx="1">
                  <c:v>0.21516667</c:v>
                </c:pt>
                <c:pt idx="2">
                  <c:v>0.273606</c:v>
                </c:pt>
                <c:pt idx="3">
                  <c:v>0.06864833</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72A3D"/>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72A3D"/>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77B"/>
                </a:solidFill>
                <a:latin typeface="Arial"/>
                <a:ea typeface="Arial"/>
                <a:cs typeface="Arial"/>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72A3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57"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74d214fae58244a2"/>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8" name="Title 7">
            <a:extLst xmlns:a="http://schemas.openxmlformats.org/drawingml/2006/main">
              <a:ext uri="{FF2B5EF4-FFF2-40B4-BE49-F238E27FC236}">
                <a16:creationId xmlns:a16="http://schemas.microsoft.com/office/drawing/2014/main" id="{7387A387-73E3-4A0C-9C85-B406D1930474}"/>
              </a:ext>
            </a:extLst>
          </p:cNvPr>
          <p:cNvSpPr>
            <a:spLocks xmlns:a="http://schemas.openxmlformats.org/drawingml/2006/main" noGrp="1"/>
          </p:cNvSpPr>
          <p:nvPr>
            <p:ph type="ctrTitle" idx="0"/>
          </p:nvPr>
        </p:nvSpPr>
        <p:spPr>
          <a:xfrm xmlns:a="http://schemas.openxmlformats.org/drawingml/2006/main">
            <a:off x="333375" y="171450"/>
            <a:ext cx="9286875" cy="742950"/>
          </a:xfrm>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214E82"/>
                </a:solidFill>
                <a:latin typeface="Arial"/>
                <a:ea typeface="Arial"/>
                <a:cs typeface="Arial"/>
              </a:defRPr>
            </a:pPr>
            <a:r>
              <a:rPr sz="3600" b="1">
                <a:solidFill>
                  <a:srgbClr val="214E82"/>
                </a:solidFill>
                <a:latin typeface="Arial"/>
                <a:ea typeface="Arial"/>
                <a:cs typeface="Arial"/>
              </a:rPr>
              <a:t>SMART INDIA HACKATHON 2026</a:t>
            </a:r>
            <a:endParaRPr sz="4000" b="1">
              <a:solidFill>
                <a:schemeClr val="tx2"/>
              </a:solidFill>
              <a:latin typeface="Garamond"/>
              <a:ea typeface="Garamond"/>
              <a:cs typeface="Garamond"/>
            </a:endParaRP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d2dca207eaea4b07"/>
          <a:srcRect xmlns:a="http://schemas.openxmlformats.org/drawingml/2006/main" l="0" t="0" r="0" b="0"/>
          <a:stretch xmlns:a="http://schemas.openxmlformats.org/drawingml/2006/main">
            <a:fillRect l="0" t="0" r="0" b="0"/>
          </a:stretch>
        </p:blipFill>
        <p:spPr>
          <a:xfrm xmlns:a="http://schemas.openxmlformats.org/drawingml/2006/main">
            <a:off x="9780080" y="1524"/>
            <a:ext cx="2249805" cy="1062323"/>
          </a:xfrm>
          <a:prstGeom xmlns:a="http://schemas.openxmlformats.org/drawingml/2006/main" prst="rect">
            <a:avLst/>
          </a:prstGeom>
        </p:spPr>
      </p:pic>
      <p:sp>
        <p:nvSpPr>
          <p:cNvPr id="40" name="AAMS-X">
            <a:extLst xmlns:a="http://schemas.openxmlformats.org/drawingml/2006/main">
              <a:ext uri="{FF2B5EF4-FFF2-40B4-BE49-F238E27FC236}">
                <a16:creationId xmlns:a16="http://schemas.microsoft.com/office/drawing/2014/main" id="{D4F1DF0D-828F-4B83-949C-AE98FC51E4A8}"/>
              </a:ext>
            </a:extLst>
          </p:cNvPr>
          <p:cNvSpPr>
            <a:spLocks xmlns:a="http://schemas.openxmlformats.org/drawingml/2006/main" noGrp="1"/>
          </p:cNvSpPr>
          <p:nvPr/>
        </p:nvSpPr>
        <p:spPr>
          <a:xfrm xmlns:a="http://schemas.openxmlformats.org/drawingml/2006/main">
            <a:off x="428625" y="1238250"/>
            <a:ext cx="5905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214E82"/>
                </a:solidFill>
                <a:latin typeface="Arial"/>
                <a:ea typeface="Arial"/>
                <a:cs typeface="Arial"/>
              </a:defRPr>
            </a:pPr>
            <a:r>
              <a:rPr sz="4950" b="1">
                <a:solidFill>
                  <a:srgbClr val="214E82"/>
                </a:solidFill>
                <a:latin typeface="Arial"/>
                <a:ea typeface="Arial"/>
                <a:cs typeface="Arial"/>
              </a:rPr>
              <a:t>AAMS-X</a:t>
            </a:r>
          </a:p>
        </p:txBody>
      </p:sp>
      <p:sp>
        <p:nvSpPr>
          <p:cNvPr id="41" name="Adaptive Autonomous Mission&#10;Spectrum eXplorer">
            <a:extLst xmlns:a="http://schemas.openxmlformats.org/drawingml/2006/main">
              <a:ext uri="{FF2B5EF4-FFF2-40B4-BE49-F238E27FC236}">
                <a16:creationId xmlns:a16="http://schemas.microsoft.com/office/drawing/2014/main" id="{7A1408F7-C98C-4F2F-95E8-3E55F374D48B}"/>
              </a:ext>
            </a:extLst>
          </p:cNvPr>
          <p:cNvSpPr>
            <a:spLocks xmlns:a="http://schemas.openxmlformats.org/drawingml/2006/main" noGrp="1"/>
          </p:cNvSpPr>
          <p:nvPr/>
        </p:nvSpPr>
        <p:spPr>
          <a:xfrm xmlns:a="http://schemas.openxmlformats.org/drawingml/2006/main">
            <a:off x="457200" y="2038350"/>
            <a:ext cx="581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A3D"/>
                </a:solidFill>
                <a:latin typeface="Arial"/>
                <a:ea typeface="Arial"/>
                <a:cs typeface="Arial"/>
              </a:defRPr>
            </a:pPr>
            <a:r>
              <a:rPr sz="2100" b="1">
                <a:solidFill>
                  <a:srgbClr val="172A3D"/>
                </a:solidFill>
                <a:latin typeface="Arial"/>
                <a:ea typeface="Arial"/>
                <a:cs typeface="Arial"/>
              </a:rPr>
              <a:t>Adaptive Autonomous Mission</a:t>
            </a:r>
          </a:p>
          <a:p xmlns:a="http://schemas.openxmlformats.org/drawingml/2006/main">
            <a:pPr algn="l">
              <a:defRPr sz="2100" b="1">
                <a:solidFill>
                  <a:srgbClr val="172A3D"/>
                </a:solidFill>
                <a:latin typeface="Arial"/>
                <a:ea typeface="Arial"/>
                <a:cs typeface="Arial"/>
              </a:defRPr>
            </a:pPr>
            <a:r>
              <a:rPr sz="2100" b="1">
                <a:solidFill>
                  <a:srgbClr val="172A3D"/>
                </a:solidFill>
                <a:latin typeface="Arial"/>
                <a:ea typeface="Arial"/>
                <a:cs typeface="Arial"/>
              </a:rPr>
              <a:t>Spectrum eXplorer</a:t>
            </a:r>
          </a:p>
        </p:txBody>
      </p:sp>
      <p:sp>
        <p:nvSpPr>
          <p:cNvPr id="42" name="An explainable spectrum research workbench">
            <a:extLst xmlns:a="http://schemas.openxmlformats.org/drawingml/2006/main">
              <a:ext uri="{FF2B5EF4-FFF2-40B4-BE49-F238E27FC236}">
                <a16:creationId xmlns:a16="http://schemas.microsoft.com/office/drawing/2014/main" id="{1BB4A3F8-0D6C-42A7-9A33-E0DCBDAA5D1A}"/>
              </a:ext>
            </a:extLst>
          </p:cNvPr>
          <p:cNvSpPr>
            <a:spLocks xmlns:a="http://schemas.openxmlformats.org/drawingml/2006/main" noGrp="1"/>
          </p:cNvSpPr>
          <p:nvPr/>
        </p:nvSpPr>
        <p:spPr>
          <a:xfrm xmlns:a="http://schemas.openxmlformats.org/drawingml/2006/main">
            <a:off x="457200" y="2857500"/>
            <a:ext cx="5857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B"/>
                </a:solidFill>
                <a:latin typeface="Arial"/>
                <a:ea typeface="Arial"/>
                <a:cs typeface="Arial"/>
              </a:defRPr>
            </a:pPr>
            <a:r>
              <a:rPr sz="1800" b="0">
                <a:solidFill>
                  <a:srgbClr val="52677B"/>
                </a:solidFill>
                <a:latin typeface="Arial"/>
                <a:ea typeface="Arial"/>
                <a:cs typeface="Arial"/>
              </a:rPr>
              <a:t>An explainable spectrum research workbench</a:t>
            </a:r>
          </a:p>
        </p:txBody>
      </p:sp>
      <p:sp>
        <p:nvSpPr>
          <p:cNvPr id="43" name="Problem Statement ID">
            <a:extLst xmlns:a="http://schemas.openxmlformats.org/drawingml/2006/main">
              <a:ext uri="{FF2B5EF4-FFF2-40B4-BE49-F238E27FC236}">
                <a16:creationId xmlns:a16="http://schemas.microsoft.com/office/drawing/2014/main" id="{468EA5A9-7870-4704-AE26-5B70E7B72605}"/>
              </a:ext>
            </a:extLst>
          </p:cNvPr>
          <p:cNvSpPr>
            <a:spLocks xmlns:a="http://schemas.openxmlformats.org/drawingml/2006/main" noGrp="1"/>
          </p:cNvSpPr>
          <p:nvPr/>
        </p:nvSpPr>
        <p:spPr>
          <a:xfrm xmlns:a="http://schemas.openxmlformats.org/drawingml/2006/main">
            <a:off x="457200" y="348615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77B"/>
                </a:solidFill>
                <a:latin typeface="Arial"/>
                <a:ea typeface="Arial"/>
                <a:cs typeface="Arial"/>
              </a:defRPr>
            </a:pPr>
            <a:r>
              <a:rPr sz="1500" b="0">
                <a:solidFill>
                  <a:srgbClr val="52677B"/>
                </a:solidFill>
                <a:latin typeface="Arial"/>
                <a:ea typeface="Arial"/>
                <a:cs typeface="Arial"/>
              </a:rPr>
              <a:t>Problem Statement ID</a:t>
            </a:r>
          </a:p>
        </p:txBody>
      </p:sp>
      <p:sp>
        <p:nvSpPr>
          <p:cNvPr id="44" name="SIH26055">
            <a:extLst xmlns:a="http://schemas.openxmlformats.org/drawingml/2006/main">
              <a:ext uri="{FF2B5EF4-FFF2-40B4-BE49-F238E27FC236}">
                <a16:creationId xmlns:a16="http://schemas.microsoft.com/office/drawing/2014/main" id="{9E18E1B0-5AC5-4CAA-9FCD-2FC0C4E54B12}"/>
              </a:ext>
            </a:extLst>
          </p:cNvPr>
          <p:cNvSpPr>
            <a:spLocks xmlns:a="http://schemas.openxmlformats.org/drawingml/2006/main" noGrp="1"/>
          </p:cNvSpPr>
          <p:nvPr/>
        </p:nvSpPr>
        <p:spPr>
          <a:xfrm xmlns:a="http://schemas.openxmlformats.org/drawingml/2006/main">
            <a:off x="3705225" y="3486150"/>
            <a:ext cx="3086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72A3D"/>
                </a:solidFill>
                <a:latin typeface="Arial"/>
                <a:ea typeface="Arial"/>
                <a:cs typeface="Arial"/>
              </a:defRPr>
            </a:pPr>
            <a:r>
              <a:rPr sz="1650" b="1">
                <a:solidFill>
                  <a:srgbClr val="172A3D"/>
                </a:solidFill>
                <a:latin typeface="Arial"/>
                <a:ea typeface="Arial"/>
                <a:cs typeface="Arial"/>
              </a:rPr>
              <a:t>SIH26055</a:t>
            </a:r>
          </a:p>
        </p:txBody>
      </p:sp>
      <p:sp>
        <p:nvSpPr>
          <p:cNvPr id="45" name="Problem Statement Title">
            <a:extLst xmlns:a="http://schemas.openxmlformats.org/drawingml/2006/main">
              <a:ext uri="{FF2B5EF4-FFF2-40B4-BE49-F238E27FC236}">
                <a16:creationId xmlns:a16="http://schemas.microsoft.com/office/drawing/2014/main" id="{B4DEBC35-063B-4D69-8209-019EB3F24763}"/>
              </a:ext>
            </a:extLst>
          </p:cNvPr>
          <p:cNvSpPr>
            <a:spLocks xmlns:a="http://schemas.openxmlformats.org/drawingml/2006/main" noGrp="1"/>
          </p:cNvSpPr>
          <p:nvPr/>
        </p:nvSpPr>
        <p:spPr>
          <a:xfrm xmlns:a="http://schemas.openxmlformats.org/drawingml/2006/main">
            <a:off x="457200" y="394335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77B"/>
                </a:solidFill>
                <a:latin typeface="Arial"/>
                <a:ea typeface="Arial"/>
                <a:cs typeface="Arial"/>
              </a:defRPr>
            </a:pPr>
            <a:r>
              <a:rPr sz="1500" b="0">
                <a:solidFill>
                  <a:srgbClr val="52677B"/>
                </a:solidFill>
                <a:latin typeface="Arial"/>
                <a:ea typeface="Arial"/>
                <a:cs typeface="Arial"/>
              </a:rPr>
              <a:t>Problem Statement Title</a:t>
            </a:r>
          </a:p>
        </p:txBody>
      </p:sp>
      <p:sp>
        <p:nvSpPr>
          <p:cNvPr id="46" name="Smart Scan strategy for&#10;Electronic Warfare">
            <a:extLst xmlns:a="http://schemas.openxmlformats.org/drawingml/2006/main">
              <a:ext uri="{FF2B5EF4-FFF2-40B4-BE49-F238E27FC236}">
                <a16:creationId xmlns:a16="http://schemas.microsoft.com/office/drawing/2014/main" id="{884EE6F8-B046-4FCD-8AA6-C47E55EDA7FB}"/>
              </a:ext>
            </a:extLst>
          </p:cNvPr>
          <p:cNvSpPr>
            <a:spLocks xmlns:a="http://schemas.openxmlformats.org/drawingml/2006/main" noGrp="1"/>
          </p:cNvSpPr>
          <p:nvPr/>
        </p:nvSpPr>
        <p:spPr>
          <a:xfrm xmlns:a="http://schemas.openxmlformats.org/drawingml/2006/main">
            <a:off x="3705225" y="3943350"/>
            <a:ext cx="30861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72A3D"/>
                </a:solidFill>
                <a:latin typeface="Arial"/>
                <a:ea typeface="Arial"/>
                <a:cs typeface="Arial"/>
              </a:defRPr>
            </a:pPr>
            <a:r>
              <a:rPr sz="1650" b="1">
                <a:solidFill>
                  <a:srgbClr val="172A3D"/>
                </a:solidFill>
                <a:latin typeface="Arial"/>
                <a:ea typeface="Arial"/>
                <a:cs typeface="Arial"/>
              </a:rPr>
              <a:t>Smart Scan strategy for</a:t>
            </a:r>
          </a:p>
          <a:p xmlns:a="http://schemas.openxmlformats.org/drawingml/2006/main">
            <a:pPr algn="l">
              <a:defRPr sz="1650" b="1">
                <a:solidFill>
                  <a:srgbClr val="172A3D"/>
                </a:solidFill>
                <a:latin typeface="Arial"/>
                <a:ea typeface="Arial"/>
                <a:cs typeface="Arial"/>
              </a:defRPr>
            </a:pPr>
            <a:r>
              <a:rPr sz="1650" b="1">
                <a:solidFill>
                  <a:srgbClr val="172A3D"/>
                </a:solidFill>
                <a:latin typeface="Arial"/>
                <a:ea typeface="Arial"/>
                <a:cs typeface="Arial"/>
              </a:rPr>
              <a:t>Electronic Warfare</a:t>
            </a:r>
          </a:p>
        </p:txBody>
      </p:sp>
      <p:sp>
        <p:nvSpPr>
          <p:cNvPr id="47" name="Theme">
            <a:extLst xmlns:a="http://schemas.openxmlformats.org/drawingml/2006/main">
              <a:ext uri="{FF2B5EF4-FFF2-40B4-BE49-F238E27FC236}">
                <a16:creationId xmlns:a16="http://schemas.microsoft.com/office/drawing/2014/main" id="{46DF8201-7EC9-4670-BE92-DA97DADAB305}"/>
              </a:ext>
            </a:extLst>
          </p:cNvPr>
          <p:cNvSpPr>
            <a:spLocks xmlns:a="http://schemas.openxmlformats.org/drawingml/2006/main" noGrp="1"/>
          </p:cNvSpPr>
          <p:nvPr/>
        </p:nvSpPr>
        <p:spPr>
          <a:xfrm xmlns:a="http://schemas.openxmlformats.org/drawingml/2006/main">
            <a:off x="457200" y="4638675"/>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77B"/>
                </a:solidFill>
                <a:latin typeface="Arial"/>
                <a:ea typeface="Arial"/>
                <a:cs typeface="Arial"/>
              </a:defRPr>
            </a:pPr>
            <a:r>
              <a:rPr sz="1500" b="0">
                <a:solidFill>
                  <a:srgbClr val="52677B"/>
                </a:solidFill>
                <a:latin typeface="Arial"/>
                <a:ea typeface="Arial"/>
                <a:cs typeface="Arial"/>
              </a:rPr>
              <a:t>Theme</a:t>
            </a:r>
          </a:p>
        </p:txBody>
      </p:sp>
      <p:sp>
        <p:nvSpPr>
          <p:cNvPr id="48" name="Awaiting portal confirmation">
            <a:extLst xmlns:a="http://schemas.openxmlformats.org/drawingml/2006/main">
              <a:ext uri="{FF2B5EF4-FFF2-40B4-BE49-F238E27FC236}">
                <a16:creationId xmlns:a16="http://schemas.microsoft.com/office/drawing/2014/main" id="{C3BC1718-23F3-4781-986E-972B5B7FEA75}"/>
              </a:ext>
            </a:extLst>
          </p:cNvPr>
          <p:cNvSpPr>
            <a:spLocks xmlns:a="http://schemas.openxmlformats.org/drawingml/2006/main" noGrp="1"/>
          </p:cNvSpPr>
          <p:nvPr/>
        </p:nvSpPr>
        <p:spPr>
          <a:xfrm xmlns:a="http://schemas.openxmlformats.org/drawingml/2006/main">
            <a:off x="3705225" y="4638675"/>
            <a:ext cx="3086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72A3D"/>
                </a:solidFill>
                <a:latin typeface="Arial"/>
                <a:ea typeface="Arial"/>
                <a:cs typeface="Arial"/>
              </a:defRPr>
            </a:pPr>
            <a:r>
              <a:rPr sz="1650" b="1">
                <a:solidFill>
                  <a:srgbClr val="172A3D"/>
                </a:solidFill>
                <a:latin typeface="Arial"/>
                <a:ea typeface="Arial"/>
                <a:cs typeface="Arial"/>
              </a:rPr>
              <a:t>Awaiting portal confirmation</a:t>
            </a:r>
          </a:p>
        </p:txBody>
      </p:sp>
      <p:sp>
        <p:nvSpPr>
          <p:cNvPr id="49" name="PS Category">
            <a:extLst xmlns:a="http://schemas.openxmlformats.org/drawingml/2006/main">
              <a:ext uri="{FF2B5EF4-FFF2-40B4-BE49-F238E27FC236}">
                <a16:creationId xmlns:a16="http://schemas.microsoft.com/office/drawing/2014/main" id="{F277B179-D5BE-4D20-BCAB-7B692EA2DAAC}"/>
              </a:ext>
            </a:extLst>
          </p:cNvPr>
          <p:cNvSpPr>
            <a:spLocks xmlns:a="http://schemas.openxmlformats.org/drawingml/2006/main" noGrp="1"/>
          </p:cNvSpPr>
          <p:nvPr/>
        </p:nvSpPr>
        <p:spPr>
          <a:xfrm xmlns:a="http://schemas.openxmlformats.org/drawingml/2006/main">
            <a:off x="457200" y="5095875"/>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77B"/>
                </a:solidFill>
                <a:latin typeface="Arial"/>
                <a:ea typeface="Arial"/>
                <a:cs typeface="Arial"/>
              </a:defRPr>
            </a:pPr>
            <a:r>
              <a:rPr sz="1500" b="0">
                <a:solidFill>
                  <a:srgbClr val="52677B"/>
                </a:solidFill>
                <a:latin typeface="Arial"/>
                <a:ea typeface="Arial"/>
                <a:cs typeface="Arial"/>
              </a:rPr>
              <a:t>PS Category</a:t>
            </a:r>
          </a:p>
        </p:txBody>
      </p:sp>
      <p:sp>
        <p:nvSpPr>
          <p:cNvPr id="50" name="Software">
            <a:extLst xmlns:a="http://schemas.openxmlformats.org/drawingml/2006/main">
              <a:ext uri="{FF2B5EF4-FFF2-40B4-BE49-F238E27FC236}">
                <a16:creationId xmlns:a16="http://schemas.microsoft.com/office/drawing/2014/main" id="{2C3BEDD8-33B8-4F17-83C7-0539C641B8DF}"/>
              </a:ext>
            </a:extLst>
          </p:cNvPr>
          <p:cNvSpPr>
            <a:spLocks xmlns:a="http://schemas.openxmlformats.org/drawingml/2006/main" noGrp="1"/>
          </p:cNvSpPr>
          <p:nvPr/>
        </p:nvSpPr>
        <p:spPr>
          <a:xfrm xmlns:a="http://schemas.openxmlformats.org/drawingml/2006/main">
            <a:off x="3705225" y="5095875"/>
            <a:ext cx="3086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72A3D"/>
                </a:solidFill>
                <a:latin typeface="Arial"/>
                <a:ea typeface="Arial"/>
                <a:cs typeface="Arial"/>
              </a:defRPr>
            </a:pPr>
            <a:r>
              <a:rPr sz="1650" b="1">
                <a:solidFill>
                  <a:srgbClr val="172A3D"/>
                </a:solidFill>
                <a:latin typeface="Arial"/>
                <a:ea typeface="Arial"/>
                <a:cs typeface="Arial"/>
              </a:rPr>
              <a:t>Software</a:t>
            </a:r>
          </a:p>
        </p:txBody>
      </p:sp>
      <p:sp>
        <p:nvSpPr>
          <p:cNvPr id="51" name="Team ID">
            <a:extLst xmlns:a="http://schemas.openxmlformats.org/drawingml/2006/main">
              <a:ext uri="{FF2B5EF4-FFF2-40B4-BE49-F238E27FC236}">
                <a16:creationId xmlns:a16="http://schemas.microsoft.com/office/drawing/2014/main" id="{83EE4D6A-385C-41C7-8C47-31A6B3C8B4B2}"/>
              </a:ext>
            </a:extLst>
          </p:cNvPr>
          <p:cNvSpPr>
            <a:spLocks xmlns:a="http://schemas.openxmlformats.org/drawingml/2006/main" noGrp="1"/>
          </p:cNvSpPr>
          <p:nvPr/>
        </p:nvSpPr>
        <p:spPr>
          <a:xfrm xmlns:a="http://schemas.openxmlformats.org/drawingml/2006/main">
            <a:off x="457200" y="5553075"/>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77B"/>
                </a:solidFill>
                <a:latin typeface="Arial"/>
                <a:ea typeface="Arial"/>
                <a:cs typeface="Arial"/>
              </a:defRPr>
            </a:pPr>
            <a:r>
              <a:rPr sz="1500" b="0">
                <a:solidFill>
                  <a:srgbClr val="52677B"/>
                </a:solidFill>
                <a:latin typeface="Arial"/>
                <a:ea typeface="Arial"/>
                <a:cs typeface="Arial"/>
              </a:rPr>
              <a:t>Team ID</a:t>
            </a:r>
          </a:p>
        </p:txBody>
      </p:sp>
      <p:sp>
        <p:nvSpPr>
          <p:cNvPr id="52" name="Not supplied">
            <a:extLst xmlns:a="http://schemas.openxmlformats.org/drawingml/2006/main">
              <a:ext uri="{FF2B5EF4-FFF2-40B4-BE49-F238E27FC236}">
                <a16:creationId xmlns:a16="http://schemas.microsoft.com/office/drawing/2014/main" id="{1EF90E2B-5AA2-47BC-9C3B-2204034ADFCE}"/>
              </a:ext>
            </a:extLst>
          </p:cNvPr>
          <p:cNvSpPr>
            <a:spLocks xmlns:a="http://schemas.openxmlformats.org/drawingml/2006/main" noGrp="1"/>
          </p:cNvSpPr>
          <p:nvPr/>
        </p:nvSpPr>
        <p:spPr>
          <a:xfrm xmlns:a="http://schemas.openxmlformats.org/drawingml/2006/main">
            <a:off x="3705225" y="5553075"/>
            <a:ext cx="3086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72A3D"/>
                </a:solidFill>
                <a:latin typeface="Arial"/>
                <a:ea typeface="Arial"/>
                <a:cs typeface="Arial"/>
              </a:defRPr>
            </a:pPr>
            <a:r>
              <a:rPr sz="1650" b="1">
                <a:solidFill>
                  <a:srgbClr val="172A3D"/>
                </a:solidFill>
                <a:latin typeface="Arial"/>
                <a:ea typeface="Arial"/>
                <a:cs typeface="Arial"/>
              </a:rPr>
              <a:t>Not supplied</a:t>
            </a:r>
          </a:p>
        </p:txBody>
      </p:sp>
      <p:sp>
        <p:nvSpPr>
          <p:cNvPr id="53" name="Team Name (Registered on portal)">
            <a:extLst xmlns:a="http://schemas.openxmlformats.org/drawingml/2006/main">
              <a:ext uri="{FF2B5EF4-FFF2-40B4-BE49-F238E27FC236}">
                <a16:creationId xmlns:a16="http://schemas.microsoft.com/office/drawing/2014/main" id="{60CA095D-1C61-4840-9B88-2F5D6056475A}"/>
              </a:ext>
            </a:extLst>
          </p:cNvPr>
          <p:cNvSpPr>
            <a:spLocks xmlns:a="http://schemas.openxmlformats.org/drawingml/2006/main" noGrp="1"/>
          </p:cNvSpPr>
          <p:nvPr/>
        </p:nvSpPr>
        <p:spPr>
          <a:xfrm xmlns:a="http://schemas.openxmlformats.org/drawingml/2006/main">
            <a:off x="457200" y="6010275"/>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77B"/>
                </a:solidFill>
                <a:latin typeface="Arial"/>
                <a:ea typeface="Arial"/>
                <a:cs typeface="Arial"/>
              </a:defRPr>
            </a:pPr>
            <a:r>
              <a:rPr sz="1500" b="0">
                <a:solidFill>
                  <a:srgbClr val="52677B"/>
                </a:solidFill>
                <a:latin typeface="Arial"/>
                <a:ea typeface="Arial"/>
                <a:cs typeface="Arial"/>
              </a:rPr>
              <a:t>Team Name (Registered on portal)</a:t>
            </a:r>
          </a:p>
        </p:txBody>
      </p:sp>
      <p:sp>
        <p:nvSpPr>
          <p:cNvPr id="54" name="AlphaX">
            <a:extLst xmlns:a="http://schemas.openxmlformats.org/drawingml/2006/main">
              <a:ext uri="{FF2B5EF4-FFF2-40B4-BE49-F238E27FC236}">
                <a16:creationId xmlns:a16="http://schemas.microsoft.com/office/drawing/2014/main" id="{4692C7C7-7095-455B-843C-B67A610D74DC}"/>
              </a:ext>
            </a:extLst>
          </p:cNvPr>
          <p:cNvSpPr>
            <a:spLocks xmlns:a="http://schemas.openxmlformats.org/drawingml/2006/main" noGrp="1"/>
          </p:cNvSpPr>
          <p:nvPr/>
        </p:nvSpPr>
        <p:spPr>
          <a:xfrm xmlns:a="http://schemas.openxmlformats.org/drawingml/2006/main">
            <a:off x="3705225" y="6010275"/>
            <a:ext cx="3086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72A3D"/>
                </a:solidFill>
                <a:latin typeface="Arial"/>
                <a:ea typeface="Arial"/>
                <a:cs typeface="Arial"/>
              </a:defRPr>
            </a:pPr>
            <a:r>
              <a:rPr sz="1650" b="1">
                <a:solidFill>
                  <a:srgbClr val="172A3D"/>
                </a:solidFill>
                <a:latin typeface="Arial"/>
                <a:ea typeface="Arial"/>
                <a:cs typeface="Arial"/>
              </a:rPr>
              <a:t>AlphaX</a:t>
            </a:r>
          </a:p>
        </p:txBody>
      </p:sp>
    </p:spTree>
    <p:extLst>
      <p:ext uri="{BB962C8B-B14F-4D97-AF65-F5344CB8AC3E}">
        <p14:creationId xmlns:p14="http://schemas.microsoft.com/office/powerpoint/2010/main" val="87443877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666EC4D1-7631-4B9F-912F-519158664A17}"/>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A0AF3E89-56E0-4F9E-9B2A-16A8DE197859}"/>
              </a:ext>
            </a:extLst>
          </p:cNvPr>
          <p:cNvSpPr>
            <a:spLocks xmlns:a="http://schemas.openxmlformats.org/drawingml/2006/main" noGrp="1"/>
          </p:cNvSpPr>
          <p:nvPr>
            <p:ph type="title" idx="0"/>
          </p:nvPr>
        </p:nvSpPr>
        <p:spPr>
          <a:xfrm xmlns:a="http://schemas.openxmlformats.org/drawingml/2006/main">
            <a:off x="1714500" y="209550"/>
            <a:ext cx="7934325" cy="790575"/>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AAMS-X</a:t>
            </a:r>
          </a:p>
        </p:txBody>
      </p:sp>
      <p:sp>
        <p:nvSpPr>
          <p:cNvPr id="6" name="Slide Number Placeholder 5">
            <a:extLst xmlns:a="http://schemas.openxmlformats.org/drawingml/2006/main">
              <a:ext uri="{FF2B5EF4-FFF2-40B4-BE49-F238E27FC236}">
                <a16:creationId xmlns:a16="http://schemas.microsoft.com/office/drawing/2014/main" id="{1B721835-F306-4C58-B838-A31EA1F2F17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2</a:t>
            </a:fld>
            <a:endParaRPr b="1">
              <a:solidFill>
                <a:schemeClr val="bg1"/>
              </a:solidFill>
            </a:endParaRPr>
          </a:p>
        </p:txBody>
      </p:sp>
      <p:pic>
        <p:nvPicPr>
          <p:cNvPr id="15382" name=""/>
          <p:cNvPicPr>
            <a:picLocks xmlns:a="http://schemas.openxmlformats.org/drawingml/2006/main" noChangeAspect="1"/>
          </p:cNvPicPr>
          <p:nvPr/>
        </p:nvPicPr>
        <p:blipFill>
          <a:blip xmlns:r="http://schemas.openxmlformats.org/officeDocument/2006/relationships" xmlns:a="http://schemas.openxmlformats.org/drawingml/2006/main" r:embed="R5aeec7f763c94122"/>
          <a:srcRect xmlns:a="http://schemas.openxmlformats.org/drawingml/2006/main" l="0" t="0" r="0" b="0"/>
          <a:stretch xmlns:a="http://schemas.openxmlformats.org/drawingml/2006/main">
            <a:fillRect l="0" t="0" r="0" b="0"/>
          </a:stretch>
        </p:blipFill>
        <p:spPr>
          <a:xfrm xmlns:a="http://schemas.openxmlformats.org/drawingml/2006/main">
            <a:off x="9780080" y="1524"/>
            <a:ext cx="2249805" cy="1062323"/>
          </a:xfrm>
          <a:prstGeom xmlns:a="http://schemas.openxmlformats.org/drawingml/2006/main" prst="rect">
            <a:avLst/>
          </a:prstGeom>
        </p:spPr>
      </p:pic>
      <p:sp>
        <p:nvSpPr>
          <p:cNvPr id="15364" name="Original template team oval">
            <a:extLst xmlns:a="http://schemas.openxmlformats.org/drawingml/2006/main">
              <a:ext uri="{FF2B5EF4-FFF2-40B4-BE49-F238E27FC236}">
                <a16:creationId xmlns:a16="http://schemas.microsoft.com/office/drawing/2014/main" id="{4D2F5C70-1A45-4921-A34F-B59C9FC98F9F}"/>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noFill xmlns:a="http://schemas.openxmlformats.org/drawingml/2006/main"/>
          <a:ln xmlns:a="http://schemas.openxmlformats.org/drawingml/2006/main" w="19050">
            <a:solidFill>
              <a:srgbClr val="000000"/>
            </a:solidFill>
          </a:ln>
        </p:spPr>
      </p:sp>
      <p:sp>
        <p:nvSpPr>
          <p:cNvPr id="15365" name="AlphaX">
            <a:extLst xmlns:a="http://schemas.openxmlformats.org/drawingml/2006/main">
              <a:ext uri="{FF2B5EF4-FFF2-40B4-BE49-F238E27FC236}">
                <a16:creationId xmlns:a16="http://schemas.microsoft.com/office/drawing/2014/main" id="{BAA47C27-50A2-4C8A-92DE-BA9999786A03}"/>
              </a:ext>
            </a:extLst>
          </p:cNvPr>
          <p:cNvSpPr>
            <a:spLocks xmlns:a="http://schemas.openxmlformats.org/drawingml/2006/main" noGrp="1"/>
          </p:cNvSpPr>
          <p:nvPr/>
        </p:nvSpPr>
        <p:spPr>
          <a:xfrm xmlns:a="http://schemas.openxmlformats.org/drawingml/2006/main">
            <a:off x="329756" y="514350"/>
            <a:ext cx="1251871"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214E82"/>
                </a:solidFill>
                <a:latin typeface="Arial"/>
                <a:ea typeface="Arial"/>
                <a:cs typeface="Arial"/>
              </a:defRPr>
            </a:pPr>
            <a:r>
              <a:rPr sz="1800" b="1">
                <a:solidFill>
                  <a:srgbClr val="214E82"/>
                </a:solidFill>
                <a:latin typeface="Arial"/>
                <a:ea typeface="Arial"/>
                <a:cs typeface="Arial"/>
              </a:rPr>
              <a:t>AlphaX</a:t>
            </a:r>
          </a:p>
        </p:txBody>
      </p:sp>
      <p:sp>
        <p:nvSpPr>
          <p:cNvPr id="15366" name="@SIH Idea submission- Template">
            <a:extLst xmlns:a="http://schemas.openxmlformats.org/drawingml/2006/main">
              <a:ext uri="{FF2B5EF4-FFF2-40B4-BE49-F238E27FC236}">
                <a16:creationId xmlns:a16="http://schemas.microsoft.com/office/drawing/2014/main" id="{A67233C7-3C77-4A14-9D2D-E1485B02C6B2}"/>
              </a:ext>
            </a:extLst>
          </p:cNvPr>
          <p:cNvSpPr>
            <a:spLocks xmlns:a="http://schemas.openxmlformats.org/drawingml/2006/main" noGrp="1"/>
          </p:cNvSpPr>
          <p:nvPr/>
        </p:nvSpPr>
        <p:spPr>
          <a:xfrm xmlns:a="http://schemas.openxmlformats.org/drawingml/2006/main">
            <a:off x="4648200" y="6467475"/>
            <a:ext cx="320402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FFFFFF"/>
                </a:solidFill>
                <a:latin typeface="Arial"/>
                <a:ea typeface="Arial"/>
                <a:cs typeface="Arial"/>
              </a:defRPr>
            </a:pPr>
            <a:r>
              <a:rPr sz="1200" b="0">
                <a:solidFill>
                  <a:srgbClr val="FFFFFF"/>
                </a:solidFill>
                <a:latin typeface="Arial"/>
                <a:ea typeface="Arial"/>
                <a:cs typeface="Arial"/>
              </a:rPr>
              <a:t>@SIH Idea submission- Template</a:t>
            </a:r>
          </a:p>
        </p:txBody>
      </p:sp>
      <p:sp>
        <p:nvSpPr>
          <p:cNvPr id="15367" name="Proposed solution">
            <a:extLst xmlns:a="http://schemas.openxmlformats.org/drawingml/2006/main">
              <a:ext uri="{FF2B5EF4-FFF2-40B4-BE49-F238E27FC236}">
                <a16:creationId xmlns:a16="http://schemas.microsoft.com/office/drawing/2014/main" id="{0A90434C-1D2E-493F-ACC9-F9419574EC0B}"/>
              </a:ext>
            </a:extLst>
          </p:cNvPr>
          <p:cNvSpPr>
            <a:spLocks xmlns:a="http://schemas.openxmlformats.org/drawingml/2006/main" noGrp="1"/>
          </p:cNvSpPr>
          <p:nvPr/>
        </p:nvSpPr>
        <p:spPr>
          <a:xfrm xmlns:a="http://schemas.openxmlformats.org/drawingml/2006/main">
            <a:off x="428625" y="1362075"/>
            <a:ext cx="685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14E82"/>
                </a:solidFill>
                <a:latin typeface="Arial"/>
                <a:ea typeface="Arial"/>
                <a:cs typeface="Arial"/>
              </a:defRPr>
            </a:pPr>
            <a:r>
              <a:rPr sz="2250" b="1">
                <a:solidFill>
                  <a:srgbClr val="214E82"/>
                </a:solidFill>
                <a:latin typeface="Arial"/>
                <a:ea typeface="Arial"/>
                <a:cs typeface="Arial"/>
              </a:rPr>
              <a:t>Proposed solution</a:t>
            </a:r>
          </a:p>
        </p:txBody>
      </p:sp>
      <p:sp>
        <p:nvSpPr>
          <p:cNvPr id="15368" name="A local workbench to test and explain adaptive scan decisions&#10;whe">
            <a:extLst xmlns:a="http://schemas.openxmlformats.org/drawingml/2006/main">
              <a:ext uri="{FF2B5EF4-FFF2-40B4-BE49-F238E27FC236}">
                <a16:creationId xmlns:a16="http://schemas.microsoft.com/office/drawing/2014/main" id="{32AF56D9-0400-4067-B708-0B8664783534}"/>
              </a:ext>
            </a:extLst>
          </p:cNvPr>
          <p:cNvSpPr>
            <a:spLocks xmlns:a="http://schemas.openxmlformats.org/drawingml/2006/main" noGrp="1"/>
          </p:cNvSpPr>
          <p:nvPr/>
        </p:nvSpPr>
        <p:spPr>
          <a:xfrm xmlns:a="http://schemas.openxmlformats.org/drawingml/2006/main">
            <a:off x="428625" y="1819275"/>
            <a:ext cx="11287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A3D"/>
                </a:solidFill>
                <a:latin typeface="Arial"/>
                <a:ea typeface="Arial"/>
                <a:cs typeface="Arial"/>
              </a:defRPr>
            </a:pPr>
            <a:r>
              <a:rPr sz="2100" b="0">
                <a:solidFill>
                  <a:srgbClr val="172A3D"/>
                </a:solidFill>
                <a:latin typeface="Arial"/>
                <a:ea typeface="Arial"/>
                <a:cs typeface="Arial"/>
              </a:rPr>
              <a:t>A local workbench to test and explain adaptive scan decisions</a:t>
            </a:r>
          </a:p>
          <a:p xmlns:a="http://schemas.openxmlformats.org/drawingml/2006/main">
            <a:pPr algn="l">
              <a:defRPr sz="2100" b="0">
                <a:solidFill>
                  <a:srgbClr val="172A3D"/>
                </a:solidFill>
                <a:latin typeface="Arial"/>
                <a:ea typeface="Arial"/>
                <a:cs typeface="Arial"/>
              </a:defRPr>
            </a:pPr>
            <a:r>
              <a:rPr sz="2100" b="0">
                <a:solidFill>
                  <a:srgbClr val="172A3D"/>
                </a:solidFill>
                <a:latin typeface="Arial"/>
                <a:ea typeface="Arial"/>
                <a:cs typeface="Arial"/>
              </a:rPr>
              <a:t>when the receiver can observe only part of the spectrum.</a:t>
            </a:r>
          </a:p>
        </p:txBody>
      </p:sp>
      <p:sp>
        <p:nvSpPr>
          <p:cNvPr id="15369" name="The problem">
            <a:extLst xmlns:a="http://schemas.openxmlformats.org/drawingml/2006/main">
              <a:ext uri="{FF2B5EF4-FFF2-40B4-BE49-F238E27FC236}">
                <a16:creationId xmlns:a16="http://schemas.microsoft.com/office/drawing/2014/main" id="{65576517-3BC2-4252-869B-3C61DFE0ABA0}"/>
              </a:ext>
            </a:extLst>
          </p:cNvPr>
          <p:cNvSpPr>
            <a:spLocks xmlns:a="http://schemas.openxmlformats.org/drawingml/2006/main" noGrp="1"/>
          </p:cNvSpPr>
          <p:nvPr/>
        </p:nvSpPr>
        <p:spPr>
          <a:xfrm xmlns:a="http://schemas.openxmlformats.org/drawingml/2006/main">
            <a:off x="428625" y="27432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14E82"/>
                </a:solidFill>
                <a:latin typeface="Arial"/>
                <a:ea typeface="Arial"/>
                <a:cs typeface="Arial"/>
              </a:defRPr>
            </a:pPr>
            <a:r>
              <a:rPr sz="1950" b="1">
                <a:solidFill>
                  <a:srgbClr val="214E82"/>
                </a:solidFill>
                <a:latin typeface="Arial"/>
                <a:ea typeface="Arial"/>
                <a:cs typeface="Arial"/>
              </a:rPr>
              <a:t>The problem</a:t>
            </a:r>
          </a:p>
        </p:txBody>
      </p:sp>
      <p:sp>
        <p:nvSpPr>
          <p:cNvPr id="15370" name="A narrow observation window leaves most of the spectrum unknown a">
            <a:extLst xmlns:a="http://schemas.openxmlformats.org/drawingml/2006/main">
              <a:ext uri="{FF2B5EF4-FFF2-40B4-BE49-F238E27FC236}">
                <a16:creationId xmlns:a16="http://schemas.microsoft.com/office/drawing/2014/main" id="{569BF149-A000-4945-AA92-347DE9718692}"/>
              </a:ext>
            </a:extLst>
          </p:cNvPr>
          <p:cNvSpPr>
            <a:spLocks xmlns:a="http://schemas.openxmlformats.org/drawingml/2006/main" noGrp="1"/>
          </p:cNvSpPr>
          <p:nvPr/>
        </p:nvSpPr>
        <p:spPr>
          <a:xfrm xmlns:a="http://schemas.openxmlformats.org/drawingml/2006/main">
            <a:off x="428625" y="3124200"/>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D"/>
                </a:solidFill>
                <a:latin typeface="Arial"/>
                <a:ea typeface="Arial"/>
                <a:cs typeface="Arial"/>
              </a:defRPr>
            </a:pPr>
            <a:r>
              <a:rPr sz="1800" b="0">
                <a:solidFill>
                  <a:srgbClr val="172A3D"/>
                </a:solidFill>
                <a:latin typeface="Arial"/>
                <a:ea typeface="Arial"/>
                <a:cs typeface="Arial"/>
              </a:rPr>
              <a:t>A narrow observation window leaves most of the spectrum unknown at each instant.</a:t>
            </a:r>
          </a:p>
        </p:txBody>
      </p:sp>
      <p:sp>
        <p:nvSpPr>
          <p:cNvPr id="15371" name="How AAMS-X addresses it">
            <a:extLst xmlns:a="http://schemas.openxmlformats.org/drawingml/2006/main">
              <a:ext uri="{FF2B5EF4-FFF2-40B4-BE49-F238E27FC236}">
                <a16:creationId xmlns:a16="http://schemas.microsoft.com/office/drawing/2014/main" id="{AEB1B2F1-212C-42BE-9D41-3A6A229B4E8F}"/>
              </a:ext>
            </a:extLst>
          </p:cNvPr>
          <p:cNvSpPr>
            <a:spLocks xmlns:a="http://schemas.openxmlformats.org/drawingml/2006/main" noGrp="1"/>
          </p:cNvSpPr>
          <p:nvPr/>
        </p:nvSpPr>
        <p:spPr>
          <a:xfrm xmlns:a="http://schemas.openxmlformats.org/drawingml/2006/main">
            <a:off x="428625" y="391477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14E82"/>
                </a:solidFill>
                <a:latin typeface="Arial"/>
                <a:ea typeface="Arial"/>
                <a:cs typeface="Arial"/>
              </a:defRPr>
            </a:pPr>
            <a:r>
              <a:rPr sz="1950" b="1">
                <a:solidFill>
                  <a:srgbClr val="214E82"/>
                </a:solidFill>
                <a:latin typeface="Arial"/>
                <a:ea typeface="Arial"/>
                <a:cs typeface="Arial"/>
              </a:rPr>
              <a:t>How AAMS-X addresses it</a:t>
            </a:r>
          </a:p>
        </p:txBody>
      </p:sp>
      <p:sp>
        <p:nvSpPr>
          <p:cNvPr id="15372" name="Compare fixed and adaptive policies in the same simulated world, ">
            <a:extLst xmlns:a="http://schemas.openxmlformats.org/drawingml/2006/main">
              <a:ext uri="{FF2B5EF4-FFF2-40B4-BE49-F238E27FC236}">
                <a16:creationId xmlns:a16="http://schemas.microsoft.com/office/drawing/2014/main" id="{64B122E1-3D54-47E8-BEE3-0D8315C4C8D1}"/>
              </a:ext>
            </a:extLst>
          </p:cNvPr>
          <p:cNvSpPr>
            <a:spLocks xmlns:a="http://schemas.openxmlformats.org/drawingml/2006/main" noGrp="1"/>
          </p:cNvSpPr>
          <p:nvPr/>
        </p:nvSpPr>
        <p:spPr>
          <a:xfrm xmlns:a="http://schemas.openxmlformats.org/drawingml/2006/main">
            <a:off x="428625" y="4295775"/>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D"/>
                </a:solidFill>
                <a:latin typeface="Arial"/>
                <a:ea typeface="Arial"/>
                <a:cs typeface="Arial"/>
              </a:defRPr>
            </a:pPr>
            <a:r>
              <a:rPr sz="1800" b="0">
                <a:solidFill>
                  <a:srgbClr val="172A3D"/>
                </a:solidFill>
                <a:latin typeface="Arial"/>
                <a:ea typeface="Arial"/>
                <a:cs typeface="Arial"/>
              </a:rPr>
              <a:t>Compare fixed and adaptive policies in the same simulated world, then inspect each recorded decision.</a:t>
            </a:r>
          </a:p>
        </p:txBody>
      </p:sp>
      <p:pic>
        <p:nvPicPr>
          <p:cNvPr id="15392" name=""/>
          <p:cNvPicPr>
            <a:picLocks xmlns:a="http://schemas.openxmlformats.org/drawingml/2006/main" noChangeAspect="1"/>
          </p:cNvPicPr>
          <p:nvPr/>
        </p:nvPicPr>
        <p:blipFill>
          <a:blip xmlns:r="http://schemas.openxmlformats.org/officeDocument/2006/relationships" xmlns:a="http://schemas.openxmlformats.org/drawingml/2006/main" r:embed="R2548abe9d896440f"/>
          <a:srcRect xmlns:a="http://schemas.openxmlformats.org/drawingml/2006/main" l="0" t="16538" r="0" b="16538"/>
          <a:stretch xmlns:a="http://schemas.openxmlformats.org/drawingml/2006/main">
            <a:fillRect l="0" t="0" r="0" b="0"/>
          </a:stretch>
        </p:blipFill>
        <p:spPr>
          <a:xfrm xmlns:a="http://schemas.openxmlformats.org/drawingml/2006/main">
            <a:off x="5591175" y="2571750"/>
            <a:ext cx="6191250" cy="2762250"/>
          </a:xfrm>
          <a:prstGeom xmlns:a="http://schemas.openxmlformats.org/drawingml/2006/main" prst="rect">
            <a:avLst/>
          </a:prstGeom>
        </p:spPr>
      </p:pic>
      <p:sp>
        <p:nvSpPr>
          <p:cNvPr id="15374" name="Wide spectrum">
            <a:extLst xmlns:a="http://schemas.openxmlformats.org/drawingml/2006/main">
              <a:ext uri="{FF2B5EF4-FFF2-40B4-BE49-F238E27FC236}">
                <a16:creationId xmlns:a16="http://schemas.microsoft.com/office/drawing/2014/main" id="{5FC5D0CF-40C1-47A0-B216-2DF1D5BD1C26}"/>
              </a:ext>
            </a:extLst>
          </p:cNvPr>
          <p:cNvSpPr>
            <a:spLocks xmlns:a="http://schemas.openxmlformats.org/drawingml/2006/main" noGrp="1"/>
          </p:cNvSpPr>
          <p:nvPr/>
        </p:nvSpPr>
        <p:spPr>
          <a:xfrm xmlns:a="http://schemas.openxmlformats.org/drawingml/2006/main">
            <a:off x="5838825" y="5210175"/>
            <a:ext cx="2428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14E82"/>
                </a:solidFill>
                <a:latin typeface="Arial"/>
                <a:ea typeface="Arial"/>
                <a:cs typeface="Arial"/>
              </a:defRPr>
            </a:pPr>
            <a:r>
              <a:rPr sz="1650" b="1">
                <a:solidFill>
                  <a:srgbClr val="214E82"/>
                </a:solidFill>
                <a:latin typeface="Arial"/>
                <a:ea typeface="Arial"/>
                <a:cs typeface="Arial"/>
              </a:rPr>
              <a:t>Wide spectrum</a:t>
            </a:r>
          </a:p>
        </p:txBody>
      </p:sp>
      <p:sp>
        <p:nvSpPr>
          <p:cNvPr id="15375" name="Limited observation window">
            <a:extLst xmlns:a="http://schemas.openxmlformats.org/drawingml/2006/main">
              <a:ext uri="{FF2B5EF4-FFF2-40B4-BE49-F238E27FC236}">
                <a16:creationId xmlns:a16="http://schemas.microsoft.com/office/drawing/2014/main" id="{A17C4AF1-C5E6-4568-8A26-C86281FB9214}"/>
              </a:ext>
            </a:extLst>
          </p:cNvPr>
          <p:cNvSpPr>
            <a:spLocks xmlns:a="http://schemas.openxmlformats.org/drawingml/2006/main" noGrp="1"/>
          </p:cNvSpPr>
          <p:nvPr/>
        </p:nvSpPr>
        <p:spPr>
          <a:xfrm xmlns:a="http://schemas.openxmlformats.org/drawingml/2006/main">
            <a:off x="8324850" y="5210175"/>
            <a:ext cx="3448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1">
                <a:solidFill>
                  <a:srgbClr val="C27628"/>
                </a:solidFill>
                <a:latin typeface="Arial"/>
                <a:ea typeface="Arial"/>
                <a:cs typeface="Arial"/>
              </a:defRPr>
            </a:pPr>
            <a:r>
              <a:rPr sz="1650" b="1">
                <a:solidFill>
                  <a:srgbClr val="C27628"/>
                </a:solidFill>
                <a:latin typeface="Arial"/>
                <a:ea typeface="Arial"/>
                <a:cs typeface="Arial"/>
              </a:rPr>
              <a:t>Limited observation window</a:t>
            </a:r>
          </a:p>
        </p:txBody>
      </p:sp>
      <p:sp>
        <p:nvSpPr>
          <p:cNvPr id="15376" name="Concept illustration, not measured data">
            <a:extLst xmlns:a="http://schemas.openxmlformats.org/drawingml/2006/main">
              <a:ext uri="{FF2B5EF4-FFF2-40B4-BE49-F238E27FC236}">
                <a16:creationId xmlns:a16="http://schemas.microsoft.com/office/drawing/2014/main" id="{4D8797F7-3A34-47CA-A4F9-4C928D829C86}"/>
              </a:ext>
            </a:extLst>
          </p:cNvPr>
          <p:cNvSpPr>
            <a:spLocks xmlns:a="http://schemas.openxmlformats.org/drawingml/2006/main" noGrp="1"/>
          </p:cNvSpPr>
          <p:nvPr/>
        </p:nvSpPr>
        <p:spPr>
          <a:xfrm xmlns:a="http://schemas.openxmlformats.org/drawingml/2006/main">
            <a:off x="6572250" y="5495925"/>
            <a:ext cx="520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77B"/>
                </a:solidFill>
                <a:latin typeface="Arial"/>
                <a:ea typeface="Arial"/>
                <a:cs typeface="Arial"/>
              </a:defRPr>
            </a:pPr>
            <a:r>
              <a:rPr sz="1200" b="0">
                <a:solidFill>
                  <a:srgbClr val="52677B"/>
                </a:solidFill>
                <a:latin typeface="Arial"/>
                <a:ea typeface="Arial"/>
                <a:cs typeface="Arial"/>
              </a:rPr>
              <a:t>Concept illustration, not measured data</a:t>
            </a:r>
          </a:p>
        </p:txBody>
      </p:sp>
      <p:sp>
        <p:nvSpPr>
          <p:cNvPr id="15377" name="Innovation and uniqueness">
            <a:extLst xmlns:a="http://schemas.openxmlformats.org/drawingml/2006/main">
              <a:ext uri="{FF2B5EF4-FFF2-40B4-BE49-F238E27FC236}">
                <a16:creationId xmlns:a16="http://schemas.microsoft.com/office/drawing/2014/main" id="{957D01F0-8231-472E-9AED-F78FD5DA738E}"/>
              </a:ext>
            </a:extLst>
          </p:cNvPr>
          <p:cNvSpPr>
            <a:spLocks xmlns:a="http://schemas.openxmlformats.org/drawingml/2006/main" noGrp="1"/>
          </p:cNvSpPr>
          <p:nvPr/>
        </p:nvSpPr>
        <p:spPr>
          <a:xfrm xmlns:a="http://schemas.openxmlformats.org/drawingml/2006/main">
            <a:off x="428625" y="53149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14E82"/>
                </a:solidFill>
                <a:latin typeface="Arial"/>
                <a:ea typeface="Arial"/>
                <a:cs typeface="Arial"/>
              </a:defRPr>
            </a:pPr>
            <a:r>
              <a:rPr sz="1950" b="1">
                <a:solidFill>
                  <a:srgbClr val="214E82"/>
                </a:solidFill>
                <a:latin typeface="Arial"/>
                <a:ea typeface="Arial"/>
                <a:cs typeface="Arial"/>
              </a:rPr>
              <a:t>Innovation and uniqueness</a:t>
            </a:r>
          </a:p>
        </p:txBody>
      </p:sp>
      <p:sp>
        <p:nvSpPr>
          <p:cNvPr id="15378" name="One auditable workflow combines live comparison,&#10;explanations, pr">
            <a:extLst xmlns:a="http://schemas.openxmlformats.org/drawingml/2006/main">
              <a:ext uri="{FF2B5EF4-FFF2-40B4-BE49-F238E27FC236}">
                <a16:creationId xmlns:a16="http://schemas.microsoft.com/office/drawing/2014/main" id="{CF929BA8-4CD6-49BA-AC68-97505A27F127}"/>
              </a:ext>
            </a:extLst>
          </p:cNvPr>
          <p:cNvSpPr>
            <a:spLocks xmlns:a="http://schemas.openxmlformats.org/drawingml/2006/main" noGrp="1"/>
          </p:cNvSpPr>
          <p:nvPr/>
        </p:nvSpPr>
        <p:spPr>
          <a:xfrm xmlns:a="http://schemas.openxmlformats.org/drawingml/2006/main">
            <a:off x="428625" y="5715000"/>
            <a:ext cx="695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2A3D"/>
                </a:solidFill>
                <a:latin typeface="Arial"/>
                <a:ea typeface="Arial"/>
                <a:cs typeface="Arial"/>
              </a:defRPr>
            </a:pPr>
            <a:r>
              <a:rPr sz="1725" b="0">
                <a:solidFill>
                  <a:srgbClr val="172A3D"/>
                </a:solidFill>
                <a:latin typeface="Arial"/>
                <a:ea typeface="Arial"/>
                <a:cs typeface="Arial"/>
              </a:rPr>
              <a:t>One auditable workflow combines live comparison,</a:t>
            </a:r>
          </a:p>
          <a:p xmlns:a="http://schemas.openxmlformats.org/drawingml/2006/main">
            <a:pPr algn="l">
              <a:defRPr sz="1725" b="0">
                <a:solidFill>
                  <a:srgbClr val="172A3D"/>
                </a:solidFill>
                <a:latin typeface="Arial"/>
                <a:ea typeface="Arial"/>
                <a:cs typeface="Arial"/>
              </a:defRPr>
            </a:pPr>
            <a:r>
              <a:rPr sz="1725" b="0">
                <a:solidFill>
                  <a:srgbClr val="172A3D"/>
                </a:solidFill>
                <a:latin typeface="Arial"/>
                <a:ea typeface="Arial"/>
                <a:cs typeface="Arial"/>
              </a:rPr>
              <a:t>explanations, provenance and exact recorded replay.</a:t>
            </a:r>
          </a:p>
        </p:txBody>
      </p:sp>
    </p:spTree>
    <p:extLst>
      <p:ext uri="{BB962C8B-B14F-4D97-AF65-F5344CB8AC3E}">
        <p14:creationId xmlns:p14="http://schemas.microsoft.com/office/powerpoint/2010/main" val="18205237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381BD0FC-9C37-4964-B6CB-349A1B94A977}"/>
              </a:ext>
            </a:extLst>
          </p:cNvPr>
          <p:cNvSpPr>
            <a:spLocks xmlns:a="http://schemas.openxmlformats.org/drawingml/2006/main" noGrp="1"/>
          </p:cNvSpPr>
          <p:nvPr>
            <p:ph type="title" idx="0"/>
          </p:nvPr>
        </p:nvSpPr>
        <p:spPr>
          <a:xfrm xmlns:a="http://schemas.openxmlformats.org/drawingml/2006/main">
            <a:off x="1714500" y="209550"/>
            <a:ext cx="7934325" cy="790575"/>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24E24731-B8DF-4F3F-9DD6-5E11E241B28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3</a:t>
            </a:fld>
            <a:endParaRPr b="1">
              <a:solidFill>
                <a:schemeClr val="bg1"/>
              </a:solidFill>
            </a:endParaRPr>
          </a:p>
        </p:txBody>
      </p:sp>
      <p:pic>
        <p:nvPicPr>
          <p:cNvPr id="17436" name=""/>
          <p:cNvPicPr>
            <a:picLocks xmlns:a="http://schemas.openxmlformats.org/drawingml/2006/main" noChangeAspect="1"/>
          </p:cNvPicPr>
          <p:nvPr/>
        </p:nvPicPr>
        <p:blipFill>
          <a:blip xmlns:r="http://schemas.openxmlformats.org/officeDocument/2006/relationships" xmlns:a="http://schemas.openxmlformats.org/drawingml/2006/main" r:embed="R52ab9c5fda6c4bc7"/>
          <a:srcRect xmlns:a="http://schemas.openxmlformats.org/drawingml/2006/main" l="0" t="0" r="0" b="0"/>
          <a:stretch xmlns:a="http://schemas.openxmlformats.org/drawingml/2006/main">
            <a:fillRect l="0" t="0" r="0" b="0"/>
          </a:stretch>
        </p:blipFill>
        <p:spPr>
          <a:xfrm xmlns:a="http://schemas.openxmlformats.org/drawingml/2006/main">
            <a:off x="9780080" y="1524"/>
            <a:ext cx="2249805" cy="1062323"/>
          </a:xfrm>
          <a:prstGeom xmlns:a="http://schemas.openxmlformats.org/drawingml/2006/main" prst="rect">
            <a:avLst/>
          </a:prstGeom>
        </p:spPr>
      </p:pic>
      <p:sp>
        <p:nvSpPr>
          <p:cNvPr id="17412" name="Original template team oval">
            <a:extLst xmlns:a="http://schemas.openxmlformats.org/drawingml/2006/main">
              <a:ext uri="{FF2B5EF4-FFF2-40B4-BE49-F238E27FC236}">
                <a16:creationId xmlns:a16="http://schemas.microsoft.com/office/drawing/2014/main" id="{84AD04C1-1C74-4C5E-96A1-6DDDDEAA555D}"/>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noFill xmlns:a="http://schemas.openxmlformats.org/drawingml/2006/main"/>
          <a:ln xmlns:a="http://schemas.openxmlformats.org/drawingml/2006/main" w="19050">
            <a:solidFill>
              <a:srgbClr val="000000"/>
            </a:solidFill>
          </a:ln>
        </p:spPr>
      </p:sp>
      <p:sp>
        <p:nvSpPr>
          <p:cNvPr id="17413" name="AlphaX">
            <a:extLst xmlns:a="http://schemas.openxmlformats.org/drawingml/2006/main">
              <a:ext uri="{FF2B5EF4-FFF2-40B4-BE49-F238E27FC236}">
                <a16:creationId xmlns:a16="http://schemas.microsoft.com/office/drawing/2014/main" id="{80632166-0331-42FF-941B-90816B932C72}"/>
              </a:ext>
            </a:extLst>
          </p:cNvPr>
          <p:cNvSpPr>
            <a:spLocks xmlns:a="http://schemas.openxmlformats.org/drawingml/2006/main" noGrp="1"/>
          </p:cNvSpPr>
          <p:nvPr/>
        </p:nvSpPr>
        <p:spPr>
          <a:xfrm xmlns:a="http://schemas.openxmlformats.org/drawingml/2006/main">
            <a:off x="329756" y="514350"/>
            <a:ext cx="1251871"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214E82"/>
                </a:solidFill>
                <a:latin typeface="Arial"/>
                <a:ea typeface="Arial"/>
                <a:cs typeface="Arial"/>
              </a:defRPr>
            </a:pPr>
            <a:r>
              <a:rPr sz="1800" b="1">
                <a:solidFill>
                  <a:srgbClr val="214E82"/>
                </a:solidFill>
                <a:latin typeface="Arial"/>
                <a:ea typeface="Arial"/>
                <a:cs typeface="Arial"/>
              </a:rPr>
              <a:t>AlphaX</a:t>
            </a:r>
          </a:p>
        </p:txBody>
      </p:sp>
      <p:sp>
        <p:nvSpPr>
          <p:cNvPr id="17414" name="@SIH Idea submission- Template">
            <a:extLst xmlns:a="http://schemas.openxmlformats.org/drawingml/2006/main">
              <a:ext uri="{FF2B5EF4-FFF2-40B4-BE49-F238E27FC236}">
                <a16:creationId xmlns:a16="http://schemas.microsoft.com/office/drawing/2014/main" id="{1F9A267A-438D-4603-B786-DBCC4663B0DA}"/>
              </a:ext>
            </a:extLst>
          </p:cNvPr>
          <p:cNvSpPr>
            <a:spLocks xmlns:a="http://schemas.openxmlformats.org/drawingml/2006/main" noGrp="1"/>
          </p:cNvSpPr>
          <p:nvPr/>
        </p:nvSpPr>
        <p:spPr>
          <a:xfrm xmlns:a="http://schemas.openxmlformats.org/drawingml/2006/main">
            <a:off x="4648200" y="6467475"/>
            <a:ext cx="320402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FFFFFF"/>
                </a:solidFill>
                <a:latin typeface="Arial"/>
                <a:ea typeface="Arial"/>
                <a:cs typeface="Arial"/>
              </a:defRPr>
            </a:pPr>
            <a:r>
              <a:rPr sz="1200" b="0">
                <a:solidFill>
                  <a:srgbClr val="FFFFFF"/>
                </a:solidFill>
                <a:latin typeface="Arial"/>
                <a:ea typeface="Arial"/>
                <a:cs typeface="Arial"/>
              </a:rPr>
              <a:t>@SIH Idea submission- Template</a:t>
            </a:r>
          </a:p>
        </p:txBody>
      </p:sp>
      <p:sp>
        <p:nvSpPr>
          <p:cNvPr id="17415" name="Methodology and implementation">
            <a:extLst xmlns:a="http://schemas.openxmlformats.org/drawingml/2006/main">
              <a:ext uri="{FF2B5EF4-FFF2-40B4-BE49-F238E27FC236}">
                <a16:creationId xmlns:a16="http://schemas.microsoft.com/office/drawing/2014/main" id="{A9131A40-CE21-46EB-AA5D-69CA957BBD6E}"/>
              </a:ext>
            </a:extLst>
          </p:cNvPr>
          <p:cNvSpPr>
            <a:spLocks xmlns:a="http://schemas.openxmlformats.org/drawingml/2006/main" noGrp="1"/>
          </p:cNvSpPr>
          <p:nvPr/>
        </p:nvSpPr>
        <p:spPr>
          <a:xfrm xmlns:a="http://schemas.openxmlformats.org/drawingml/2006/main">
            <a:off x="428625" y="135255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14E82"/>
                </a:solidFill>
                <a:latin typeface="Arial"/>
                <a:ea typeface="Arial"/>
                <a:cs typeface="Arial"/>
              </a:defRPr>
            </a:pPr>
            <a:r>
              <a:rPr sz="2250" b="1">
                <a:solidFill>
                  <a:srgbClr val="214E82"/>
                </a:solidFill>
                <a:latin typeface="Arial"/>
                <a:ea typeface="Arial"/>
                <a:cs typeface="Arial"/>
              </a:rPr>
              <a:t>Methodology and implementation</a:t>
            </a:r>
          </a:p>
        </p:txBody>
      </p:sp>
      <p:sp>
        <p:nvSpPr>
          <p:cNvPr id="17416" name="01">
            <a:extLst xmlns:a="http://schemas.openxmlformats.org/drawingml/2006/main">
              <a:ext uri="{FF2B5EF4-FFF2-40B4-BE49-F238E27FC236}">
                <a16:creationId xmlns:a16="http://schemas.microsoft.com/office/drawing/2014/main" id="{8B3B7CE4-1AF1-4A77-B44B-201FA8CE6DD6}"/>
              </a:ext>
            </a:extLst>
          </p:cNvPr>
          <p:cNvSpPr>
            <a:spLocks xmlns:a="http://schemas.openxmlformats.org/drawingml/2006/main" noGrp="1"/>
          </p:cNvSpPr>
          <p:nvPr/>
        </p:nvSpPr>
        <p:spPr>
          <a:xfrm xmlns:a="http://schemas.openxmlformats.org/drawingml/2006/main">
            <a:off x="428625" y="1933575"/>
            <a:ext cx="514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8B7"/>
                </a:solidFill>
                <a:latin typeface="Arial"/>
                <a:ea typeface="Arial"/>
                <a:cs typeface="Arial"/>
              </a:defRPr>
            </a:pPr>
            <a:r>
              <a:rPr sz="2550" b="1">
                <a:solidFill>
                  <a:srgbClr val="0078B7"/>
                </a:solidFill>
                <a:latin typeface="Arial"/>
                <a:ea typeface="Arial"/>
                <a:cs typeface="Arial"/>
              </a:rPr>
              <a:t>01</a:t>
            </a:r>
          </a:p>
        </p:txBody>
      </p:sp>
      <p:sp>
        <p:nvSpPr>
          <p:cNvPr id="17417" name="Reproducible inputs">
            <a:extLst xmlns:a="http://schemas.openxmlformats.org/drawingml/2006/main">
              <a:ext uri="{FF2B5EF4-FFF2-40B4-BE49-F238E27FC236}">
                <a16:creationId xmlns:a16="http://schemas.microsoft.com/office/drawing/2014/main" id="{8886F86F-AEB6-471F-BC9B-2DFBBD14697B}"/>
              </a:ext>
            </a:extLst>
          </p:cNvPr>
          <p:cNvSpPr>
            <a:spLocks xmlns:a="http://schemas.openxmlformats.org/drawingml/2006/main" noGrp="1"/>
          </p:cNvSpPr>
          <p:nvPr/>
        </p:nvSpPr>
        <p:spPr>
          <a:xfrm xmlns:a="http://schemas.openxmlformats.org/drawingml/2006/main">
            <a:off x="1095375" y="1933575"/>
            <a:ext cx="442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2A3D"/>
                </a:solidFill>
                <a:latin typeface="Arial"/>
                <a:ea typeface="Arial"/>
                <a:cs typeface="Arial"/>
              </a:defRPr>
            </a:pPr>
            <a:r>
              <a:rPr sz="1875" b="1">
                <a:solidFill>
                  <a:srgbClr val="172A3D"/>
                </a:solidFill>
                <a:latin typeface="Arial"/>
                <a:ea typeface="Arial"/>
                <a:cs typeface="Arial"/>
              </a:rPr>
              <a:t>Reproducible inputs</a:t>
            </a:r>
          </a:p>
        </p:txBody>
      </p:sp>
      <p:sp>
        <p:nvSpPr>
          <p:cNvPr id="17418" name="Seeded simulations or a public RF recording.">
            <a:extLst xmlns:a="http://schemas.openxmlformats.org/drawingml/2006/main">
              <a:ext uri="{FF2B5EF4-FFF2-40B4-BE49-F238E27FC236}">
                <a16:creationId xmlns:a16="http://schemas.microsoft.com/office/drawing/2014/main" id="{543A765E-B098-43B5-BFB9-A59E5D7823DF}"/>
              </a:ext>
            </a:extLst>
          </p:cNvPr>
          <p:cNvSpPr>
            <a:spLocks xmlns:a="http://schemas.openxmlformats.org/drawingml/2006/main" noGrp="1"/>
          </p:cNvSpPr>
          <p:nvPr/>
        </p:nvSpPr>
        <p:spPr>
          <a:xfrm xmlns:a="http://schemas.openxmlformats.org/drawingml/2006/main">
            <a:off x="1095375" y="2276475"/>
            <a:ext cx="43148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77B"/>
                </a:solidFill>
                <a:latin typeface="Arial"/>
                <a:ea typeface="Arial"/>
                <a:cs typeface="Arial"/>
              </a:defRPr>
            </a:pPr>
            <a:r>
              <a:rPr sz="1650" b="0">
                <a:solidFill>
                  <a:srgbClr val="52677B"/>
                </a:solidFill>
                <a:latin typeface="Arial"/>
                <a:ea typeface="Arial"/>
                <a:cs typeface="Arial"/>
              </a:rPr>
              <a:t>Seeded simulations or a public RF recording.</a:t>
            </a:r>
          </a:p>
        </p:txBody>
      </p:sp>
      <p:sp>
        <p:nvSpPr>
          <p:cNvPr id="17419" name="02">
            <a:extLst xmlns:a="http://schemas.openxmlformats.org/drawingml/2006/main">
              <a:ext uri="{FF2B5EF4-FFF2-40B4-BE49-F238E27FC236}">
                <a16:creationId xmlns:a16="http://schemas.microsoft.com/office/drawing/2014/main" id="{455B5CE5-AEF6-49E8-992E-C1908572015D}"/>
              </a:ext>
            </a:extLst>
          </p:cNvPr>
          <p:cNvSpPr>
            <a:spLocks xmlns:a="http://schemas.openxmlformats.org/drawingml/2006/main" noGrp="1"/>
          </p:cNvSpPr>
          <p:nvPr/>
        </p:nvSpPr>
        <p:spPr>
          <a:xfrm xmlns:a="http://schemas.openxmlformats.org/drawingml/2006/main">
            <a:off x="428625" y="2752725"/>
            <a:ext cx="514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8B7"/>
                </a:solidFill>
                <a:latin typeface="Arial"/>
                <a:ea typeface="Arial"/>
                <a:cs typeface="Arial"/>
              </a:defRPr>
            </a:pPr>
            <a:r>
              <a:rPr sz="2550" b="1">
                <a:solidFill>
                  <a:srgbClr val="0078B7"/>
                </a:solidFill>
                <a:latin typeface="Arial"/>
                <a:ea typeface="Arial"/>
                <a:cs typeface="Arial"/>
              </a:rPr>
              <a:t>02</a:t>
            </a:r>
          </a:p>
        </p:txBody>
      </p:sp>
      <p:sp>
        <p:nvSpPr>
          <p:cNvPr id="17420" name="Observation boundary">
            <a:extLst xmlns:a="http://schemas.openxmlformats.org/drawingml/2006/main">
              <a:ext uri="{FF2B5EF4-FFF2-40B4-BE49-F238E27FC236}">
                <a16:creationId xmlns:a16="http://schemas.microsoft.com/office/drawing/2014/main" id="{60B1D3B5-5AD3-458A-B7A7-1124ED301DD9}"/>
              </a:ext>
            </a:extLst>
          </p:cNvPr>
          <p:cNvSpPr>
            <a:spLocks xmlns:a="http://schemas.openxmlformats.org/drawingml/2006/main" noGrp="1"/>
          </p:cNvSpPr>
          <p:nvPr/>
        </p:nvSpPr>
        <p:spPr>
          <a:xfrm xmlns:a="http://schemas.openxmlformats.org/drawingml/2006/main">
            <a:off x="1095375" y="2752725"/>
            <a:ext cx="442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2A3D"/>
                </a:solidFill>
                <a:latin typeface="Arial"/>
                <a:ea typeface="Arial"/>
                <a:cs typeface="Arial"/>
              </a:defRPr>
            </a:pPr>
            <a:r>
              <a:rPr sz="1875" b="1">
                <a:solidFill>
                  <a:srgbClr val="172A3D"/>
                </a:solidFill>
                <a:latin typeface="Arial"/>
                <a:ea typeface="Arial"/>
                <a:cs typeface="Arial"/>
              </a:rPr>
              <a:t>Observation boundary</a:t>
            </a:r>
          </a:p>
        </p:txBody>
      </p:sp>
      <p:sp>
        <p:nvSpPr>
          <p:cNvPr id="17421" name="Only the selected window reaches the policy.">
            <a:extLst xmlns:a="http://schemas.openxmlformats.org/drawingml/2006/main">
              <a:ext uri="{FF2B5EF4-FFF2-40B4-BE49-F238E27FC236}">
                <a16:creationId xmlns:a16="http://schemas.microsoft.com/office/drawing/2014/main" id="{59C5A467-9970-4323-B250-07B92AE64BAA}"/>
              </a:ext>
            </a:extLst>
          </p:cNvPr>
          <p:cNvSpPr>
            <a:spLocks xmlns:a="http://schemas.openxmlformats.org/drawingml/2006/main" noGrp="1"/>
          </p:cNvSpPr>
          <p:nvPr/>
        </p:nvSpPr>
        <p:spPr>
          <a:xfrm xmlns:a="http://schemas.openxmlformats.org/drawingml/2006/main">
            <a:off x="1095375" y="3095625"/>
            <a:ext cx="43148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77B"/>
                </a:solidFill>
                <a:latin typeface="Arial"/>
                <a:ea typeface="Arial"/>
                <a:cs typeface="Arial"/>
              </a:defRPr>
            </a:pPr>
            <a:r>
              <a:rPr sz="1650" b="0">
                <a:solidFill>
                  <a:srgbClr val="52677B"/>
                </a:solidFill>
                <a:latin typeface="Arial"/>
                <a:ea typeface="Arial"/>
                <a:cs typeface="Arial"/>
              </a:rPr>
              <a:t>Only the selected window reaches the policy.</a:t>
            </a:r>
          </a:p>
        </p:txBody>
      </p:sp>
      <p:sp>
        <p:nvSpPr>
          <p:cNvPr id="17422" name="03">
            <a:extLst xmlns:a="http://schemas.openxmlformats.org/drawingml/2006/main">
              <a:ext uri="{FF2B5EF4-FFF2-40B4-BE49-F238E27FC236}">
                <a16:creationId xmlns:a16="http://schemas.microsoft.com/office/drawing/2014/main" id="{FAE989E2-6932-4772-8290-8BA5859BEEF6}"/>
              </a:ext>
            </a:extLst>
          </p:cNvPr>
          <p:cNvSpPr>
            <a:spLocks xmlns:a="http://schemas.openxmlformats.org/drawingml/2006/main" noGrp="1"/>
          </p:cNvSpPr>
          <p:nvPr/>
        </p:nvSpPr>
        <p:spPr>
          <a:xfrm xmlns:a="http://schemas.openxmlformats.org/drawingml/2006/main">
            <a:off x="428625" y="3571875"/>
            <a:ext cx="514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8B7"/>
                </a:solidFill>
                <a:latin typeface="Arial"/>
                <a:ea typeface="Arial"/>
                <a:cs typeface="Arial"/>
              </a:defRPr>
            </a:pPr>
            <a:r>
              <a:rPr sz="2550" b="1">
                <a:solidFill>
                  <a:srgbClr val="0078B7"/>
                </a:solidFill>
                <a:latin typeface="Arial"/>
                <a:ea typeface="Arial"/>
                <a:cs typeface="Arial"/>
              </a:rPr>
              <a:t>03</a:t>
            </a:r>
          </a:p>
        </p:txBody>
      </p:sp>
      <p:sp>
        <p:nvSpPr>
          <p:cNvPr id="17423" name="Inspectable model state">
            <a:extLst xmlns:a="http://schemas.openxmlformats.org/drawingml/2006/main">
              <a:ext uri="{FF2B5EF4-FFF2-40B4-BE49-F238E27FC236}">
                <a16:creationId xmlns:a16="http://schemas.microsoft.com/office/drawing/2014/main" id="{8D445F72-7DAC-43FE-B5D1-0AAB923EFB3F}"/>
              </a:ext>
            </a:extLst>
          </p:cNvPr>
          <p:cNvSpPr>
            <a:spLocks xmlns:a="http://schemas.openxmlformats.org/drawingml/2006/main" noGrp="1"/>
          </p:cNvSpPr>
          <p:nvPr/>
        </p:nvSpPr>
        <p:spPr>
          <a:xfrm xmlns:a="http://schemas.openxmlformats.org/drawingml/2006/main">
            <a:off x="1095375" y="3571875"/>
            <a:ext cx="442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2A3D"/>
                </a:solidFill>
                <a:latin typeface="Arial"/>
                <a:ea typeface="Arial"/>
                <a:cs typeface="Arial"/>
              </a:defRPr>
            </a:pPr>
            <a:r>
              <a:rPr sz="1875" b="1">
                <a:solidFill>
                  <a:srgbClr val="172A3D"/>
                </a:solidFill>
                <a:latin typeface="Arial"/>
                <a:ea typeface="Arial"/>
                <a:cs typeface="Arial"/>
              </a:rPr>
              <a:t>Inspectable model state</a:t>
            </a:r>
          </a:p>
        </p:txBody>
      </p:sp>
      <p:sp>
        <p:nvSpPr>
          <p:cNvPr id="17424" name="Recorded beliefs and explanations stay visible.">
            <a:extLst xmlns:a="http://schemas.openxmlformats.org/drawingml/2006/main">
              <a:ext uri="{FF2B5EF4-FFF2-40B4-BE49-F238E27FC236}">
                <a16:creationId xmlns:a16="http://schemas.microsoft.com/office/drawing/2014/main" id="{3043E35D-1A7A-4EC4-9A0C-CCDA484280CF}"/>
              </a:ext>
            </a:extLst>
          </p:cNvPr>
          <p:cNvSpPr>
            <a:spLocks xmlns:a="http://schemas.openxmlformats.org/drawingml/2006/main" noGrp="1"/>
          </p:cNvSpPr>
          <p:nvPr/>
        </p:nvSpPr>
        <p:spPr>
          <a:xfrm xmlns:a="http://schemas.openxmlformats.org/drawingml/2006/main">
            <a:off x="1095375" y="3914775"/>
            <a:ext cx="43148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77B"/>
                </a:solidFill>
                <a:latin typeface="Arial"/>
                <a:ea typeface="Arial"/>
                <a:cs typeface="Arial"/>
              </a:defRPr>
            </a:pPr>
            <a:r>
              <a:rPr sz="1650" b="0">
                <a:solidFill>
                  <a:srgbClr val="52677B"/>
                </a:solidFill>
                <a:latin typeface="Arial"/>
                <a:ea typeface="Arial"/>
                <a:cs typeface="Arial"/>
              </a:rPr>
              <a:t>Recorded beliefs and explanations stay visible.</a:t>
            </a:r>
          </a:p>
        </p:txBody>
      </p:sp>
      <p:sp>
        <p:nvSpPr>
          <p:cNvPr id="17425" name="04">
            <a:extLst xmlns:a="http://schemas.openxmlformats.org/drawingml/2006/main">
              <a:ext uri="{FF2B5EF4-FFF2-40B4-BE49-F238E27FC236}">
                <a16:creationId xmlns:a16="http://schemas.microsoft.com/office/drawing/2014/main" id="{4726CCE5-C5DD-4E15-BD3C-CD227B7042F9}"/>
              </a:ext>
            </a:extLst>
          </p:cNvPr>
          <p:cNvSpPr>
            <a:spLocks xmlns:a="http://schemas.openxmlformats.org/drawingml/2006/main" noGrp="1"/>
          </p:cNvSpPr>
          <p:nvPr/>
        </p:nvSpPr>
        <p:spPr>
          <a:xfrm xmlns:a="http://schemas.openxmlformats.org/drawingml/2006/main">
            <a:off x="428625" y="4391025"/>
            <a:ext cx="514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8B7"/>
                </a:solidFill>
                <a:latin typeface="Arial"/>
                <a:ea typeface="Arial"/>
                <a:cs typeface="Arial"/>
              </a:defRPr>
            </a:pPr>
            <a:r>
              <a:rPr sz="2550" b="1">
                <a:solidFill>
                  <a:srgbClr val="0078B7"/>
                </a:solidFill>
                <a:latin typeface="Arial"/>
                <a:ea typeface="Arial"/>
                <a:cs typeface="Arial"/>
              </a:rPr>
              <a:t>04</a:t>
            </a:r>
          </a:p>
        </p:txBody>
      </p:sp>
      <p:sp>
        <p:nvSpPr>
          <p:cNvPr id="17426" name="Independent evaluation">
            <a:extLst xmlns:a="http://schemas.openxmlformats.org/drawingml/2006/main">
              <a:ext uri="{FF2B5EF4-FFF2-40B4-BE49-F238E27FC236}">
                <a16:creationId xmlns:a16="http://schemas.microsoft.com/office/drawing/2014/main" id="{3FB0CF8C-FD96-48D9-BC3A-62C40A8DFC20}"/>
              </a:ext>
            </a:extLst>
          </p:cNvPr>
          <p:cNvSpPr>
            <a:spLocks xmlns:a="http://schemas.openxmlformats.org/drawingml/2006/main" noGrp="1"/>
          </p:cNvSpPr>
          <p:nvPr/>
        </p:nvSpPr>
        <p:spPr>
          <a:xfrm xmlns:a="http://schemas.openxmlformats.org/drawingml/2006/main">
            <a:off x="1095375" y="4391025"/>
            <a:ext cx="442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2A3D"/>
                </a:solidFill>
                <a:latin typeface="Arial"/>
                <a:ea typeface="Arial"/>
                <a:cs typeface="Arial"/>
              </a:defRPr>
            </a:pPr>
            <a:r>
              <a:rPr sz="1875" b="1">
                <a:solidFill>
                  <a:srgbClr val="172A3D"/>
                </a:solidFill>
                <a:latin typeface="Arial"/>
                <a:ea typeface="Arial"/>
                <a:cs typeface="Arial"/>
              </a:rPr>
              <a:t>Independent evaluation</a:t>
            </a:r>
          </a:p>
        </p:txBody>
      </p:sp>
      <p:sp>
        <p:nvSpPr>
          <p:cNvPr id="17427" name="Compare policies and save verified traces.">
            <a:extLst xmlns:a="http://schemas.openxmlformats.org/drawingml/2006/main">
              <a:ext uri="{FF2B5EF4-FFF2-40B4-BE49-F238E27FC236}">
                <a16:creationId xmlns:a16="http://schemas.microsoft.com/office/drawing/2014/main" id="{558A24F9-2C0A-473D-8062-23E973EF01C3}"/>
              </a:ext>
            </a:extLst>
          </p:cNvPr>
          <p:cNvSpPr>
            <a:spLocks xmlns:a="http://schemas.openxmlformats.org/drawingml/2006/main" noGrp="1"/>
          </p:cNvSpPr>
          <p:nvPr/>
        </p:nvSpPr>
        <p:spPr>
          <a:xfrm xmlns:a="http://schemas.openxmlformats.org/drawingml/2006/main">
            <a:off x="1095375" y="4733925"/>
            <a:ext cx="43148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77B"/>
                </a:solidFill>
                <a:latin typeface="Arial"/>
                <a:ea typeface="Arial"/>
                <a:cs typeface="Arial"/>
              </a:defRPr>
            </a:pPr>
            <a:r>
              <a:rPr sz="1650" b="0">
                <a:solidFill>
                  <a:srgbClr val="52677B"/>
                </a:solidFill>
                <a:latin typeface="Arial"/>
                <a:ea typeface="Arial"/>
                <a:cs typeface="Arial"/>
              </a:rPr>
              <a:t>Compare policies and save verified traces.</a:t>
            </a:r>
          </a:p>
        </p:txBody>
      </p:sp>
      <p:pic>
        <p:nvPicPr>
          <p:cNvPr id="17453" name=""/>
          <p:cNvPicPr>
            <a:picLocks xmlns:a="http://schemas.openxmlformats.org/drawingml/2006/main" noChangeAspect="1"/>
          </p:cNvPicPr>
          <p:nvPr/>
        </p:nvPicPr>
        <p:blipFill>
          <a:blip xmlns:r="http://schemas.openxmlformats.org/officeDocument/2006/relationships" xmlns:a="http://schemas.openxmlformats.org/drawingml/2006/main" r:embed="R3af643c659574df1"/>
          <a:srcRect xmlns:a="http://schemas.openxmlformats.org/drawingml/2006/main" l="0" t="21094" r="0" b="21094"/>
          <a:stretch xmlns:a="http://schemas.openxmlformats.org/drawingml/2006/main">
            <a:fillRect l="0" t="0" r="0" b="0"/>
          </a:stretch>
        </p:blipFill>
        <p:spPr>
          <a:xfrm xmlns:a="http://schemas.openxmlformats.org/drawingml/2006/main">
            <a:off x="5810250" y="1933575"/>
            <a:ext cx="5953125" cy="3257550"/>
          </a:xfrm>
          <a:prstGeom xmlns:a="http://schemas.openxmlformats.org/drawingml/2006/main" prst="rect">
            <a:avLst/>
          </a:prstGeom>
        </p:spPr>
      </p:pic>
      <p:sp>
        <p:nvSpPr>
          <p:cNvPr id="17429" name="Working prototype: recorded 3D exploration">
            <a:extLst xmlns:a="http://schemas.openxmlformats.org/drawingml/2006/main">
              <a:ext uri="{FF2B5EF4-FFF2-40B4-BE49-F238E27FC236}">
                <a16:creationId xmlns:a16="http://schemas.microsoft.com/office/drawing/2014/main" id="{E1138A4B-2A63-4480-AD62-A2C989AD902F}"/>
              </a:ext>
            </a:extLst>
          </p:cNvPr>
          <p:cNvSpPr>
            <a:spLocks xmlns:a="http://schemas.openxmlformats.org/drawingml/2006/main" noGrp="1"/>
          </p:cNvSpPr>
          <p:nvPr/>
        </p:nvSpPr>
        <p:spPr>
          <a:xfrm xmlns:a="http://schemas.openxmlformats.org/drawingml/2006/main">
            <a:off x="5829300" y="5238750"/>
            <a:ext cx="5905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14E82"/>
                </a:solidFill>
                <a:latin typeface="Arial"/>
                <a:ea typeface="Arial"/>
                <a:cs typeface="Arial"/>
              </a:defRPr>
            </a:pPr>
            <a:r>
              <a:rPr sz="1650" b="1">
                <a:solidFill>
                  <a:srgbClr val="214E82"/>
                </a:solidFill>
                <a:latin typeface="Arial"/>
                <a:ea typeface="Arial"/>
                <a:cs typeface="Arial"/>
              </a:rPr>
              <a:t>Working prototype: recorded 3D exploration</a:t>
            </a:r>
          </a:p>
        </p:txBody>
      </p:sp>
      <p:sp>
        <p:nvSpPr>
          <p:cNvPr id="17430" name="Evaluation view shown. Hidden truth stays outside policy inputs.">
            <a:extLst xmlns:a="http://schemas.openxmlformats.org/drawingml/2006/main">
              <a:ext uri="{FF2B5EF4-FFF2-40B4-BE49-F238E27FC236}">
                <a16:creationId xmlns:a16="http://schemas.microsoft.com/office/drawing/2014/main" id="{406493FB-982F-44DD-82F0-FDC25772AEBF}"/>
              </a:ext>
            </a:extLst>
          </p:cNvPr>
          <p:cNvSpPr>
            <a:spLocks xmlns:a="http://schemas.openxmlformats.org/drawingml/2006/main" noGrp="1"/>
          </p:cNvSpPr>
          <p:nvPr/>
        </p:nvSpPr>
        <p:spPr>
          <a:xfrm xmlns:a="http://schemas.openxmlformats.org/drawingml/2006/main">
            <a:off x="5829300" y="5581650"/>
            <a:ext cx="5905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2677B"/>
                </a:solidFill>
                <a:latin typeface="Arial"/>
                <a:ea typeface="Arial"/>
                <a:cs typeface="Arial"/>
              </a:defRPr>
            </a:pPr>
            <a:r>
              <a:rPr sz="1425" b="0">
                <a:solidFill>
                  <a:srgbClr val="52677B"/>
                </a:solidFill>
                <a:latin typeface="Arial"/>
                <a:ea typeface="Arial"/>
                <a:cs typeface="Arial"/>
              </a:rPr>
              <a:t>Evaluation view shown. Hidden truth stays outside policy inputs.</a:t>
            </a:r>
          </a:p>
        </p:txBody>
      </p:sp>
      <p:sp>
        <p:nvSpPr>
          <p:cNvPr id="17431" name="Technologies">
            <a:extLst xmlns:a="http://schemas.openxmlformats.org/drawingml/2006/main">
              <a:ext uri="{FF2B5EF4-FFF2-40B4-BE49-F238E27FC236}">
                <a16:creationId xmlns:a16="http://schemas.microsoft.com/office/drawing/2014/main" id="{1006AC7D-5737-405D-AA02-C7D4BDBA330E}"/>
              </a:ext>
            </a:extLst>
          </p:cNvPr>
          <p:cNvSpPr>
            <a:spLocks xmlns:a="http://schemas.openxmlformats.org/drawingml/2006/main" noGrp="1"/>
          </p:cNvSpPr>
          <p:nvPr/>
        </p:nvSpPr>
        <p:spPr>
          <a:xfrm xmlns:a="http://schemas.openxmlformats.org/drawingml/2006/main">
            <a:off x="428625" y="539115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14E82"/>
                </a:solidFill>
                <a:latin typeface="Arial"/>
                <a:ea typeface="Arial"/>
                <a:cs typeface="Arial"/>
              </a:defRPr>
            </a:pPr>
            <a:r>
              <a:rPr sz="1950" b="1">
                <a:solidFill>
                  <a:srgbClr val="214E82"/>
                </a:solidFill>
                <a:latin typeface="Arial"/>
                <a:ea typeface="Arial"/>
                <a:cs typeface="Arial"/>
              </a:rPr>
              <a:t>Technologies</a:t>
            </a:r>
          </a:p>
        </p:txBody>
      </p:sp>
      <p:sp>
        <p:nvSpPr>
          <p:cNvPr id="17432" name="Python / FastAPI / NumPy / SciPy&#10;React / TypeScript / Three.js / ">
            <a:extLst xmlns:a="http://schemas.openxmlformats.org/drawingml/2006/main">
              <a:ext uri="{FF2B5EF4-FFF2-40B4-BE49-F238E27FC236}">
                <a16:creationId xmlns:a16="http://schemas.microsoft.com/office/drawing/2014/main" id="{69A9DA75-B9B2-4DA6-BF3E-75F131AD4122}"/>
              </a:ext>
            </a:extLst>
          </p:cNvPr>
          <p:cNvSpPr>
            <a:spLocks xmlns:a="http://schemas.openxmlformats.org/drawingml/2006/main" noGrp="1"/>
          </p:cNvSpPr>
          <p:nvPr/>
        </p:nvSpPr>
        <p:spPr>
          <a:xfrm xmlns:a="http://schemas.openxmlformats.org/drawingml/2006/main">
            <a:off x="428625" y="5762625"/>
            <a:ext cx="5238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72A3D"/>
                </a:solidFill>
                <a:latin typeface="Arial"/>
                <a:ea typeface="Arial"/>
                <a:cs typeface="Arial"/>
              </a:defRPr>
            </a:pPr>
            <a:r>
              <a:rPr sz="1500" b="0">
                <a:solidFill>
                  <a:srgbClr val="172A3D"/>
                </a:solidFill>
                <a:latin typeface="Arial"/>
                <a:ea typeface="Arial"/>
                <a:cs typeface="Arial"/>
              </a:rPr>
              <a:t>Python / FastAPI / NumPy / SciPy</a:t>
            </a:r>
          </a:p>
          <a:p xmlns:a="http://schemas.openxmlformats.org/drawingml/2006/main">
            <a:pPr algn="l">
              <a:defRPr sz="1500" b="0">
                <a:solidFill>
                  <a:srgbClr val="172A3D"/>
                </a:solidFill>
                <a:latin typeface="Arial"/>
                <a:ea typeface="Arial"/>
                <a:cs typeface="Arial"/>
              </a:defRPr>
            </a:pPr>
            <a:r>
              <a:rPr sz="1500" b="0">
                <a:solidFill>
                  <a:srgbClr val="172A3D"/>
                </a:solidFill>
                <a:latin typeface="Arial"/>
                <a:ea typeface="Arial"/>
                <a:cs typeface="Arial"/>
              </a:rPr>
              <a:t>React / TypeScript / Three.js / SQLite</a:t>
            </a:r>
          </a:p>
        </p:txBody>
      </p:sp>
    </p:spTree>
    <p:extLst>
      <p:ext uri="{BB962C8B-B14F-4D97-AF65-F5344CB8AC3E}">
        <p14:creationId xmlns:p14="http://schemas.microsoft.com/office/powerpoint/2010/main" val="185933937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525529CA-B043-4C60-82B9-947D250228AE}"/>
              </a:ext>
            </a:extLst>
          </p:cNvPr>
          <p:cNvSpPr>
            <a:spLocks xmlns:a="http://schemas.openxmlformats.org/drawingml/2006/main" noGrp="1"/>
          </p:cNvSpPr>
          <p:nvPr>
            <p:ph type="title" idx="0"/>
          </p:nvPr>
        </p:nvSpPr>
        <p:spPr>
          <a:xfrm xmlns:a="http://schemas.openxmlformats.org/drawingml/2006/main">
            <a:off x="1714500" y="209550"/>
            <a:ext cx="7934325" cy="790575"/>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C567FC6F-E1A6-4141-8B08-9A91FF60E4B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4</a:t>
            </a:fld>
            <a:endParaRPr sz="1200" b="1" i="0" u="none" kern="1200" cap="none" spc="0" baseline="0">
              <a:ln>
                <a:noFill/>
              </a:ln>
              <a:solidFill>
                <a:prstClr val="white"/>
              </a:solidFill>
              <a:latin typeface="TradeGothic"/>
              <a:ea typeface="TradeGothic"/>
              <a:cs typeface="TradeGothic"/>
            </a:endParaRPr>
          </a:p>
        </p:txBody>
      </p:sp>
      <p:pic>
        <p:nvPicPr>
          <p:cNvPr id="17431" name=""/>
          <p:cNvPicPr>
            <a:picLocks xmlns:a="http://schemas.openxmlformats.org/drawingml/2006/main" noChangeAspect="1"/>
          </p:cNvPicPr>
          <p:nvPr/>
        </p:nvPicPr>
        <p:blipFill>
          <a:blip xmlns:r="http://schemas.openxmlformats.org/officeDocument/2006/relationships" xmlns:a="http://schemas.openxmlformats.org/drawingml/2006/main" r:embed="Rf02203d71d9e4b40"/>
          <a:srcRect xmlns:a="http://schemas.openxmlformats.org/drawingml/2006/main" l="0" t="0" r="0" b="0"/>
          <a:stretch xmlns:a="http://schemas.openxmlformats.org/drawingml/2006/main">
            <a:fillRect l="0" t="0" r="0" b="0"/>
          </a:stretch>
        </p:blipFill>
        <p:spPr>
          <a:xfrm xmlns:a="http://schemas.openxmlformats.org/drawingml/2006/main">
            <a:off x="9780080" y="1524"/>
            <a:ext cx="2249805" cy="1062323"/>
          </a:xfrm>
          <a:prstGeom xmlns:a="http://schemas.openxmlformats.org/drawingml/2006/main" prst="rect">
            <a:avLst/>
          </a:prstGeom>
        </p:spPr>
      </p:pic>
      <p:sp>
        <p:nvSpPr>
          <p:cNvPr id="17412" name="Original template team oval">
            <a:extLst xmlns:a="http://schemas.openxmlformats.org/drawingml/2006/main">
              <a:ext uri="{FF2B5EF4-FFF2-40B4-BE49-F238E27FC236}">
                <a16:creationId xmlns:a16="http://schemas.microsoft.com/office/drawing/2014/main" id="{2FF1C169-0A90-4E9D-8AFC-6E32D02221C3}"/>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noFill xmlns:a="http://schemas.openxmlformats.org/drawingml/2006/main"/>
          <a:ln xmlns:a="http://schemas.openxmlformats.org/drawingml/2006/main" w="19050">
            <a:solidFill>
              <a:srgbClr val="000000"/>
            </a:solidFill>
          </a:ln>
        </p:spPr>
      </p:sp>
      <p:sp>
        <p:nvSpPr>
          <p:cNvPr id="17413" name="AlphaX">
            <a:extLst xmlns:a="http://schemas.openxmlformats.org/drawingml/2006/main">
              <a:ext uri="{FF2B5EF4-FFF2-40B4-BE49-F238E27FC236}">
                <a16:creationId xmlns:a16="http://schemas.microsoft.com/office/drawing/2014/main" id="{692B807C-28F8-46DB-9488-C76F8414C690}"/>
              </a:ext>
            </a:extLst>
          </p:cNvPr>
          <p:cNvSpPr>
            <a:spLocks xmlns:a="http://schemas.openxmlformats.org/drawingml/2006/main" noGrp="1"/>
          </p:cNvSpPr>
          <p:nvPr/>
        </p:nvSpPr>
        <p:spPr>
          <a:xfrm xmlns:a="http://schemas.openxmlformats.org/drawingml/2006/main">
            <a:off x="329756" y="514350"/>
            <a:ext cx="1251871"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214E82"/>
                </a:solidFill>
                <a:latin typeface="Arial"/>
                <a:ea typeface="Arial"/>
                <a:cs typeface="Arial"/>
              </a:defRPr>
            </a:pPr>
            <a:r>
              <a:rPr sz="1800" b="1">
                <a:solidFill>
                  <a:srgbClr val="214E82"/>
                </a:solidFill>
                <a:latin typeface="Arial"/>
                <a:ea typeface="Arial"/>
                <a:cs typeface="Arial"/>
              </a:rPr>
              <a:t>AlphaX</a:t>
            </a:r>
          </a:p>
        </p:txBody>
      </p:sp>
      <p:sp>
        <p:nvSpPr>
          <p:cNvPr id="17414" name="@SIH Idea submission- Template">
            <a:extLst xmlns:a="http://schemas.openxmlformats.org/drawingml/2006/main">
              <a:ext uri="{FF2B5EF4-FFF2-40B4-BE49-F238E27FC236}">
                <a16:creationId xmlns:a16="http://schemas.microsoft.com/office/drawing/2014/main" id="{CBEF1F59-4E98-4197-9968-6FE094DAAD0B}"/>
              </a:ext>
            </a:extLst>
          </p:cNvPr>
          <p:cNvSpPr>
            <a:spLocks xmlns:a="http://schemas.openxmlformats.org/drawingml/2006/main" noGrp="1"/>
          </p:cNvSpPr>
          <p:nvPr/>
        </p:nvSpPr>
        <p:spPr>
          <a:xfrm xmlns:a="http://schemas.openxmlformats.org/drawingml/2006/main">
            <a:off x="4648200" y="6467475"/>
            <a:ext cx="320402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FFFFFF"/>
                </a:solidFill>
                <a:latin typeface="Arial"/>
                <a:ea typeface="Arial"/>
                <a:cs typeface="Arial"/>
              </a:defRPr>
            </a:pPr>
            <a:r>
              <a:rPr sz="1200" b="0">
                <a:solidFill>
                  <a:srgbClr val="FFFFFF"/>
                </a:solidFill>
                <a:latin typeface="Arial"/>
                <a:ea typeface="Arial"/>
                <a:cs typeface="Arial"/>
              </a:rPr>
              <a:t>@SIH Idea submission- Template</a:t>
            </a:r>
          </a:p>
        </p:txBody>
      </p:sp>
      <p:sp>
        <p:nvSpPr>
          <p:cNvPr id="17415" name="A working software prototype with reproducible evidence">
            <a:extLst xmlns:a="http://schemas.openxmlformats.org/drawingml/2006/main">
              <a:ext uri="{FF2B5EF4-FFF2-40B4-BE49-F238E27FC236}">
                <a16:creationId xmlns:a16="http://schemas.microsoft.com/office/drawing/2014/main" id="{AA71E1CA-7759-45E8-BAF3-D02C515063F5}"/>
              </a:ext>
            </a:extLst>
          </p:cNvPr>
          <p:cNvSpPr>
            <a:spLocks xmlns:a="http://schemas.openxmlformats.org/drawingml/2006/main" noGrp="1"/>
          </p:cNvSpPr>
          <p:nvPr/>
        </p:nvSpPr>
        <p:spPr>
          <a:xfrm xmlns:a="http://schemas.openxmlformats.org/drawingml/2006/main">
            <a:off x="428625" y="1333500"/>
            <a:ext cx="1133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14E82"/>
                </a:solidFill>
                <a:latin typeface="Arial"/>
                <a:ea typeface="Arial"/>
                <a:cs typeface="Arial"/>
              </a:defRPr>
            </a:pPr>
            <a:r>
              <a:rPr sz="2250" b="1">
                <a:solidFill>
                  <a:srgbClr val="214E82"/>
                </a:solidFill>
                <a:latin typeface="Arial"/>
                <a:ea typeface="Arial"/>
                <a:cs typeface="Arial"/>
              </a:rPr>
              <a:t>A working software prototype with reproducible evidence</a:t>
            </a:r>
          </a:p>
        </p:txBody>
      </p:sp>
      <p:sp>
        <p:nvSpPr>
          <p:cNvPr id="17416" name="32">
            <a:extLst xmlns:a="http://schemas.openxmlformats.org/drawingml/2006/main">
              <a:ext uri="{FF2B5EF4-FFF2-40B4-BE49-F238E27FC236}">
                <a16:creationId xmlns:a16="http://schemas.microsoft.com/office/drawing/2014/main" id="{02206D0B-42E0-47D6-86EE-BA706F41D060}"/>
              </a:ext>
            </a:extLst>
          </p:cNvPr>
          <p:cNvSpPr>
            <a:spLocks xmlns:a="http://schemas.openxmlformats.org/drawingml/2006/main" noGrp="1"/>
          </p:cNvSpPr>
          <p:nvPr/>
        </p:nvSpPr>
        <p:spPr>
          <a:xfrm xmlns:a="http://schemas.openxmlformats.org/drawingml/2006/main">
            <a:off x="428625" y="1847850"/>
            <a:ext cx="1809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0078B7"/>
                </a:solidFill>
                <a:latin typeface="Arial"/>
                <a:ea typeface="Arial"/>
                <a:cs typeface="Arial"/>
              </a:defRPr>
            </a:pPr>
            <a:r>
              <a:rPr sz="4050" b="1">
                <a:solidFill>
                  <a:srgbClr val="0078B7"/>
                </a:solidFill>
                <a:latin typeface="Arial"/>
                <a:ea typeface="Arial"/>
                <a:cs typeface="Arial"/>
              </a:rPr>
              <a:t>32</a:t>
            </a:r>
          </a:p>
        </p:txBody>
      </p:sp>
      <p:sp>
        <p:nvSpPr>
          <p:cNvPr id="17417" name="backend tests passed">
            <a:extLst xmlns:a="http://schemas.openxmlformats.org/drawingml/2006/main">
              <a:ext uri="{FF2B5EF4-FFF2-40B4-BE49-F238E27FC236}">
                <a16:creationId xmlns:a16="http://schemas.microsoft.com/office/drawing/2014/main" id="{7CFC724A-74DF-4B54-8506-4108641F818F}"/>
              </a:ext>
            </a:extLst>
          </p:cNvPr>
          <p:cNvSpPr>
            <a:spLocks xmlns:a="http://schemas.openxmlformats.org/drawingml/2006/main" noGrp="1"/>
          </p:cNvSpPr>
          <p:nvPr/>
        </p:nvSpPr>
        <p:spPr>
          <a:xfrm xmlns:a="http://schemas.openxmlformats.org/drawingml/2006/main">
            <a:off x="428625" y="2476500"/>
            <a:ext cx="3381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2A3D"/>
                </a:solidFill>
                <a:latin typeface="Arial"/>
                <a:ea typeface="Arial"/>
                <a:cs typeface="Arial"/>
              </a:defRPr>
            </a:pPr>
            <a:r>
              <a:rPr sz="1725" b="0">
                <a:solidFill>
                  <a:srgbClr val="172A3D"/>
                </a:solidFill>
                <a:latin typeface="Arial"/>
                <a:ea typeface="Arial"/>
                <a:cs typeface="Arial"/>
              </a:rPr>
              <a:t>backend tests passed</a:t>
            </a:r>
          </a:p>
        </p:txBody>
      </p:sp>
      <p:sp>
        <p:nvSpPr>
          <p:cNvPr id="17418" name="30">
            <a:extLst xmlns:a="http://schemas.openxmlformats.org/drawingml/2006/main">
              <a:ext uri="{FF2B5EF4-FFF2-40B4-BE49-F238E27FC236}">
                <a16:creationId xmlns:a16="http://schemas.microsoft.com/office/drawing/2014/main" id="{4A124F99-D24F-4E14-B794-3D75C1AD70EE}"/>
              </a:ext>
            </a:extLst>
          </p:cNvPr>
          <p:cNvSpPr>
            <a:spLocks xmlns:a="http://schemas.openxmlformats.org/drawingml/2006/main" noGrp="1"/>
          </p:cNvSpPr>
          <p:nvPr/>
        </p:nvSpPr>
        <p:spPr>
          <a:xfrm xmlns:a="http://schemas.openxmlformats.org/drawingml/2006/main">
            <a:off x="4076700" y="1847850"/>
            <a:ext cx="1809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0078B7"/>
                </a:solidFill>
                <a:latin typeface="Arial"/>
                <a:ea typeface="Arial"/>
                <a:cs typeface="Arial"/>
              </a:defRPr>
            </a:pPr>
            <a:r>
              <a:rPr sz="4050" b="1">
                <a:solidFill>
                  <a:srgbClr val="0078B7"/>
                </a:solidFill>
                <a:latin typeface="Arial"/>
                <a:ea typeface="Arial"/>
                <a:cs typeface="Arial"/>
              </a:rPr>
              <a:t>30</a:t>
            </a:r>
          </a:p>
        </p:txBody>
      </p:sp>
      <p:sp>
        <p:nvSpPr>
          <p:cNvPr id="17419" name="paired simulation worlds">
            <a:extLst xmlns:a="http://schemas.openxmlformats.org/drawingml/2006/main">
              <a:ext uri="{FF2B5EF4-FFF2-40B4-BE49-F238E27FC236}">
                <a16:creationId xmlns:a16="http://schemas.microsoft.com/office/drawing/2014/main" id="{CD650333-0956-449B-BBCE-E6AA6A5793E7}"/>
              </a:ext>
            </a:extLst>
          </p:cNvPr>
          <p:cNvSpPr>
            <a:spLocks xmlns:a="http://schemas.openxmlformats.org/drawingml/2006/main" noGrp="1"/>
          </p:cNvSpPr>
          <p:nvPr/>
        </p:nvSpPr>
        <p:spPr>
          <a:xfrm xmlns:a="http://schemas.openxmlformats.org/drawingml/2006/main">
            <a:off x="4076700" y="2476500"/>
            <a:ext cx="3381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2A3D"/>
                </a:solidFill>
                <a:latin typeface="Arial"/>
                <a:ea typeface="Arial"/>
                <a:cs typeface="Arial"/>
              </a:defRPr>
            </a:pPr>
            <a:r>
              <a:rPr sz="1725" b="0">
                <a:solidFill>
                  <a:srgbClr val="172A3D"/>
                </a:solidFill>
                <a:latin typeface="Arial"/>
                <a:ea typeface="Arial"/>
                <a:cs typeface="Arial"/>
              </a:rPr>
              <a:t>paired simulation worlds</a:t>
            </a:r>
          </a:p>
        </p:txBody>
      </p:sp>
      <p:sp>
        <p:nvSpPr>
          <p:cNvPr id="17420" name="180">
            <a:extLst xmlns:a="http://schemas.openxmlformats.org/drawingml/2006/main">
              <a:ext uri="{FF2B5EF4-FFF2-40B4-BE49-F238E27FC236}">
                <a16:creationId xmlns:a16="http://schemas.microsoft.com/office/drawing/2014/main" id="{304A4FEE-90CE-4BBC-8030-518E51685603}"/>
              </a:ext>
            </a:extLst>
          </p:cNvPr>
          <p:cNvSpPr>
            <a:spLocks xmlns:a="http://schemas.openxmlformats.org/drawingml/2006/main" noGrp="1"/>
          </p:cNvSpPr>
          <p:nvPr/>
        </p:nvSpPr>
        <p:spPr>
          <a:xfrm xmlns:a="http://schemas.openxmlformats.org/drawingml/2006/main">
            <a:off x="7934325" y="1847850"/>
            <a:ext cx="1809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0078B7"/>
                </a:solidFill>
                <a:latin typeface="Arial"/>
                <a:ea typeface="Arial"/>
                <a:cs typeface="Arial"/>
              </a:defRPr>
            </a:pPr>
            <a:r>
              <a:rPr sz="4050" b="1">
                <a:solidFill>
                  <a:srgbClr val="0078B7"/>
                </a:solidFill>
                <a:latin typeface="Arial"/>
                <a:ea typeface="Arial"/>
                <a:cs typeface="Arial"/>
              </a:rPr>
              <a:t>180</a:t>
            </a:r>
          </a:p>
        </p:txBody>
      </p:sp>
      <p:sp>
        <p:nvSpPr>
          <p:cNvPr id="17421" name="policy evaluations">
            <a:extLst xmlns:a="http://schemas.openxmlformats.org/drawingml/2006/main">
              <a:ext uri="{FF2B5EF4-FFF2-40B4-BE49-F238E27FC236}">
                <a16:creationId xmlns:a16="http://schemas.microsoft.com/office/drawing/2014/main" id="{B5139C69-5F9D-499B-A6E2-E96B4AB2AEBC}"/>
              </a:ext>
            </a:extLst>
          </p:cNvPr>
          <p:cNvSpPr>
            <a:spLocks xmlns:a="http://schemas.openxmlformats.org/drawingml/2006/main" noGrp="1"/>
          </p:cNvSpPr>
          <p:nvPr/>
        </p:nvSpPr>
        <p:spPr>
          <a:xfrm xmlns:a="http://schemas.openxmlformats.org/drawingml/2006/main">
            <a:off x="7934325" y="2476500"/>
            <a:ext cx="3381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2A3D"/>
                </a:solidFill>
                <a:latin typeface="Arial"/>
                <a:ea typeface="Arial"/>
                <a:cs typeface="Arial"/>
              </a:defRPr>
            </a:pPr>
            <a:r>
              <a:rPr sz="1725" b="0">
                <a:solidFill>
                  <a:srgbClr val="172A3D"/>
                </a:solidFill>
                <a:latin typeface="Arial"/>
                <a:ea typeface="Arial"/>
                <a:cs typeface="Arial"/>
              </a:rPr>
              <a:t>policy evaluations</a:t>
            </a:r>
          </a:p>
        </p:txBody>
      </p:sp>
      <p:sp>
        <p:nvSpPr>
          <p:cNvPr id="17422" name="Challenges and validation strategy">
            <a:extLst xmlns:a="http://schemas.openxmlformats.org/drawingml/2006/main">
              <a:ext uri="{FF2B5EF4-FFF2-40B4-BE49-F238E27FC236}">
                <a16:creationId xmlns:a16="http://schemas.microsoft.com/office/drawing/2014/main" id="{AEDC4347-4E32-4D0A-AA8D-2FC7895E2A43}"/>
              </a:ext>
            </a:extLst>
          </p:cNvPr>
          <p:cNvSpPr>
            <a:spLocks xmlns:a="http://schemas.openxmlformats.org/drawingml/2006/main" noGrp="1"/>
          </p:cNvSpPr>
          <p:nvPr/>
        </p:nvSpPr>
        <p:spPr>
          <a:xfrm xmlns:a="http://schemas.openxmlformats.org/drawingml/2006/main">
            <a:off x="428625" y="3076575"/>
            <a:ext cx="704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14E82"/>
                </a:solidFill>
                <a:latin typeface="Arial"/>
                <a:ea typeface="Arial"/>
                <a:cs typeface="Arial"/>
              </a:defRPr>
            </a:pPr>
            <a:r>
              <a:rPr sz="2025" b="1">
                <a:solidFill>
                  <a:srgbClr val="214E82"/>
                </a:solidFill>
                <a:latin typeface="Arial"/>
                <a:ea typeface="Arial"/>
                <a:cs typeface="Arial"/>
              </a:rPr>
              <a:t>Challenges and validation strategy</a:t>
            </a:r>
          </a:p>
        </p:txBody>
      </p:sp>
      <p:graphicFrame>
        <p:nvGraphicFramePr>
          <p:cNvPr id="17443" name=""/>
          <p:cNvGraphicFramePr/>
          <p:nvPr/>
        </p:nvGraphicFramePr>
        <p:xfrm>
          <a:off xmlns:a="http://schemas.openxmlformats.org/drawingml/2006/main" x="428625" y="3533775"/>
          <a:ext xmlns:a="http://schemas.openxmlformats.org/drawingml/2006/main" cx="6962775" cy="2314575"/>
        </p:xfrm>
        <a:graphic xmlns:a="http://schemas.openxmlformats.org/drawingml/2006/main">
          <a:graphicData uri="http://schemas.openxmlformats.org/drawingml/2006/table">
            <a:tbl>
              <a:tblPr/>
              <a:tblGrid>
                <a:gridCol w="2400300"/>
                <a:gridCol w="4562475"/>
              </a:tblGrid>
              <a:tr h="447675">
                <a:tc>
                  <a:txBody>
                    <a:bodyPr lIns="114300" tIns="76200" rIns="114300" bIns="76200">
                      <a:noAutofit/>
                    </a:bodyPr>
                    <a:lstStyle/>
                    <a:p>
                      <a:r>
                        <a:rPr sz="1575" b="1">
                          <a:solidFill>
                            <a:srgbClr val="FFFFFF"/>
                          </a:solidFill>
                          <a:latin typeface="Arial"/>
                          <a:ea typeface="Arial"/>
                          <a:cs typeface="Arial"/>
                        </a:rPr>
                        <a:t>Current limitation</a:t>
                      </a:r>
                    </a:p>
                  </a:txBody>
                  <a:tcPr marL="91440" marR="91440" marT="45720" marB="45720" anchor="ctr">
                    <a:solidFill>
                      <a:srgbClr val="214E82"/>
                    </a:solidFill>
                  </a:tcPr>
                </a:tc>
                <a:tc>
                  <a:txBody>
                    <a:bodyPr lIns="114300" tIns="76200" rIns="114300" bIns="76200">
                      <a:noAutofit/>
                    </a:bodyPr>
                    <a:lstStyle/>
                    <a:p>
                      <a:r>
                        <a:rPr sz="1575" b="1">
                          <a:solidFill>
                            <a:srgbClr val="FFFFFF"/>
                          </a:solidFill>
                          <a:latin typeface="Arial"/>
                          <a:ea typeface="Arial"/>
                          <a:cs typeface="Arial"/>
                        </a:rPr>
                        <a:t>How AlphaX will address it</a:t>
                      </a:r>
                    </a:p>
                  </a:txBody>
                  <a:tcPr marL="91440" marR="91440" marT="45720" marB="45720" anchor="ctr">
                    <a:solidFill>
                      <a:srgbClr val="214E82"/>
                    </a:solidFill>
                  </a:tcPr>
                </a:tc>
              </a:tr>
              <a:tr h="619125">
                <a:tc>
                  <a:txBody>
                    <a:bodyPr lIns="114300" tIns="76200" rIns="114300" bIns="76200">
                      <a:noAutofit/>
                    </a:bodyPr>
                    <a:lstStyle/>
                    <a:p>
                      <a:r>
                        <a:rPr sz="1575" b="0">
                          <a:solidFill>
                            <a:srgbClr val="172A3D"/>
                          </a:solidFill>
                          <a:latin typeface="Arial"/>
                          <a:ea typeface="Arial"/>
                          <a:cs typeface="Arial"/>
                        </a:rPr>
                        <a:t>Official TSRD absent</a:t>
                      </a:r>
                    </a:p>
                  </a:txBody>
                  <a:tcPr marL="91440" marR="91440" marT="45720" marB="45720" anchor="ctr">
                    <a:solidFill>
                      <a:srgbClr val="F0F5F9"/>
                    </a:solidFill>
                  </a:tcPr>
                </a:tc>
                <a:tc>
                  <a:txBody>
                    <a:bodyPr lIns="114300" tIns="76200" rIns="114300" bIns="76200">
                      <a:noAutofit/>
                    </a:bodyPr>
                    <a:lstStyle/>
                    <a:p>
                      <a:r>
                        <a:rPr sz="1575" b="0">
                          <a:solidFill>
                            <a:srgbClr val="172A3D"/>
                          </a:solidFill>
                          <a:latin typeface="Arial"/>
                          <a:ea typeface="Arial"/>
                          <a:cs typeface="Arial"/>
                        </a:rPr>
                        <a:t>Obtain authorized data, then verify the import.</a:t>
                      </a:r>
                    </a:p>
                  </a:txBody>
                  <a:tcPr marL="91440" marR="91440" marT="45720" marB="45720" anchor="ctr">
                    <a:solidFill>
                      <a:srgbClr val="F0F5F9"/>
                    </a:solidFill>
                  </a:tcPr>
                </a:tc>
              </a:tr>
              <a:tr h="619125">
                <a:tc>
                  <a:txBody>
                    <a:bodyPr lIns="114300" tIns="76200" rIns="114300" bIns="76200">
                      <a:noAutofit/>
                    </a:bodyPr>
                    <a:lstStyle/>
                    <a:p>
                      <a:r>
                        <a:rPr sz="1575" b="0">
                          <a:solidFill>
                            <a:srgbClr val="172A3D"/>
                          </a:solidFill>
                          <a:latin typeface="Arial"/>
                          <a:ea typeface="Arial"/>
                          <a:cs typeface="Arial"/>
                        </a:rPr>
                        <a:t>Hardware unvalidated</a:t>
                      </a:r>
                    </a:p>
                  </a:txBody>
                  <a:tcPr marL="91440" marR="91440" marT="45720" marB="45720" anchor="ctr">
                    <a:solidFill>
                      <a:srgbClr val="FFFFFF"/>
                    </a:solidFill>
                  </a:tcPr>
                </a:tc>
                <a:tc>
                  <a:txBody>
                    <a:bodyPr lIns="114300" tIns="76200" rIns="114300" bIns="76200">
                      <a:noAutofit/>
                    </a:bodyPr>
                    <a:lstStyle/>
                    <a:p>
                      <a:r>
                        <a:rPr sz="1575" b="0">
                          <a:solidFill>
                            <a:srgbClr val="172A3D"/>
                          </a:solidFill>
                          <a:latin typeface="Arial"/>
                          <a:ea typeface="Arial"/>
                          <a:cs typeface="Arial"/>
                        </a:rPr>
                        <a:t>Plan independent calibration and lab review.</a:t>
                      </a:r>
                    </a:p>
                  </a:txBody>
                  <a:tcPr marL="91440" marR="91440" marT="45720" marB="45720" anchor="ctr">
                    <a:solidFill>
                      <a:srgbClr val="FFFFFF"/>
                    </a:solidFill>
                  </a:tcPr>
                </a:tc>
              </a:tr>
              <a:tr h="619125">
                <a:tc>
                  <a:txBody>
                    <a:bodyPr lIns="114300" tIns="76200" rIns="114300" bIns="76200">
                      <a:noAutofit/>
                    </a:bodyPr>
                    <a:lstStyle/>
                    <a:p>
                      <a:r>
                        <a:rPr sz="1575" b="0">
                          <a:solidFill>
                            <a:srgbClr val="172A3D"/>
                          </a:solidFill>
                          <a:latin typeface="Arial"/>
                          <a:ea typeface="Arial"/>
                          <a:cs typeface="Arial"/>
                        </a:rPr>
                        <a:t>Scenario-dependent results</a:t>
                      </a:r>
                    </a:p>
                  </a:txBody>
                  <a:tcPr marL="91440" marR="91440" marT="45720" marB="45720" anchor="ctr">
                    <a:solidFill>
                      <a:srgbClr val="F0F5F9"/>
                    </a:solidFill>
                  </a:tcPr>
                </a:tc>
                <a:tc>
                  <a:txBody>
                    <a:bodyPr lIns="114300" tIns="76200" rIns="114300" bIns="76200">
                      <a:noAutofit/>
                    </a:bodyPr>
                    <a:lstStyle/>
                    <a:p>
                      <a:r>
                        <a:rPr sz="1575" b="0">
                          <a:solidFill>
                            <a:srgbClr val="172A3D"/>
                          </a:solidFill>
                          <a:latin typeface="Arial"/>
                          <a:ea typeface="Arial"/>
                          <a:cs typeface="Arial"/>
                        </a:rPr>
                        <a:t>Expand seeds and independent test datasets.</a:t>
                      </a:r>
                    </a:p>
                  </a:txBody>
                  <a:tcPr marL="91440" marR="91440" marT="45720" marB="45720" anchor="ctr">
                    <a:solidFill>
                      <a:srgbClr val="F0F5F9"/>
                    </a:solidFill>
                  </a:tcPr>
                </a:tc>
              </a:tr>
            </a:tbl>
          </a:graphicData>
        </a:graphic>
      </p:graphicFrame>
      <p:pic>
        <p:nvPicPr>
          <p:cNvPr id="17444" name=""/>
          <p:cNvPicPr>
            <a:picLocks xmlns:a="http://schemas.openxmlformats.org/drawingml/2006/main" noChangeAspect="1"/>
          </p:cNvPicPr>
          <p:nvPr/>
        </p:nvPicPr>
        <p:blipFill>
          <a:blip xmlns:r="http://schemas.openxmlformats.org/officeDocument/2006/relationships" xmlns:a="http://schemas.openxmlformats.org/drawingml/2006/main" r:embed="R5b8b3efc3c8e4fa4"/>
          <a:srcRect xmlns:a="http://schemas.openxmlformats.org/drawingml/2006/main" l="0" t="32661" r="0" b="32661"/>
          <a:stretch xmlns:a="http://schemas.openxmlformats.org/drawingml/2006/main">
            <a:fillRect l="0" t="0" r="0" b="0"/>
          </a:stretch>
        </p:blipFill>
        <p:spPr>
          <a:xfrm xmlns:a="http://schemas.openxmlformats.org/drawingml/2006/main">
            <a:off x="7781925" y="3076575"/>
            <a:ext cx="4000500" cy="1933575"/>
          </a:xfrm>
          <a:prstGeom xmlns:a="http://schemas.openxmlformats.org/drawingml/2006/main" prst="rect">
            <a:avLst/>
          </a:prstGeom>
        </p:spPr>
      </p:pic>
      <p:sp>
        <p:nvSpPr>
          <p:cNvPr id="17425" name="Measured data already included">
            <a:extLst xmlns:a="http://schemas.openxmlformats.org/drawingml/2006/main">
              <a:ext uri="{FF2B5EF4-FFF2-40B4-BE49-F238E27FC236}">
                <a16:creationId xmlns:a16="http://schemas.microsoft.com/office/drawing/2014/main" id="{753E0A8F-6508-464F-A0C1-44727E2347CA}"/>
              </a:ext>
            </a:extLst>
          </p:cNvPr>
          <p:cNvSpPr>
            <a:spLocks xmlns:a="http://schemas.openxmlformats.org/drawingml/2006/main" noGrp="1"/>
          </p:cNvSpPr>
          <p:nvPr/>
        </p:nvSpPr>
        <p:spPr>
          <a:xfrm xmlns:a="http://schemas.openxmlformats.org/drawingml/2006/main">
            <a:off x="7781925" y="5124450"/>
            <a:ext cx="4029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14E82"/>
                </a:solidFill>
                <a:latin typeface="Arial"/>
                <a:ea typeface="Arial"/>
                <a:cs typeface="Arial"/>
              </a:defRPr>
            </a:pPr>
            <a:r>
              <a:rPr sz="1725" b="1">
                <a:solidFill>
                  <a:srgbClr val="214E82"/>
                </a:solidFill>
                <a:latin typeface="Arial"/>
                <a:ea typeface="Arial"/>
                <a:cs typeface="Arial"/>
              </a:rPr>
              <a:t>Measured data already included</a:t>
            </a:r>
          </a:p>
        </p:txBody>
      </p:sp>
      <p:sp>
        <p:nvSpPr>
          <p:cNvPr id="17426" name="705,600 standardized solar-radio samples.&#10;No labelled EW emitter ">
            <a:extLst xmlns:a="http://schemas.openxmlformats.org/drawingml/2006/main">
              <a:ext uri="{FF2B5EF4-FFF2-40B4-BE49-F238E27FC236}">
                <a16:creationId xmlns:a16="http://schemas.microsoft.com/office/drawing/2014/main" id="{7EB69321-7FC3-4BF3-AB1C-74D4E10C392F}"/>
              </a:ext>
            </a:extLst>
          </p:cNvPr>
          <p:cNvSpPr>
            <a:spLocks xmlns:a="http://schemas.openxmlformats.org/drawingml/2006/main" noGrp="1"/>
          </p:cNvSpPr>
          <p:nvPr/>
        </p:nvSpPr>
        <p:spPr>
          <a:xfrm xmlns:a="http://schemas.openxmlformats.org/drawingml/2006/main">
            <a:off x="7781925" y="5476875"/>
            <a:ext cx="40290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72A3D"/>
                </a:solidFill>
                <a:latin typeface="Arial"/>
                <a:ea typeface="Arial"/>
                <a:cs typeface="Arial"/>
              </a:defRPr>
            </a:pPr>
            <a:r>
              <a:rPr sz="1650" b="0">
                <a:solidFill>
                  <a:srgbClr val="172A3D"/>
                </a:solidFill>
                <a:latin typeface="Arial"/>
                <a:ea typeface="Arial"/>
                <a:cs typeface="Arial"/>
              </a:rPr>
              <a:t>705,600 standardized solar-radio samples.</a:t>
            </a:r>
          </a:p>
          <a:p xmlns:a="http://schemas.openxmlformats.org/drawingml/2006/main">
            <a:pPr algn="l">
              <a:defRPr sz="1650" b="0">
                <a:solidFill>
                  <a:srgbClr val="172A3D"/>
                </a:solidFill>
                <a:latin typeface="Arial"/>
                <a:ea typeface="Arial"/>
                <a:cs typeface="Arial"/>
              </a:defRPr>
            </a:pPr>
            <a:r>
              <a:rPr sz="1650" b="0">
                <a:solidFill>
                  <a:srgbClr val="172A3D"/>
                </a:solidFill>
                <a:latin typeface="Arial"/>
                <a:ea typeface="Arial"/>
                <a:cs typeface="Arial"/>
              </a:rPr>
              <a:t>No labelled EW emitter ground truth.</a:t>
            </a:r>
          </a:p>
        </p:txBody>
      </p:sp>
      <p:sp>
        <p:nvSpPr>
          <p:cNvPr id="17427" name="Viability: local operation after setup, open-source libraries and">
            <a:extLst xmlns:a="http://schemas.openxmlformats.org/drawingml/2006/main">
              <a:ext uri="{FF2B5EF4-FFF2-40B4-BE49-F238E27FC236}">
                <a16:creationId xmlns:a16="http://schemas.microsoft.com/office/drawing/2014/main" id="{9D32968C-B0D5-422A-A1FE-E6DA821541B5}"/>
              </a:ext>
            </a:extLst>
          </p:cNvPr>
          <p:cNvSpPr>
            <a:spLocks xmlns:a="http://schemas.openxmlformats.org/drawingml/2006/main" noGrp="1"/>
          </p:cNvSpPr>
          <p:nvPr/>
        </p:nvSpPr>
        <p:spPr>
          <a:xfrm xmlns:a="http://schemas.openxmlformats.org/drawingml/2006/main">
            <a:off x="428625" y="6057900"/>
            <a:ext cx="1133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77B"/>
                </a:solidFill>
                <a:latin typeface="Arial"/>
                <a:ea typeface="Arial"/>
                <a:cs typeface="Arial"/>
              </a:defRPr>
            </a:pPr>
            <a:r>
              <a:rPr sz="1500" b="0">
                <a:solidFill>
                  <a:srgbClr val="52677B"/>
                </a:solidFill>
                <a:latin typeface="Arial"/>
                <a:ea typeface="Arial"/>
                <a:cs typeface="Arial"/>
              </a:rPr>
              <a:t>Viability: local operation after setup, open-source libraries and no paid API dependency.</a:t>
            </a:r>
          </a:p>
        </p:txBody>
      </p: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9F491555-C7E3-4DC2-A8B1-A9D476F2D598}"/>
              </a:ext>
            </a:extLst>
          </p:cNvPr>
          <p:cNvSpPr>
            <a:spLocks xmlns:a="http://schemas.openxmlformats.org/drawingml/2006/main" noGrp="1"/>
          </p:cNvSpPr>
          <p:nvPr>
            <p:ph type="title" idx="0"/>
          </p:nvPr>
        </p:nvSpPr>
        <p:spPr>
          <a:xfrm xmlns:a="http://schemas.openxmlformats.org/drawingml/2006/main">
            <a:off x="1714500" y="209550"/>
            <a:ext cx="7934325" cy="790575"/>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CA091221-C8D6-4269-8916-3A1F1CF1CEE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5</a:t>
            </a:fld>
            <a:endParaRPr sz="1200" b="1" i="0" u="none" kern="1200" cap="none" spc="0" baseline="0">
              <a:ln>
                <a:noFill/>
              </a:ln>
              <a:solidFill>
                <a:prstClr val="white"/>
              </a:solidFill>
              <a:latin typeface="TradeGothic"/>
              <a:ea typeface="TradeGothic"/>
              <a:cs typeface="TradeGothic"/>
            </a:endParaRPr>
          </a:p>
        </p:txBody>
      </p:sp>
      <p:pic>
        <p:nvPicPr>
          <p:cNvPr id="17429" name=""/>
          <p:cNvPicPr>
            <a:picLocks xmlns:a="http://schemas.openxmlformats.org/drawingml/2006/main" noChangeAspect="1"/>
          </p:cNvPicPr>
          <p:nvPr/>
        </p:nvPicPr>
        <p:blipFill>
          <a:blip xmlns:r="http://schemas.openxmlformats.org/officeDocument/2006/relationships" xmlns:a="http://schemas.openxmlformats.org/drawingml/2006/main" r:embed="R336ed827771a472c"/>
          <a:srcRect xmlns:a="http://schemas.openxmlformats.org/drawingml/2006/main" l="0" t="0" r="0" b="0"/>
          <a:stretch xmlns:a="http://schemas.openxmlformats.org/drawingml/2006/main">
            <a:fillRect l="0" t="0" r="0" b="0"/>
          </a:stretch>
        </p:blipFill>
        <p:spPr>
          <a:xfrm xmlns:a="http://schemas.openxmlformats.org/drawingml/2006/main">
            <a:off x="9780080" y="1524"/>
            <a:ext cx="2249805" cy="1062323"/>
          </a:xfrm>
          <a:prstGeom xmlns:a="http://schemas.openxmlformats.org/drawingml/2006/main" prst="rect">
            <a:avLst/>
          </a:prstGeom>
        </p:spPr>
      </p:pic>
      <p:sp>
        <p:nvSpPr>
          <p:cNvPr id="17412" name="Original template team oval">
            <a:extLst xmlns:a="http://schemas.openxmlformats.org/drawingml/2006/main">
              <a:ext uri="{FF2B5EF4-FFF2-40B4-BE49-F238E27FC236}">
                <a16:creationId xmlns:a16="http://schemas.microsoft.com/office/drawing/2014/main" id="{AD266DD4-333A-47CA-A5CE-4A9CA9CB448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noFill xmlns:a="http://schemas.openxmlformats.org/drawingml/2006/main"/>
          <a:ln xmlns:a="http://schemas.openxmlformats.org/drawingml/2006/main" w="19050">
            <a:solidFill>
              <a:srgbClr val="000000"/>
            </a:solidFill>
          </a:ln>
        </p:spPr>
      </p:sp>
      <p:sp>
        <p:nvSpPr>
          <p:cNvPr id="17413" name="AlphaX">
            <a:extLst xmlns:a="http://schemas.openxmlformats.org/drawingml/2006/main">
              <a:ext uri="{FF2B5EF4-FFF2-40B4-BE49-F238E27FC236}">
                <a16:creationId xmlns:a16="http://schemas.microsoft.com/office/drawing/2014/main" id="{EC4A30C4-244D-4E5F-91B5-9875F041DECB}"/>
              </a:ext>
            </a:extLst>
          </p:cNvPr>
          <p:cNvSpPr>
            <a:spLocks xmlns:a="http://schemas.openxmlformats.org/drawingml/2006/main" noGrp="1"/>
          </p:cNvSpPr>
          <p:nvPr/>
        </p:nvSpPr>
        <p:spPr>
          <a:xfrm xmlns:a="http://schemas.openxmlformats.org/drawingml/2006/main">
            <a:off x="329756" y="514350"/>
            <a:ext cx="1251871"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214E82"/>
                </a:solidFill>
                <a:latin typeface="Arial"/>
                <a:ea typeface="Arial"/>
                <a:cs typeface="Arial"/>
              </a:defRPr>
            </a:pPr>
            <a:r>
              <a:rPr sz="1800" b="1">
                <a:solidFill>
                  <a:srgbClr val="214E82"/>
                </a:solidFill>
                <a:latin typeface="Arial"/>
                <a:ea typeface="Arial"/>
                <a:cs typeface="Arial"/>
              </a:rPr>
              <a:t>AlphaX</a:t>
            </a:r>
          </a:p>
        </p:txBody>
      </p:sp>
      <p:sp>
        <p:nvSpPr>
          <p:cNvPr id="17414" name="@SIH Idea submission- Template">
            <a:extLst xmlns:a="http://schemas.openxmlformats.org/drawingml/2006/main">
              <a:ext uri="{FF2B5EF4-FFF2-40B4-BE49-F238E27FC236}">
                <a16:creationId xmlns:a16="http://schemas.microsoft.com/office/drawing/2014/main" id="{D5D93C1C-C543-401E-B31E-624F37574ADD}"/>
              </a:ext>
            </a:extLst>
          </p:cNvPr>
          <p:cNvSpPr>
            <a:spLocks xmlns:a="http://schemas.openxmlformats.org/drawingml/2006/main" noGrp="1"/>
          </p:cNvSpPr>
          <p:nvPr/>
        </p:nvSpPr>
        <p:spPr>
          <a:xfrm xmlns:a="http://schemas.openxmlformats.org/drawingml/2006/main">
            <a:off x="4648200" y="6467475"/>
            <a:ext cx="320402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FFFFFF"/>
                </a:solidFill>
                <a:latin typeface="Arial"/>
                <a:ea typeface="Arial"/>
                <a:cs typeface="Arial"/>
              </a:defRPr>
            </a:pPr>
            <a:r>
              <a:rPr sz="1200" b="0">
                <a:solidFill>
                  <a:srgbClr val="FFFFFF"/>
                </a:solidFill>
                <a:latin typeface="Arial"/>
                <a:ea typeface="Arial"/>
                <a:cs typeface="Arial"/>
              </a:rPr>
              <a:t>@SIH Idea submission- Template</a:t>
            </a:r>
          </a:p>
        </p:txBody>
      </p:sp>
      <p:sp>
        <p:nvSpPr>
          <p:cNvPr id="17415" name="Simulation evidence shows both gains and limits">
            <a:extLst xmlns:a="http://schemas.openxmlformats.org/drawingml/2006/main">
              <a:ext uri="{FF2B5EF4-FFF2-40B4-BE49-F238E27FC236}">
                <a16:creationId xmlns:a16="http://schemas.microsoft.com/office/drawing/2014/main" id="{1C45AFF1-E65A-4F65-81B1-B636930D4334}"/>
              </a:ext>
            </a:extLst>
          </p:cNvPr>
          <p:cNvSpPr>
            <a:spLocks xmlns:a="http://schemas.openxmlformats.org/drawingml/2006/main" noGrp="1"/>
          </p:cNvSpPr>
          <p:nvPr/>
        </p:nvSpPr>
        <p:spPr>
          <a:xfrm xmlns:a="http://schemas.openxmlformats.org/drawingml/2006/main">
            <a:off x="428625" y="1352550"/>
            <a:ext cx="1114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14E82"/>
                </a:solidFill>
                <a:latin typeface="Arial"/>
                <a:ea typeface="Arial"/>
                <a:cs typeface="Arial"/>
              </a:defRPr>
            </a:pPr>
            <a:r>
              <a:rPr sz="2250" b="1">
                <a:solidFill>
                  <a:srgbClr val="214E82"/>
                </a:solidFill>
                <a:latin typeface="Arial"/>
                <a:ea typeface="Arial"/>
                <a:cs typeface="Arial"/>
              </a:rPr>
              <a:t>Simulation evidence shows both gains and limits</a:t>
            </a:r>
          </a:p>
        </p:txBody>
      </p:sp>
      <p:sp>
        <p:nvSpPr>
          <p:cNvPr id="17416" name="Global recall: detected active cells / all active band-time cells">
            <a:extLst xmlns:a="http://schemas.openxmlformats.org/drawingml/2006/main">
              <a:ext uri="{FF2B5EF4-FFF2-40B4-BE49-F238E27FC236}">
                <a16:creationId xmlns:a16="http://schemas.microsoft.com/office/drawing/2014/main" id="{0A5FEBC6-E83E-4277-A8A2-EA4A47B67A42}"/>
              </a:ext>
            </a:extLst>
          </p:cNvPr>
          <p:cNvSpPr>
            <a:spLocks xmlns:a="http://schemas.openxmlformats.org/drawingml/2006/main" noGrp="1"/>
          </p:cNvSpPr>
          <p:nvPr/>
        </p:nvSpPr>
        <p:spPr>
          <a:xfrm xmlns:a="http://schemas.openxmlformats.org/drawingml/2006/main">
            <a:off x="428625" y="1838325"/>
            <a:ext cx="11315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B"/>
                </a:solidFill>
                <a:latin typeface="Arial"/>
                <a:ea typeface="Arial"/>
                <a:cs typeface="Arial"/>
              </a:defRPr>
            </a:pPr>
            <a:r>
              <a:rPr sz="1800" b="0">
                <a:solidFill>
                  <a:srgbClr val="52677B"/>
                </a:solidFill>
                <a:latin typeface="Arial"/>
                <a:ea typeface="Arial"/>
                <a:cs typeface="Arial"/>
              </a:rPr>
              <a:t>Global recall: detected active cells / all active band-time cells</a:t>
            </a:r>
          </a:p>
        </p:txBody>
      </p:sp>
      <p:graphicFrame>
        <p:nvGraphicFramePr>
          <p:cNvPr id="17435" name="Chart"/>
          <p:cNvGraphicFramePr/>
          <p:nvPr/>
        </p:nvGraphicFramePr>
        <p:xfrm>
          <a:off xmlns:a="http://schemas.openxmlformats.org/drawingml/2006/main" x="285750" y="2305050"/>
          <a:ext xmlns:a="http://schemas.openxmlformats.org/drawingml/2006/main" cx="7448550" cy="3105150"/>
        </p:xfrm>
        <a:graphic xmlns:a="http://schemas.openxmlformats.org/drawingml/2006/main">
          <a:graphicData uri="http://schemas.openxmlformats.org/drawingml/2006/chart">
            <c:chart xmlns:r="http://schemas.openxmlformats.org/officeDocument/2006/relationships" xmlns:c="http://schemas.openxmlformats.org/drawingml/2006/chart" r:id="Ra237fc7e31ad4589"/>
          </a:graphicData>
        </a:graphic>
      </p:graphicFrame>
      <p:sp>
        <p:nvSpPr>
          <p:cNvPr id="17418" name="For research reviewers">
            <a:extLst xmlns:a="http://schemas.openxmlformats.org/drawingml/2006/main">
              <a:ext uri="{FF2B5EF4-FFF2-40B4-BE49-F238E27FC236}">
                <a16:creationId xmlns:a16="http://schemas.microsoft.com/office/drawing/2014/main" id="{73F5E90E-D337-4FDF-A845-137A377C1E61}"/>
              </a:ext>
            </a:extLst>
          </p:cNvPr>
          <p:cNvSpPr>
            <a:spLocks xmlns:a="http://schemas.openxmlformats.org/drawingml/2006/main" noGrp="1"/>
          </p:cNvSpPr>
          <p:nvPr/>
        </p:nvSpPr>
        <p:spPr>
          <a:xfrm xmlns:a="http://schemas.openxmlformats.org/drawingml/2006/main">
            <a:off x="8096250" y="2352675"/>
            <a:ext cx="3667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14E82"/>
                </a:solidFill>
                <a:latin typeface="Arial"/>
                <a:ea typeface="Arial"/>
                <a:cs typeface="Arial"/>
              </a:defRPr>
            </a:pPr>
            <a:r>
              <a:rPr sz="1950" b="1">
                <a:solidFill>
                  <a:srgbClr val="214E82"/>
                </a:solidFill>
                <a:latin typeface="Arial"/>
                <a:ea typeface="Arial"/>
                <a:cs typeface="Arial"/>
              </a:rPr>
              <a:t>For research reviewers</a:t>
            </a:r>
          </a:p>
        </p:txBody>
      </p:sp>
      <p:sp>
        <p:nvSpPr>
          <p:cNvPr id="17419" name="Replay the same evidence and inspect assumptions behind each comp">
            <a:extLst xmlns:a="http://schemas.openxmlformats.org/drawingml/2006/main">
              <a:ext uri="{FF2B5EF4-FFF2-40B4-BE49-F238E27FC236}">
                <a16:creationId xmlns:a16="http://schemas.microsoft.com/office/drawing/2014/main" id="{A460C4C6-0369-4C2A-ACA4-6A353F61D5C3}"/>
              </a:ext>
            </a:extLst>
          </p:cNvPr>
          <p:cNvSpPr>
            <a:spLocks xmlns:a="http://schemas.openxmlformats.org/drawingml/2006/main" noGrp="1"/>
          </p:cNvSpPr>
          <p:nvPr/>
        </p:nvSpPr>
        <p:spPr>
          <a:xfrm xmlns:a="http://schemas.openxmlformats.org/drawingml/2006/main">
            <a:off x="8096250" y="2733675"/>
            <a:ext cx="3667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D"/>
                </a:solidFill>
                <a:latin typeface="Arial"/>
                <a:ea typeface="Arial"/>
                <a:cs typeface="Arial"/>
              </a:defRPr>
            </a:pPr>
            <a:r>
              <a:rPr sz="1800" b="0">
                <a:solidFill>
                  <a:srgbClr val="172A3D"/>
                </a:solidFill>
                <a:latin typeface="Arial"/>
                <a:ea typeface="Arial"/>
                <a:cs typeface="Arial"/>
              </a:rPr>
              <a:t>Replay the same evidence and inspect assumptions behind each comparison.</a:t>
            </a:r>
          </a:p>
        </p:txBody>
      </p:sp>
      <p:sp>
        <p:nvSpPr>
          <p:cNvPr id="17420" name="For engineering teams">
            <a:extLst xmlns:a="http://schemas.openxmlformats.org/drawingml/2006/main">
              <a:ext uri="{FF2B5EF4-FFF2-40B4-BE49-F238E27FC236}">
                <a16:creationId xmlns:a16="http://schemas.microsoft.com/office/drawing/2014/main" id="{34D8B9F2-250F-4659-8B3A-8714EBC75449}"/>
              </a:ext>
            </a:extLst>
          </p:cNvPr>
          <p:cNvSpPr>
            <a:spLocks xmlns:a="http://schemas.openxmlformats.org/drawingml/2006/main" noGrp="1"/>
          </p:cNvSpPr>
          <p:nvPr/>
        </p:nvSpPr>
        <p:spPr>
          <a:xfrm xmlns:a="http://schemas.openxmlformats.org/drawingml/2006/main">
            <a:off x="8096250" y="3619500"/>
            <a:ext cx="3667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14E82"/>
                </a:solidFill>
                <a:latin typeface="Arial"/>
                <a:ea typeface="Arial"/>
                <a:cs typeface="Arial"/>
              </a:defRPr>
            </a:pPr>
            <a:r>
              <a:rPr sz="1950" b="1">
                <a:solidFill>
                  <a:srgbClr val="214E82"/>
                </a:solidFill>
                <a:latin typeface="Arial"/>
                <a:ea typeface="Arial"/>
                <a:cs typeface="Arial"/>
              </a:rPr>
              <a:t>For engineering teams</a:t>
            </a:r>
          </a:p>
        </p:txBody>
      </p:sp>
      <p:sp>
        <p:nvSpPr>
          <p:cNvPr id="17421" name="Identify software and data gaps before proposing hardware trials.">
            <a:extLst xmlns:a="http://schemas.openxmlformats.org/drawingml/2006/main">
              <a:ext uri="{FF2B5EF4-FFF2-40B4-BE49-F238E27FC236}">
                <a16:creationId xmlns:a16="http://schemas.microsoft.com/office/drawing/2014/main" id="{A529B0D9-0618-43EC-96A0-30F4BDB87EA6}"/>
              </a:ext>
            </a:extLst>
          </p:cNvPr>
          <p:cNvSpPr>
            <a:spLocks xmlns:a="http://schemas.openxmlformats.org/drawingml/2006/main" noGrp="1"/>
          </p:cNvSpPr>
          <p:nvPr/>
        </p:nvSpPr>
        <p:spPr>
          <a:xfrm xmlns:a="http://schemas.openxmlformats.org/drawingml/2006/main">
            <a:off x="8096250" y="4000500"/>
            <a:ext cx="3667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D"/>
                </a:solidFill>
                <a:latin typeface="Arial"/>
                <a:ea typeface="Arial"/>
                <a:cs typeface="Arial"/>
              </a:defRPr>
            </a:pPr>
            <a:r>
              <a:rPr sz="1800" b="0">
                <a:solidFill>
                  <a:srgbClr val="172A3D"/>
                </a:solidFill>
                <a:latin typeface="Arial"/>
                <a:ea typeface="Arial"/>
                <a:cs typeface="Arial"/>
              </a:rPr>
              <a:t>Identify software and data gaps before proposing hardware trials.</a:t>
            </a:r>
          </a:p>
        </p:txBody>
      </p:sp>
      <p:sp>
        <p:nvSpPr>
          <p:cNvPr id="17422" name="Expected benefit">
            <a:extLst xmlns:a="http://schemas.openxmlformats.org/drawingml/2006/main">
              <a:ext uri="{FF2B5EF4-FFF2-40B4-BE49-F238E27FC236}">
                <a16:creationId xmlns:a16="http://schemas.microsoft.com/office/drawing/2014/main" id="{F4B92119-6108-4FBF-AADA-660697BF247A}"/>
              </a:ext>
            </a:extLst>
          </p:cNvPr>
          <p:cNvSpPr>
            <a:spLocks xmlns:a="http://schemas.openxmlformats.org/drawingml/2006/main" noGrp="1"/>
          </p:cNvSpPr>
          <p:nvPr/>
        </p:nvSpPr>
        <p:spPr>
          <a:xfrm xmlns:a="http://schemas.openxmlformats.org/drawingml/2006/main">
            <a:off x="8096250" y="4876800"/>
            <a:ext cx="3667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14E82"/>
                </a:solidFill>
                <a:latin typeface="Arial"/>
                <a:ea typeface="Arial"/>
                <a:cs typeface="Arial"/>
              </a:defRPr>
            </a:pPr>
            <a:r>
              <a:rPr sz="1950" b="1">
                <a:solidFill>
                  <a:srgbClr val="214E82"/>
                </a:solidFill>
                <a:latin typeface="Arial"/>
                <a:ea typeface="Arial"/>
                <a:cs typeface="Arial"/>
              </a:rPr>
              <a:t>Expected benefit</a:t>
            </a:r>
          </a:p>
        </p:txBody>
      </p:sp>
      <p:sp>
        <p:nvSpPr>
          <p:cNvPr id="17423" name="More transparent evaluation.&#10;Cost and field benefits remain unmea">
            <a:extLst xmlns:a="http://schemas.openxmlformats.org/drawingml/2006/main">
              <a:ext uri="{FF2B5EF4-FFF2-40B4-BE49-F238E27FC236}">
                <a16:creationId xmlns:a16="http://schemas.microsoft.com/office/drawing/2014/main" id="{F98C3219-7793-4C96-8FB0-2F55BE406DB7}"/>
              </a:ext>
            </a:extLst>
          </p:cNvPr>
          <p:cNvSpPr>
            <a:spLocks xmlns:a="http://schemas.openxmlformats.org/drawingml/2006/main" noGrp="1"/>
          </p:cNvSpPr>
          <p:nvPr/>
        </p:nvSpPr>
        <p:spPr>
          <a:xfrm xmlns:a="http://schemas.openxmlformats.org/drawingml/2006/main">
            <a:off x="8096250" y="5257800"/>
            <a:ext cx="3667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2A3D"/>
                </a:solidFill>
                <a:latin typeface="Arial"/>
                <a:ea typeface="Arial"/>
                <a:cs typeface="Arial"/>
              </a:defRPr>
            </a:pPr>
            <a:r>
              <a:rPr sz="1725" b="0">
                <a:solidFill>
                  <a:srgbClr val="172A3D"/>
                </a:solidFill>
                <a:latin typeface="Arial"/>
                <a:ea typeface="Arial"/>
                <a:cs typeface="Arial"/>
              </a:rPr>
              <a:t>More transparent evaluation.</a:t>
            </a:r>
          </a:p>
          <a:p xmlns:a="http://schemas.openxmlformats.org/drawingml/2006/main">
            <a:pPr algn="l">
              <a:defRPr sz="1725" b="0">
                <a:solidFill>
                  <a:srgbClr val="172A3D"/>
                </a:solidFill>
                <a:latin typeface="Arial"/>
                <a:ea typeface="Arial"/>
                <a:cs typeface="Arial"/>
              </a:defRPr>
            </a:pPr>
            <a:r>
              <a:rPr sz="1725" b="0">
                <a:solidFill>
                  <a:srgbClr val="172A3D"/>
                </a:solidFill>
                <a:latin typeface="Arial"/>
                <a:ea typeface="Arial"/>
                <a:cs typeface="Arial"/>
              </a:rPr>
              <a:t>Cost and field benefits remain unmeasured.</a:t>
            </a:r>
          </a:p>
        </p:txBody>
      </p:sp>
      <p:sp>
        <p:nvSpPr>
          <p:cNvPr id="17424" name="Selected scenarios. Means over seeds 42–44, 240 slots. Full suite">
            <a:extLst xmlns:a="http://schemas.openxmlformats.org/drawingml/2006/main">
              <a:ext uri="{FF2B5EF4-FFF2-40B4-BE49-F238E27FC236}">
                <a16:creationId xmlns:a16="http://schemas.microsoft.com/office/drawing/2014/main" id="{43BC8E1B-DFD7-436D-BC8E-87D505761AD1}"/>
              </a:ext>
            </a:extLst>
          </p:cNvPr>
          <p:cNvSpPr>
            <a:spLocks xmlns:a="http://schemas.openxmlformats.org/drawingml/2006/main" noGrp="1"/>
          </p:cNvSpPr>
          <p:nvPr/>
        </p:nvSpPr>
        <p:spPr>
          <a:xfrm xmlns:a="http://schemas.openxmlformats.org/drawingml/2006/main">
            <a:off x="428625" y="5638800"/>
            <a:ext cx="7219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B"/>
                </a:solidFill>
                <a:latin typeface="Arial"/>
                <a:ea typeface="Arial"/>
                <a:cs typeface="Arial"/>
              </a:defRPr>
            </a:pPr>
            <a:r>
              <a:rPr sz="1350" b="0">
                <a:solidFill>
                  <a:srgbClr val="52677B"/>
                </a:solidFill>
                <a:latin typeface="Arial"/>
                <a:ea typeface="Arial"/>
                <a:cs typeface="Arial"/>
              </a:rPr>
              <a:t>Selected scenarios. Means over seeds 42–44, 240 slots. Full suite: 10 scenarios and 6 policies.</a:t>
            </a:r>
          </a:p>
        </p:txBody>
      </p:sp>
      <p:sp>
        <p:nvSpPr>
          <p:cNvPr id="17425" name="Thompson leads in the sparse case. Three seeds do not establish u">
            <a:extLst xmlns:a="http://schemas.openxmlformats.org/drawingml/2006/main">
              <a:ext uri="{FF2B5EF4-FFF2-40B4-BE49-F238E27FC236}">
                <a16:creationId xmlns:a16="http://schemas.microsoft.com/office/drawing/2014/main" id="{3BB45A61-A1C4-4704-B40F-A2EBE2D8A002}"/>
              </a:ext>
            </a:extLst>
          </p:cNvPr>
          <p:cNvSpPr>
            <a:spLocks xmlns:a="http://schemas.openxmlformats.org/drawingml/2006/main" noGrp="1"/>
          </p:cNvSpPr>
          <p:nvPr/>
        </p:nvSpPr>
        <p:spPr>
          <a:xfrm xmlns:a="http://schemas.openxmlformats.org/drawingml/2006/main">
            <a:off x="428625" y="6124575"/>
            <a:ext cx="11334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214E82"/>
                </a:solidFill>
                <a:latin typeface="Arial"/>
                <a:ea typeface="Arial"/>
                <a:cs typeface="Arial"/>
              </a:defRPr>
            </a:pPr>
            <a:r>
              <a:rPr sz="1350" b="1">
                <a:solidFill>
                  <a:srgbClr val="214E82"/>
                </a:solidFill>
                <a:latin typeface="Arial"/>
                <a:ea typeface="Arial"/>
                <a:cs typeface="Arial"/>
              </a:rPr>
              <a:t>Thompson leads in the sparse case. Three seeds do not establish universal superiority or field performance.</a:t>
            </a:r>
          </a:p>
        </p:txBody>
      </p:sp>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CAAE6AE0-8DF3-4F22-803A-963DA4C0718C}"/>
              </a:ext>
            </a:extLst>
          </p:cNvPr>
          <p:cNvSpPr>
            <a:spLocks xmlns:a="http://schemas.openxmlformats.org/drawingml/2006/main" noGrp="1"/>
          </p:cNvSpPr>
          <p:nvPr>
            <p:ph type="title" idx="0"/>
          </p:nvPr>
        </p:nvSpPr>
        <p:spPr>
          <a:xfrm xmlns:a="http://schemas.openxmlformats.org/drawingml/2006/main">
            <a:off x="1714500" y="209550"/>
            <a:ext cx="7934325" cy="790575"/>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030070B4-5D77-424D-BA87-CE3A61A2B14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6</a:t>
            </a:fld>
            <a:endParaRPr sz="1200" b="1" i="0" u="none" kern="1200" cap="none" spc="0" baseline="0">
              <a:ln>
                <a:noFill/>
              </a:ln>
              <a:solidFill>
                <a:prstClr val="white"/>
              </a:solidFill>
              <a:latin typeface="TradeGothic"/>
              <a:ea typeface="TradeGothic"/>
              <a:cs typeface="TradeGothic"/>
            </a:endParaRPr>
          </a:p>
        </p:txBody>
      </p:sp>
      <p:pic>
        <p:nvPicPr>
          <p:cNvPr id="17440" name=""/>
          <p:cNvPicPr>
            <a:picLocks xmlns:a="http://schemas.openxmlformats.org/drawingml/2006/main" noChangeAspect="1"/>
          </p:cNvPicPr>
          <p:nvPr/>
        </p:nvPicPr>
        <p:blipFill>
          <a:blip xmlns:r="http://schemas.openxmlformats.org/officeDocument/2006/relationships" xmlns:a="http://schemas.openxmlformats.org/drawingml/2006/main" r:embed="Rd248da6805b64122"/>
          <a:srcRect xmlns:a="http://schemas.openxmlformats.org/drawingml/2006/main" l="0" t="0" r="0" b="0"/>
          <a:stretch xmlns:a="http://schemas.openxmlformats.org/drawingml/2006/main">
            <a:fillRect l="0" t="0" r="0" b="0"/>
          </a:stretch>
        </p:blipFill>
        <p:spPr>
          <a:xfrm xmlns:a="http://schemas.openxmlformats.org/drawingml/2006/main">
            <a:off x="9780080" y="1524"/>
            <a:ext cx="2249805" cy="1062323"/>
          </a:xfrm>
          <a:prstGeom xmlns:a="http://schemas.openxmlformats.org/drawingml/2006/main" prst="rect">
            <a:avLst/>
          </a:prstGeom>
        </p:spPr>
      </p:pic>
      <p:sp>
        <p:nvSpPr>
          <p:cNvPr id="17412" name="Original template team oval">
            <a:extLst xmlns:a="http://schemas.openxmlformats.org/drawingml/2006/main">
              <a:ext uri="{FF2B5EF4-FFF2-40B4-BE49-F238E27FC236}">
                <a16:creationId xmlns:a16="http://schemas.microsoft.com/office/drawing/2014/main" id="{987E32BC-1AE5-4E26-B861-A05D4A697979}"/>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noFill xmlns:a="http://schemas.openxmlformats.org/drawingml/2006/main"/>
          <a:ln xmlns:a="http://schemas.openxmlformats.org/drawingml/2006/main" w="19050">
            <a:solidFill>
              <a:srgbClr val="000000"/>
            </a:solidFill>
          </a:ln>
        </p:spPr>
      </p:sp>
      <p:sp>
        <p:nvSpPr>
          <p:cNvPr id="17413" name="AlphaX">
            <a:extLst xmlns:a="http://schemas.openxmlformats.org/drawingml/2006/main">
              <a:ext uri="{FF2B5EF4-FFF2-40B4-BE49-F238E27FC236}">
                <a16:creationId xmlns:a16="http://schemas.microsoft.com/office/drawing/2014/main" id="{5DC27E85-91CB-4EE3-AD6F-1FBAB21CA00B}"/>
              </a:ext>
            </a:extLst>
          </p:cNvPr>
          <p:cNvSpPr>
            <a:spLocks xmlns:a="http://schemas.openxmlformats.org/drawingml/2006/main" noGrp="1"/>
          </p:cNvSpPr>
          <p:nvPr/>
        </p:nvSpPr>
        <p:spPr>
          <a:xfrm xmlns:a="http://schemas.openxmlformats.org/drawingml/2006/main">
            <a:off x="329756" y="514350"/>
            <a:ext cx="1251871"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214E82"/>
                </a:solidFill>
                <a:latin typeface="Arial"/>
                <a:ea typeface="Arial"/>
                <a:cs typeface="Arial"/>
              </a:defRPr>
            </a:pPr>
            <a:r>
              <a:rPr sz="1800" b="1">
                <a:solidFill>
                  <a:srgbClr val="214E82"/>
                </a:solidFill>
                <a:latin typeface="Arial"/>
                <a:ea typeface="Arial"/>
                <a:cs typeface="Arial"/>
              </a:rPr>
              <a:t>AlphaX</a:t>
            </a:r>
          </a:p>
        </p:txBody>
      </p:sp>
      <p:sp>
        <p:nvSpPr>
          <p:cNvPr id="17414" name="@SIH Idea submission- Template">
            <a:extLst xmlns:a="http://schemas.openxmlformats.org/drawingml/2006/main">
              <a:ext uri="{FF2B5EF4-FFF2-40B4-BE49-F238E27FC236}">
                <a16:creationId xmlns:a16="http://schemas.microsoft.com/office/drawing/2014/main" id="{8FA74CAA-BF32-487D-9403-EB623788F702}"/>
              </a:ext>
            </a:extLst>
          </p:cNvPr>
          <p:cNvSpPr>
            <a:spLocks xmlns:a="http://schemas.openxmlformats.org/drawingml/2006/main" noGrp="1"/>
          </p:cNvSpPr>
          <p:nvPr/>
        </p:nvSpPr>
        <p:spPr>
          <a:xfrm xmlns:a="http://schemas.openxmlformats.org/drawingml/2006/main">
            <a:off x="4648200" y="6467475"/>
            <a:ext cx="320402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FFFFFF"/>
                </a:solidFill>
                <a:latin typeface="Arial"/>
                <a:ea typeface="Arial"/>
                <a:cs typeface="Arial"/>
              </a:defRPr>
            </a:pPr>
            <a:r>
              <a:rPr sz="1200" b="0">
                <a:solidFill>
                  <a:srgbClr val="FFFFFF"/>
                </a:solidFill>
                <a:latin typeface="Arial"/>
                <a:ea typeface="Arial"/>
                <a:cs typeface="Arial"/>
              </a:rPr>
              <a:t>@SIH Idea submission- Template</a:t>
            </a:r>
          </a:p>
        </p:txBody>
      </p:sp>
      <p:sp>
        <p:nvSpPr>
          <p:cNvPr id="17415" name="Research foundations and auditable project evidence">
            <a:extLst xmlns:a="http://schemas.openxmlformats.org/drawingml/2006/main">
              <a:ext uri="{FF2B5EF4-FFF2-40B4-BE49-F238E27FC236}">
                <a16:creationId xmlns:a16="http://schemas.microsoft.com/office/drawing/2014/main" id="{28C82228-B1CE-4F71-B58C-EADEEF1C843F}"/>
              </a:ext>
            </a:extLst>
          </p:cNvPr>
          <p:cNvSpPr>
            <a:spLocks xmlns:a="http://schemas.openxmlformats.org/drawingml/2006/main" noGrp="1"/>
          </p:cNvSpPr>
          <p:nvPr/>
        </p:nvSpPr>
        <p:spPr>
          <a:xfrm xmlns:a="http://schemas.openxmlformats.org/drawingml/2006/main">
            <a:off x="428625" y="1371600"/>
            <a:ext cx="11239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14E82"/>
                </a:solidFill>
                <a:latin typeface="Arial"/>
                <a:ea typeface="Arial"/>
                <a:cs typeface="Arial"/>
              </a:defRPr>
            </a:pPr>
            <a:r>
              <a:rPr sz="2175" b="1">
                <a:solidFill>
                  <a:srgbClr val="214E82"/>
                </a:solidFill>
                <a:latin typeface="Arial"/>
                <a:ea typeface="Arial"/>
                <a:cs typeface="Arial"/>
              </a:rPr>
              <a:t>Research foundations and auditable project evidence</a:t>
            </a:r>
          </a:p>
        </p:txBody>
      </p:sp>
      <p:sp>
        <p:nvSpPr>
          <p:cNvPr id="17416" name="01">
            <a:extLst xmlns:a="http://schemas.openxmlformats.org/drawingml/2006/main">
              <a:ext uri="{FF2B5EF4-FFF2-40B4-BE49-F238E27FC236}">
                <a16:creationId xmlns:a16="http://schemas.microsoft.com/office/drawing/2014/main" id="{1D927480-BE5E-42DA-BB9B-FAB7D9A72F27}"/>
              </a:ext>
            </a:extLst>
          </p:cNvPr>
          <p:cNvSpPr>
            <a:spLocks xmlns:a="http://schemas.openxmlformats.org/drawingml/2006/main" noGrp="1"/>
          </p:cNvSpPr>
          <p:nvPr/>
        </p:nvSpPr>
        <p:spPr>
          <a:xfrm xmlns:a="http://schemas.openxmlformats.org/drawingml/2006/main">
            <a:off x="428625" y="2028825"/>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8B7"/>
                </a:solidFill>
                <a:latin typeface="Arial"/>
                <a:ea typeface="Arial"/>
                <a:cs typeface="Arial"/>
              </a:defRPr>
            </a:pPr>
            <a:r>
              <a:rPr sz="2250" b="1">
                <a:solidFill>
                  <a:srgbClr val="0078B7"/>
                </a:solidFill>
                <a:latin typeface="Arial"/>
                <a:ea typeface="Arial"/>
                <a:cs typeface="Arial"/>
              </a:rPr>
              <a:t>01</a:t>
            </a:r>
          </a:p>
        </p:txBody>
      </p:sp>
      <p:sp>
        <p:nvSpPr>
          <p:cNvPr id="17417" name="Russo et al. (2018)">
            <a:extLst xmlns:a="http://schemas.openxmlformats.org/drawingml/2006/main">
              <a:ext uri="{FF2B5EF4-FFF2-40B4-BE49-F238E27FC236}">
                <a16:creationId xmlns:a16="http://schemas.microsoft.com/office/drawing/2014/main" id="{406832BD-D9FD-4626-A73E-A06A29392383}"/>
              </a:ext>
            </a:extLst>
          </p:cNvPr>
          <p:cNvSpPr>
            <a:spLocks xmlns:a="http://schemas.openxmlformats.org/drawingml/2006/main" noGrp="1"/>
          </p:cNvSpPr>
          <p:nvPr/>
        </p:nvSpPr>
        <p:spPr>
          <a:xfrm xmlns:a="http://schemas.openxmlformats.org/drawingml/2006/main">
            <a:off x="1000125" y="2028825"/>
            <a:ext cx="628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2A3D"/>
                </a:solidFill>
                <a:latin typeface="Arial"/>
                <a:ea typeface="Arial"/>
                <a:cs typeface="Arial"/>
              </a:defRPr>
            </a:pPr>
            <a:r>
              <a:rPr sz="1800" b="1">
                <a:solidFill>
                  <a:srgbClr val="172A3D"/>
                </a:solidFill>
                <a:latin typeface="Arial"/>
                <a:ea typeface="Arial"/>
                <a:cs typeface="Arial"/>
              </a:rPr>
              <a:t>Russo et al. (2018)</a:t>
            </a:r>
          </a:p>
        </p:txBody>
      </p:sp>
      <p:sp>
        <p:nvSpPr>
          <p:cNvPr id="17418" name="A Tutorial on Thompson Sampling">
            <a:extLst xmlns:a="http://schemas.openxmlformats.org/drawingml/2006/main">
              <a:ext uri="{FF2B5EF4-FFF2-40B4-BE49-F238E27FC236}">
                <a16:creationId xmlns:a16="http://schemas.microsoft.com/office/drawing/2014/main" id="{FD6DA13C-11E9-43A1-ABE1-B79DC5B0B358}"/>
              </a:ext>
            </a:extLst>
          </p:cNvPr>
          <p:cNvSpPr>
            <a:spLocks xmlns:a="http://schemas.openxmlformats.org/drawingml/2006/main" noGrp="1"/>
          </p:cNvSpPr>
          <p:nvPr/>
        </p:nvSpPr>
        <p:spPr>
          <a:xfrm xmlns:a="http://schemas.openxmlformats.org/drawingml/2006/main">
            <a:off x="1000125" y="2352675"/>
            <a:ext cx="6286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72A3D"/>
                </a:solidFill>
                <a:latin typeface="Arial"/>
                <a:ea typeface="Arial"/>
                <a:cs typeface="Arial"/>
              </a:defRPr>
            </a:pPr>
            <a:r>
              <a:rPr sz="1650" b="0">
                <a:solidFill>
                  <a:srgbClr val="172A3D"/>
                </a:solidFill>
                <a:latin typeface="Arial"/>
                <a:ea typeface="Arial"/>
                <a:cs typeface="Arial"/>
              </a:rPr>
              <a:t>A Tutorial on Thompson Sampling</a:t>
            </a:r>
          </a:p>
        </p:txBody>
      </p:sp>
      <p:sp>
        <p:nvSpPr>
          <p:cNvPr id="17419" name="arxiv.org/abs/1707.02038">
            <a:extLst xmlns:a="http://schemas.openxmlformats.org/drawingml/2006/main">
              <a:ext uri="{FF2B5EF4-FFF2-40B4-BE49-F238E27FC236}">
                <a16:creationId xmlns:a16="http://schemas.microsoft.com/office/drawing/2014/main" id="{BD84AEBE-BEB7-4E64-8CD7-00DEF85BDCB9}"/>
              </a:ext>
            </a:extLst>
          </p:cNvPr>
          <p:cNvSpPr>
            <a:spLocks xmlns:a="http://schemas.openxmlformats.org/drawingml/2006/main" noGrp="1"/>
          </p:cNvSpPr>
          <p:nvPr/>
        </p:nvSpPr>
        <p:spPr>
          <a:xfrm xmlns:a="http://schemas.openxmlformats.org/drawingml/2006/main">
            <a:off x="1000125" y="2647950"/>
            <a:ext cx="628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78B7"/>
                </a:solidFill>
                <a:latin typeface="Arial"/>
                <a:ea typeface="Arial"/>
                <a:cs typeface="Arial"/>
              </a:defRPr>
            </a:pPr>
            <a:r>
              <a:rPr sz="1500" b="0">
                <a:solidFill>
                  <a:srgbClr val="0078B7"/>
                </a:solidFill>
                <a:latin typeface="Arial"/>
                <a:ea typeface="Arial"/>
                <a:cs typeface="Arial"/>
                <a:hlinkClick xmlns:r="http://schemas.openxmlformats.org/officeDocument/2006/relationships" r:id="Rd9a6e9849246447c"/>
              </a:rPr>
              <a:t>arxiv.org/abs/1707.02038</a:t>
            </a:r>
          </a:p>
        </p:txBody>
      </p:sp>
      <p:sp>
        <p:nvSpPr>
          <p:cNvPr id="17420" name="Foundations for learning under uncertainty.">
            <a:extLst xmlns:a="http://schemas.openxmlformats.org/drawingml/2006/main">
              <a:ext uri="{FF2B5EF4-FFF2-40B4-BE49-F238E27FC236}">
                <a16:creationId xmlns:a16="http://schemas.microsoft.com/office/drawing/2014/main" id="{E62AF844-ECCE-428A-81B1-37171BD2C3FB}"/>
              </a:ext>
            </a:extLst>
          </p:cNvPr>
          <p:cNvSpPr>
            <a:spLocks xmlns:a="http://schemas.openxmlformats.org/drawingml/2006/main" noGrp="1"/>
          </p:cNvSpPr>
          <p:nvPr/>
        </p:nvSpPr>
        <p:spPr>
          <a:xfrm xmlns:a="http://schemas.openxmlformats.org/drawingml/2006/main">
            <a:off x="1000125" y="2943225"/>
            <a:ext cx="628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B"/>
                </a:solidFill>
                <a:latin typeface="Arial"/>
                <a:ea typeface="Arial"/>
                <a:cs typeface="Arial"/>
              </a:defRPr>
            </a:pPr>
            <a:r>
              <a:rPr sz="1350" b="0">
                <a:solidFill>
                  <a:srgbClr val="52677B"/>
                </a:solidFill>
                <a:latin typeface="Arial"/>
                <a:ea typeface="Arial"/>
                <a:cs typeface="Arial"/>
              </a:rPr>
              <a:t>Foundations for learning under uncertainty.</a:t>
            </a:r>
          </a:p>
        </p:txBody>
      </p:sp>
      <p:sp>
        <p:nvSpPr>
          <p:cNvPr id="17421" name="02">
            <a:extLst xmlns:a="http://schemas.openxmlformats.org/drawingml/2006/main">
              <a:ext uri="{FF2B5EF4-FFF2-40B4-BE49-F238E27FC236}">
                <a16:creationId xmlns:a16="http://schemas.microsoft.com/office/drawing/2014/main" id="{196C161B-25FA-41D1-9C95-4186B76AFABD}"/>
              </a:ext>
            </a:extLst>
          </p:cNvPr>
          <p:cNvSpPr>
            <a:spLocks xmlns:a="http://schemas.openxmlformats.org/drawingml/2006/main" noGrp="1"/>
          </p:cNvSpPr>
          <p:nvPr/>
        </p:nvSpPr>
        <p:spPr>
          <a:xfrm xmlns:a="http://schemas.openxmlformats.org/drawingml/2006/main">
            <a:off x="428625" y="327660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8B7"/>
                </a:solidFill>
                <a:latin typeface="Arial"/>
                <a:ea typeface="Arial"/>
                <a:cs typeface="Arial"/>
              </a:defRPr>
            </a:pPr>
            <a:r>
              <a:rPr sz="2250" b="1">
                <a:solidFill>
                  <a:srgbClr val="0078B7"/>
                </a:solidFill>
                <a:latin typeface="Arial"/>
                <a:ea typeface="Arial"/>
                <a:cs typeface="Arial"/>
              </a:rPr>
              <a:t>02</a:t>
            </a:r>
          </a:p>
        </p:txBody>
      </p:sp>
      <p:sp>
        <p:nvSpPr>
          <p:cNvPr id="17422" name="Gunn et al. (2026)">
            <a:extLst xmlns:a="http://schemas.openxmlformats.org/drawingml/2006/main">
              <a:ext uri="{FF2B5EF4-FFF2-40B4-BE49-F238E27FC236}">
                <a16:creationId xmlns:a16="http://schemas.microsoft.com/office/drawing/2014/main" id="{07C1B3C0-669F-459B-9646-607BA91E2A46}"/>
              </a:ext>
            </a:extLst>
          </p:cNvPr>
          <p:cNvSpPr>
            <a:spLocks xmlns:a="http://schemas.openxmlformats.org/drawingml/2006/main" noGrp="1"/>
          </p:cNvSpPr>
          <p:nvPr/>
        </p:nvSpPr>
        <p:spPr>
          <a:xfrm xmlns:a="http://schemas.openxmlformats.org/drawingml/2006/main">
            <a:off x="1000125" y="3276600"/>
            <a:ext cx="628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2A3D"/>
                </a:solidFill>
                <a:latin typeface="Arial"/>
                <a:ea typeface="Arial"/>
                <a:cs typeface="Arial"/>
              </a:defRPr>
            </a:pPr>
            <a:r>
              <a:rPr sz="1800" b="1">
                <a:solidFill>
                  <a:srgbClr val="172A3D"/>
                </a:solidFill>
                <a:latin typeface="Arial"/>
                <a:ea typeface="Arial"/>
                <a:cs typeface="Arial"/>
              </a:rPr>
              <a:t>Gunn et al. (2026)</a:t>
            </a:r>
          </a:p>
        </p:txBody>
      </p:sp>
      <p:sp>
        <p:nvSpPr>
          <p:cNvPr id="17423" name="The Turing Synthetic Radar Dataset">
            <a:extLst xmlns:a="http://schemas.openxmlformats.org/drawingml/2006/main">
              <a:ext uri="{FF2B5EF4-FFF2-40B4-BE49-F238E27FC236}">
                <a16:creationId xmlns:a16="http://schemas.microsoft.com/office/drawing/2014/main" id="{E2266817-9162-4600-9AE2-BC2A553A27B6}"/>
              </a:ext>
            </a:extLst>
          </p:cNvPr>
          <p:cNvSpPr>
            <a:spLocks xmlns:a="http://schemas.openxmlformats.org/drawingml/2006/main" noGrp="1"/>
          </p:cNvSpPr>
          <p:nvPr/>
        </p:nvSpPr>
        <p:spPr>
          <a:xfrm xmlns:a="http://schemas.openxmlformats.org/drawingml/2006/main">
            <a:off x="1000125" y="3600450"/>
            <a:ext cx="6286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72A3D"/>
                </a:solidFill>
                <a:latin typeface="Arial"/>
                <a:ea typeface="Arial"/>
                <a:cs typeface="Arial"/>
              </a:defRPr>
            </a:pPr>
            <a:r>
              <a:rPr sz="1650" b="0">
                <a:solidFill>
                  <a:srgbClr val="172A3D"/>
                </a:solidFill>
                <a:latin typeface="Arial"/>
                <a:ea typeface="Arial"/>
                <a:cs typeface="Arial"/>
              </a:rPr>
              <a:t>The Turing Synthetic Radar Dataset</a:t>
            </a:r>
          </a:p>
        </p:txBody>
      </p:sp>
      <p:sp>
        <p:nvSpPr>
          <p:cNvPr id="17424" name="arxiv.org/abs/2602.03856">
            <a:extLst xmlns:a="http://schemas.openxmlformats.org/drawingml/2006/main">
              <a:ext uri="{FF2B5EF4-FFF2-40B4-BE49-F238E27FC236}">
                <a16:creationId xmlns:a16="http://schemas.microsoft.com/office/drawing/2014/main" id="{051A5FFF-E976-489E-A0FE-5552D694F861}"/>
              </a:ext>
            </a:extLst>
          </p:cNvPr>
          <p:cNvSpPr>
            <a:spLocks xmlns:a="http://schemas.openxmlformats.org/drawingml/2006/main" noGrp="1"/>
          </p:cNvSpPr>
          <p:nvPr/>
        </p:nvSpPr>
        <p:spPr>
          <a:xfrm xmlns:a="http://schemas.openxmlformats.org/drawingml/2006/main">
            <a:off x="1000125" y="3895725"/>
            <a:ext cx="628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78B7"/>
                </a:solidFill>
                <a:latin typeface="Arial"/>
                <a:ea typeface="Arial"/>
                <a:cs typeface="Arial"/>
              </a:defRPr>
            </a:pPr>
            <a:r>
              <a:rPr sz="1500" b="0">
                <a:solidFill>
                  <a:srgbClr val="0078B7"/>
                </a:solidFill>
                <a:latin typeface="Arial"/>
                <a:ea typeface="Arial"/>
                <a:cs typeface="Arial"/>
                <a:hlinkClick xmlns:r="http://schemas.openxmlformats.org/officeDocument/2006/relationships" r:id="R285053e02a3849ce"/>
              </a:rPr>
              <a:t>arxiv.org/abs/2602.03856</a:t>
            </a:r>
          </a:p>
        </p:txBody>
      </p:sp>
      <p:sp>
        <p:nvSpPr>
          <p:cNvPr id="17425" name="Importer implemented. Authorized data still required.">
            <a:extLst xmlns:a="http://schemas.openxmlformats.org/drawingml/2006/main">
              <a:ext uri="{FF2B5EF4-FFF2-40B4-BE49-F238E27FC236}">
                <a16:creationId xmlns:a16="http://schemas.microsoft.com/office/drawing/2014/main" id="{F6539162-83CB-4038-99F8-7B36967C2AC0}"/>
              </a:ext>
            </a:extLst>
          </p:cNvPr>
          <p:cNvSpPr>
            <a:spLocks xmlns:a="http://schemas.openxmlformats.org/drawingml/2006/main" noGrp="1"/>
          </p:cNvSpPr>
          <p:nvPr/>
        </p:nvSpPr>
        <p:spPr>
          <a:xfrm xmlns:a="http://schemas.openxmlformats.org/drawingml/2006/main">
            <a:off x="1000125" y="4191000"/>
            <a:ext cx="628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B"/>
                </a:solidFill>
                <a:latin typeface="Arial"/>
                <a:ea typeface="Arial"/>
                <a:cs typeface="Arial"/>
              </a:defRPr>
            </a:pPr>
            <a:r>
              <a:rPr sz="1350" b="0">
                <a:solidFill>
                  <a:srgbClr val="52677B"/>
                </a:solidFill>
                <a:latin typeface="Arial"/>
                <a:ea typeface="Arial"/>
                <a:cs typeface="Arial"/>
              </a:rPr>
              <a:t>Importer implemented. Authorized data still required.</a:t>
            </a:r>
          </a:p>
        </p:txBody>
      </p:sp>
      <p:sp>
        <p:nvSpPr>
          <p:cNvPr id="17426" name="03">
            <a:extLst xmlns:a="http://schemas.openxmlformats.org/drawingml/2006/main">
              <a:ext uri="{FF2B5EF4-FFF2-40B4-BE49-F238E27FC236}">
                <a16:creationId xmlns:a16="http://schemas.microsoft.com/office/drawing/2014/main" id="{4D586C50-6D27-4995-90AB-37087431D025}"/>
              </a:ext>
            </a:extLst>
          </p:cNvPr>
          <p:cNvSpPr>
            <a:spLocks xmlns:a="http://schemas.openxmlformats.org/drawingml/2006/main" noGrp="1"/>
          </p:cNvSpPr>
          <p:nvPr/>
        </p:nvSpPr>
        <p:spPr>
          <a:xfrm xmlns:a="http://schemas.openxmlformats.org/drawingml/2006/main">
            <a:off x="428625" y="4524375"/>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8B7"/>
                </a:solidFill>
                <a:latin typeface="Arial"/>
                <a:ea typeface="Arial"/>
                <a:cs typeface="Arial"/>
              </a:defRPr>
            </a:pPr>
            <a:r>
              <a:rPr sz="2250" b="1">
                <a:solidFill>
                  <a:srgbClr val="0078B7"/>
                </a:solidFill>
                <a:latin typeface="Arial"/>
                <a:ea typeface="Arial"/>
                <a:cs typeface="Arial"/>
              </a:rPr>
              <a:t>03</a:t>
            </a:r>
          </a:p>
        </p:txBody>
      </p:sp>
      <p:sp>
        <p:nvSpPr>
          <p:cNvPr id="17427" name="e-CALLISTO / FHNW">
            <a:extLst xmlns:a="http://schemas.openxmlformats.org/drawingml/2006/main">
              <a:ext uri="{FF2B5EF4-FFF2-40B4-BE49-F238E27FC236}">
                <a16:creationId xmlns:a16="http://schemas.microsoft.com/office/drawing/2014/main" id="{C10BF4F6-3DD0-4B7C-9FB9-7837BF9C2535}"/>
              </a:ext>
            </a:extLst>
          </p:cNvPr>
          <p:cNvSpPr>
            <a:spLocks xmlns:a="http://schemas.openxmlformats.org/drawingml/2006/main" noGrp="1"/>
          </p:cNvSpPr>
          <p:nvPr/>
        </p:nvSpPr>
        <p:spPr>
          <a:xfrm xmlns:a="http://schemas.openxmlformats.org/drawingml/2006/main">
            <a:off x="1000125" y="4524375"/>
            <a:ext cx="628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2A3D"/>
                </a:solidFill>
                <a:latin typeface="Arial"/>
                <a:ea typeface="Arial"/>
                <a:cs typeface="Arial"/>
              </a:defRPr>
            </a:pPr>
            <a:r>
              <a:rPr sz="1800" b="1">
                <a:solidFill>
                  <a:srgbClr val="172A3D"/>
                </a:solidFill>
                <a:latin typeface="Arial"/>
                <a:ea typeface="Arial"/>
                <a:cs typeface="Arial"/>
              </a:rPr>
              <a:t>e-CALLISTO / FHNW</a:t>
            </a:r>
          </a:p>
        </p:txBody>
      </p:sp>
      <p:sp>
        <p:nvSpPr>
          <p:cNvPr id="17428" name="Public solar-radio observations">
            <a:extLst xmlns:a="http://schemas.openxmlformats.org/drawingml/2006/main">
              <a:ext uri="{FF2B5EF4-FFF2-40B4-BE49-F238E27FC236}">
                <a16:creationId xmlns:a16="http://schemas.microsoft.com/office/drawing/2014/main" id="{DEEA3EA9-1177-41DD-977D-733DAEA0B797}"/>
              </a:ext>
            </a:extLst>
          </p:cNvPr>
          <p:cNvSpPr>
            <a:spLocks xmlns:a="http://schemas.openxmlformats.org/drawingml/2006/main" noGrp="1"/>
          </p:cNvSpPr>
          <p:nvPr/>
        </p:nvSpPr>
        <p:spPr>
          <a:xfrm xmlns:a="http://schemas.openxmlformats.org/drawingml/2006/main">
            <a:off x="1000125" y="4848225"/>
            <a:ext cx="6286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72A3D"/>
                </a:solidFill>
                <a:latin typeface="Arial"/>
                <a:ea typeface="Arial"/>
                <a:cs typeface="Arial"/>
              </a:defRPr>
            </a:pPr>
            <a:r>
              <a:rPr sz="1650" b="0">
                <a:solidFill>
                  <a:srgbClr val="172A3D"/>
                </a:solidFill>
                <a:latin typeface="Arial"/>
                <a:ea typeface="Arial"/>
                <a:cs typeface="Arial"/>
              </a:rPr>
              <a:t>Public solar-radio observations</a:t>
            </a:r>
          </a:p>
        </p:txBody>
      </p:sp>
      <p:sp>
        <p:nvSpPr>
          <p:cNvPr id="17429" name="www.e-callisto.org/">
            <a:extLst xmlns:a="http://schemas.openxmlformats.org/drawingml/2006/main">
              <a:ext uri="{FF2B5EF4-FFF2-40B4-BE49-F238E27FC236}">
                <a16:creationId xmlns:a16="http://schemas.microsoft.com/office/drawing/2014/main" id="{6714A44A-6EFE-4014-828F-8B434F165462}"/>
              </a:ext>
            </a:extLst>
          </p:cNvPr>
          <p:cNvSpPr>
            <a:spLocks xmlns:a="http://schemas.openxmlformats.org/drawingml/2006/main" noGrp="1"/>
          </p:cNvSpPr>
          <p:nvPr/>
        </p:nvSpPr>
        <p:spPr>
          <a:xfrm xmlns:a="http://schemas.openxmlformats.org/drawingml/2006/main">
            <a:off x="1000125" y="5143500"/>
            <a:ext cx="628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78B7"/>
                </a:solidFill>
                <a:latin typeface="Arial"/>
                <a:ea typeface="Arial"/>
                <a:cs typeface="Arial"/>
              </a:defRPr>
            </a:pPr>
            <a:r>
              <a:rPr sz="1500" b="0">
                <a:solidFill>
                  <a:srgbClr val="0078B7"/>
                </a:solidFill>
                <a:latin typeface="Arial"/>
                <a:ea typeface="Arial"/>
                <a:cs typeface="Arial"/>
                <a:hlinkClick xmlns:r="http://schemas.openxmlformats.org/officeDocument/2006/relationships" r:id="R447becc82813423f"/>
              </a:rPr>
              <a:t>www.e-callisto.org/</a:t>
            </a:r>
          </a:p>
        </p:txBody>
      </p:sp>
      <p:sp>
        <p:nvSpPr>
          <p:cNvPr id="17430" name="Measured recording included with source lineage.">
            <a:extLst xmlns:a="http://schemas.openxmlformats.org/drawingml/2006/main">
              <a:ext uri="{FF2B5EF4-FFF2-40B4-BE49-F238E27FC236}">
                <a16:creationId xmlns:a16="http://schemas.microsoft.com/office/drawing/2014/main" id="{8E838531-1563-4383-93BC-D811CA3B7794}"/>
              </a:ext>
            </a:extLst>
          </p:cNvPr>
          <p:cNvSpPr>
            <a:spLocks xmlns:a="http://schemas.openxmlformats.org/drawingml/2006/main" noGrp="1"/>
          </p:cNvSpPr>
          <p:nvPr/>
        </p:nvSpPr>
        <p:spPr>
          <a:xfrm xmlns:a="http://schemas.openxmlformats.org/drawingml/2006/main">
            <a:off x="1000125" y="5438775"/>
            <a:ext cx="628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B"/>
                </a:solidFill>
                <a:latin typeface="Arial"/>
                <a:ea typeface="Arial"/>
                <a:cs typeface="Arial"/>
              </a:defRPr>
            </a:pPr>
            <a:r>
              <a:rPr sz="1350" b="0">
                <a:solidFill>
                  <a:srgbClr val="52677B"/>
                </a:solidFill>
                <a:latin typeface="Arial"/>
                <a:ea typeface="Arial"/>
                <a:cs typeface="Arial"/>
              </a:rPr>
              <a:t>Measured recording included with source lineage.</a:t>
            </a:r>
          </a:p>
        </p:txBody>
      </p:sp>
      <p:sp>
        <p:nvSpPr>
          <p:cNvPr id="17431" name="AlphaX evidence package">
            <a:extLst xmlns:a="http://schemas.openxmlformats.org/drawingml/2006/main">
              <a:ext uri="{FF2B5EF4-FFF2-40B4-BE49-F238E27FC236}">
                <a16:creationId xmlns:a16="http://schemas.microsoft.com/office/drawing/2014/main" id="{6C16C0BE-98B9-4692-8192-57B8C30E8DCC}"/>
              </a:ext>
            </a:extLst>
          </p:cNvPr>
          <p:cNvSpPr>
            <a:spLocks xmlns:a="http://schemas.openxmlformats.org/drawingml/2006/main" noGrp="1"/>
          </p:cNvSpPr>
          <p:nvPr/>
        </p:nvSpPr>
        <p:spPr>
          <a:xfrm xmlns:a="http://schemas.openxmlformats.org/drawingml/2006/main">
            <a:off x="7810500" y="2009775"/>
            <a:ext cx="4000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14E82"/>
                </a:solidFill>
                <a:latin typeface="Arial"/>
                <a:ea typeface="Arial"/>
                <a:cs typeface="Arial"/>
              </a:defRPr>
            </a:pPr>
            <a:r>
              <a:rPr sz="2025" b="1">
                <a:solidFill>
                  <a:srgbClr val="214E82"/>
                </a:solidFill>
                <a:latin typeface="Arial"/>
                <a:ea typeface="Arial"/>
                <a:cs typeface="Arial"/>
              </a:rPr>
              <a:t>AlphaX evidence package</a:t>
            </a:r>
          </a:p>
        </p:txBody>
      </p:sp>
      <p:pic>
        <p:nvPicPr>
          <p:cNvPr id="17461" name=""/>
          <p:cNvPicPr>
            <a:picLocks xmlns:a="http://schemas.openxmlformats.org/drawingml/2006/main" noChangeAspect="1"/>
          </p:cNvPicPr>
          <p:nvPr/>
        </p:nvPicPr>
        <p:blipFill>
          <a:blip xmlns:r="http://schemas.openxmlformats.org/officeDocument/2006/relationships" xmlns:a="http://schemas.openxmlformats.org/drawingml/2006/main" r:embed="R7b1dc607a9d64db1"/>
          <a:srcRect xmlns:a="http://schemas.openxmlformats.org/drawingml/2006/main" l="0" t="23547" r="0" b="23547"/>
          <a:stretch xmlns:a="http://schemas.openxmlformats.org/drawingml/2006/main">
            <a:fillRect l="0" t="0" r="0" b="0"/>
          </a:stretch>
        </p:blipFill>
        <p:spPr>
          <a:xfrm xmlns:a="http://schemas.openxmlformats.org/drawingml/2006/main">
            <a:off x="7810500" y="2476500"/>
            <a:ext cx="3981450" cy="2066925"/>
          </a:xfrm>
          <a:prstGeom xmlns:a="http://schemas.openxmlformats.org/drawingml/2006/main" prst="rect">
            <a:avLst/>
          </a:prstGeom>
        </p:spPr>
      </p:pic>
      <p:sp>
        <p:nvSpPr>
          <p:cNvPr id="17433" name="BENCH-723C785465">
            <a:extLst xmlns:a="http://schemas.openxmlformats.org/drawingml/2006/main">
              <a:ext uri="{FF2B5EF4-FFF2-40B4-BE49-F238E27FC236}">
                <a16:creationId xmlns:a16="http://schemas.microsoft.com/office/drawing/2014/main" id="{98E2B443-D698-4B4B-9800-2641FBA69372}"/>
              </a:ext>
            </a:extLst>
          </p:cNvPr>
          <p:cNvSpPr>
            <a:spLocks xmlns:a="http://schemas.openxmlformats.org/drawingml/2006/main" noGrp="1"/>
          </p:cNvSpPr>
          <p:nvPr/>
        </p:nvSpPr>
        <p:spPr>
          <a:xfrm xmlns:a="http://schemas.openxmlformats.org/drawingml/2006/main">
            <a:off x="7810500" y="4714875"/>
            <a:ext cx="4000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2A3D"/>
                </a:solidFill>
                <a:latin typeface="Arial"/>
                <a:ea typeface="Arial"/>
                <a:cs typeface="Arial"/>
              </a:defRPr>
            </a:pPr>
            <a:r>
              <a:rPr sz="1800" b="1">
                <a:solidFill>
                  <a:srgbClr val="172A3D"/>
                </a:solidFill>
                <a:latin typeface="Arial"/>
                <a:ea typeface="Arial"/>
                <a:cs typeface="Arial"/>
              </a:rPr>
              <a:t>BENCH-723C785465</a:t>
            </a:r>
          </a:p>
        </p:txBody>
      </p:sp>
      <p:sp>
        <p:nvSpPr>
          <p:cNvPr id="17434" name="Checksummed traces, exact replay,&#10;metric definitions and source m">
            <a:extLst xmlns:a="http://schemas.openxmlformats.org/drawingml/2006/main">
              <a:ext uri="{FF2B5EF4-FFF2-40B4-BE49-F238E27FC236}">
                <a16:creationId xmlns:a16="http://schemas.microsoft.com/office/drawing/2014/main" id="{DF19447C-3432-40F7-9ED7-827B5180A68A}"/>
              </a:ext>
            </a:extLst>
          </p:cNvPr>
          <p:cNvSpPr>
            <a:spLocks xmlns:a="http://schemas.openxmlformats.org/drawingml/2006/main" noGrp="1"/>
          </p:cNvSpPr>
          <p:nvPr/>
        </p:nvSpPr>
        <p:spPr>
          <a:xfrm xmlns:a="http://schemas.openxmlformats.org/drawingml/2006/main">
            <a:off x="7810500" y="5086350"/>
            <a:ext cx="4000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2A3D"/>
                </a:solidFill>
                <a:latin typeface="Arial"/>
                <a:ea typeface="Arial"/>
                <a:cs typeface="Arial"/>
              </a:defRPr>
            </a:pPr>
            <a:r>
              <a:rPr sz="1725" b="0">
                <a:solidFill>
                  <a:srgbClr val="172A3D"/>
                </a:solidFill>
                <a:latin typeface="Arial"/>
                <a:ea typeface="Arial"/>
                <a:cs typeface="Arial"/>
              </a:rPr>
              <a:t>Checksummed traces, exact replay,</a:t>
            </a:r>
          </a:p>
          <a:p xmlns:a="http://schemas.openxmlformats.org/drawingml/2006/main">
            <a:pPr algn="l">
              <a:defRPr sz="1725" b="0">
                <a:solidFill>
                  <a:srgbClr val="172A3D"/>
                </a:solidFill>
                <a:latin typeface="Arial"/>
                <a:ea typeface="Arial"/>
                <a:cs typeface="Arial"/>
              </a:defRPr>
            </a:pPr>
            <a:r>
              <a:rPr sz="1725" b="0">
                <a:solidFill>
                  <a:srgbClr val="172A3D"/>
                </a:solidFill>
                <a:latin typeface="Arial"/>
                <a:ea typeface="Arial"/>
                <a:cs typeface="Arial"/>
              </a:rPr>
              <a:t>metric definitions and source manifests.</a:t>
            </a:r>
          </a:p>
        </p:txBody>
      </p:sp>
      <p:sp>
        <p:nvSpPr>
          <p:cNvPr id="17435" name="Reproduce locally: ./start_demo.sh">
            <a:extLst xmlns:a="http://schemas.openxmlformats.org/drawingml/2006/main">
              <a:ext uri="{FF2B5EF4-FFF2-40B4-BE49-F238E27FC236}">
                <a16:creationId xmlns:a16="http://schemas.microsoft.com/office/drawing/2014/main" id="{3B7BA27C-5CE5-4835-A569-9F57B98536C6}"/>
              </a:ext>
            </a:extLst>
          </p:cNvPr>
          <p:cNvSpPr>
            <a:spLocks xmlns:a="http://schemas.openxmlformats.org/drawingml/2006/main" noGrp="1"/>
          </p:cNvSpPr>
          <p:nvPr/>
        </p:nvSpPr>
        <p:spPr>
          <a:xfrm xmlns:a="http://schemas.openxmlformats.org/drawingml/2006/main">
            <a:off x="7810500" y="58102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14E82"/>
                </a:solidFill>
                <a:latin typeface="Arial"/>
                <a:ea typeface="Arial"/>
                <a:cs typeface="Arial"/>
              </a:defRPr>
            </a:pPr>
            <a:r>
              <a:rPr sz="1575" b="1">
                <a:solidFill>
                  <a:srgbClr val="214E82"/>
                </a:solidFill>
                <a:latin typeface="Arial"/>
                <a:ea typeface="Arial"/>
                <a:cs typeface="Arial"/>
              </a:rPr>
              <a:t>Reproduce locally: ./start_demo.sh</a:t>
            </a:r>
          </a:p>
        </p:txBody>
      </p:sp>
      <p:sp>
        <p:nvSpPr>
          <p:cNvPr id="17436" name="Project evidence: README.md, docs/DATA.md, docs/METHODOLOGY.md an">
            <a:extLst xmlns:a="http://schemas.openxmlformats.org/drawingml/2006/main">
              <a:ext uri="{FF2B5EF4-FFF2-40B4-BE49-F238E27FC236}">
                <a16:creationId xmlns:a16="http://schemas.microsoft.com/office/drawing/2014/main" id="{DF85A495-C4D7-4050-AFB6-99E0EE1C141E}"/>
              </a:ext>
            </a:extLst>
          </p:cNvPr>
          <p:cNvSpPr>
            <a:spLocks xmlns:a="http://schemas.openxmlformats.org/drawingml/2006/main" noGrp="1"/>
          </p:cNvSpPr>
          <p:nvPr/>
        </p:nvSpPr>
        <p:spPr>
          <a:xfrm xmlns:a="http://schemas.openxmlformats.org/drawingml/2006/main">
            <a:off x="428625" y="6086475"/>
            <a:ext cx="1133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B"/>
                </a:solidFill>
                <a:latin typeface="Arial"/>
                <a:ea typeface="Arial"/>
                <a:cs typeface="Arial"/>
              </a:defRPr>
            </a:pPr>
            <a:r>
              <a:rPr sz="1350" b="0">
                <a:solidFill>
                  <a:srgbClr val="52677B"/>
                </a:solidFill>
                <a:latin typeface="Arial"/>
                <a:ea typeface="Arial"/>
                <a:cs typeface="Arial"/>
              </a:rPr>
              <a:t>Project evidence: README.md, docs/DATA.md, docs/METHODOLOGY.md and the bundled benchmark report.</a:t>
            </a:r>
          </a:p>
        </p:txBody>
      </p:sp>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2026-09-20T11:55:38.1400000Z</dcterms:created>
  <dcterms:modified xsi:type="dcterms:W3CDTF">2026-09-20T11:55:38.1400000Z</dcterms:modified>
</coreProperties>
</file>